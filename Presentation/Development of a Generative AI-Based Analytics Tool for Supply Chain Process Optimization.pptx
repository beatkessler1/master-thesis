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charts/chartEx1.xml" ContentType="application/vnd.ms-office.chartex+xml"/>
  <Override PartName="/ppt/charts/style4.xml" ContentType="application/vnd.ms-office.chartstyle+xml"/>
  <Override PartName="/ppt/charts/colors4.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0"/>
  </p:notesMasterIdLst>
  <p:sldIdLst>
    <p:sldId id="256" r:id="rId2"/>
    <p:sldId id="257" r:id="rId3"/>
    <p:sldId id="271" r:id="rId4"/>
    <p:sldId id="274" r:id="rId5"/>
    <p:sldId id="260" r:id="rId6"/>
    <p:sldId id="287" r:id="rId7"/>
    <p:sldId id="261" r:id="rId8"/>
    <p:sldId id="269" r:id="rId9"/>
    <p:sldId id="270" r:id="rId10"/>
    <p:sldId id="272" r:id="rId11"/>
    <p:sldId id="279" r:id="rId12"/>
    <p:sldId id="273" r:id="rId13"/>
    <p:sldId id="283" r:id="rId14"/>
    <p:sldId id="278" r:id="rId15"/>
    <p:sldId id="284" r:id="rId16"/>
    <p:sldId id="286" r:id="rId17"/>
    <p:sldId id="280" r:id="rId18"/>
    <p:sldId id="265" r:id="rId19"/>
    <p:sldId id="266" r:id="rId20"/>
    <p:sldId id="288" r:id="rId21"/>
    <p:sldId id="258" r:id="rId22"/>
    <p:sldId id="263" r:id="rId23"/>
    <p:sldId id="282" r:id="rId24"/>
    <p:sldId id="281" r:id="rId25"/>
    <p:sldId id="275" r:id="rId26"/>
    <p:sldId id="285" r:id="rId27"/>
    <p:sldId id="289" r:id="rId28"/>
    <p:sldId id="277" r:id="rId2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7"/>
    <a:srgbClr val="008E87"/>
    <a:srgbClr val="FFFF00"/>
    <a:srgbClr val="02877A"/>
    <a:srgbClr val="00877A"/>
    <a:srgbClr val="0287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76"/>
    <p:restoredTop sz="72028"/>
  </p:normalViewPr>
  <p:slideViewPr>
    <p:cSldViewPr snapToGrid="0" snapToObjects="1">
      <p:cViewPr varScale="1">
        <p:scale>
          <a:sx n="49" d="100"/>
          <a:sy n="49" d="100"/>
        </p:scale>
        <p:origin x="3304" y="184"/>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Users/beatkessler/Desktop/Appendix%20Master%20Thesis/Summary_Questionary_F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beatkessler/Downloads/Consolidation_Questionnaire_Appendix.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beatkessler/Desktop/Appendix%20Master%20Thesis/Consolidation_Questionnaire_Master%20Thesis.xlsx" TargetMode="External"/><Relationship Id="rId2" Type="http://schemas.microsoft.com/office/2011/relationships/chartColorStyle" Target="colors3.xml"/><Relationship Id="rId1" Type="http://schemas.microsoft.com/office/2011/relationships/chartStyle" Target="style3.xml"/></Relationships>
</file>

<file path=ppt/charts/_rels/chartEx1.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Users/beatkessler/Desktop/Appendix%20Master%20Thesis/Summary_Questionary_Fina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dk1"/>
                </a:solidFill>
                <a:latin typeface="Helvetica" pitchFamily="2" charset="0"/>
                <a:ea typeface="+mn-ea"/>
                <a:cs typeface="+mn-cs"/>
              </a:defRPr>
            </a:pPr>
            <a:r>
              <a:rPr lang="de-DE" sz="1800" dirty="0">
                <a:latin typeface="Helvetica" pitchFamily="2" charset="0"/>
              </a:rPr>
              <a:t>Threading</a:t>
            </a:r>
            <a:r>
              <a:rPr lang="de-DE" sz="1800" baseline="0" dirty="0">
                <a:latin typeface="Helvetica" pitchFamily="2" charset="0"/>
              </a:rPr>
              <a:t> Optimierung (QDocs)</a:t>
            </a:r>
          </a:p>
        </c:rich>
      </c:tx>
      <c:layout>
        <c:manualLayout>
          <c:xMode val="edge"/>
          <c:yMode val="edge"/>
          <c:x val="0.25215413531366293"/>
          <c:y val="5.0413916125844012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dk1"/>
              </a:solidFill>
              <a:latin typeface="Helvetica" pitchFamily="2" charset="0"/>
              <a:ea typeface="+mn-ea"/>
              <a:cs typeface="+mn-cs"/>
            </a:defRPr>
          </a:pPr>
          <a:endParaRPr lang="de-DE"/>
        </a:p>
      </c:txPr>
    </c:title>
    <c:autoTitleDeleted val="0"/>
    <c:plotArea>
      <c:layout>
        <c:manualLayout>
          <c:layoutTarget val="inner"/>
          <c:xMode val="edge"/>
          <c:yMode val="edge"/>
          <c:x val="2.4819494584837544E-2"/>
          <c:y val="0.16936671575846834"/>
          <c:w val="0.96620425897444584"/>
          <c:h val="0.63862050029347017"/>
        </c:manualLayout>
      </c:layout>
      <c:barChart>
        <c:barDir val="col"/>
        <c:grouping val="clustered"/>
        <c:varyColors val="0"/>
        <c:ser>
          <c:idx val="0"/>
          <c:order val="0"/>
          <c:tx>
            <c:strRef>
              <c:f>Statistic_Threading_QDocs!$B$9</c:f>
              <c:strCache>
                <c:ptCount val="1"/>
                <c:pt idx="0">
                  <c:v>Threads</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dk1"/>
                    </a:solidFill>
                    <a:latin typeface="Helvetica" pitchFamily="2" charset="0"/>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Statistic_Threading_QDocs!$C$9:$G$9</c:f>
              <c:numCache>
                <c:formatCode>General</c:formatCode>
                <c:ptCount val="5"/>
                <c:pt idx="0">
                  <c:v>20</c:v>
                </c:pt>
                <c:pt idx="1">
                  <c:v>40</c:v>
                </c:pt>
                <c:pt idx="2">
                  <c:v>50</c:v>
                </c:pt>
                <c:pt idx="3">
                  <c:v>60</c:v>
                </c:pt>
                <c:pt idx="4">
                  <c:v>70</c:v>
                </c:pt>
              </c:numCache>
            </c:numRef>
          </c:val>
          <c:extLst>
            <c:ext xmlns:c16="http://schemas.microsoft.com/office/drawing/2014/chart" uri="{C3380CC4-5D6E-409C-BE32-E72D297353CC}">
              <c16:uniqueId val="{00000000-CE96-8D45-B516-8CB2964417A6}"/>
            </c:ext>
          </c:extLst>
        </c:ser>
        <c:ser>
          <c:idx val="1"/>
          <c:order val="1"/>
          <c:tx>
            <c:strRef>
              <c:f>Statistic_Threading_QDocs!$B$10</c:f>
              <c:strCache>
                <c:ptCount val="1"/>
                <c:pt idx="0">
                  <c:v>Extraction Time [min]</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dk1"/>
                    </a:solidFill>
                    <a:latin typeface="Helvetica" pitchFamily="2" charset="0"/>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Statistic_Threading_QDocs!$C$10:$G$10</c:f>
              <c:numCache>
                <c:formatCode>General</c:formatCode>
                <c:ptCount val="5"/>
                <c:pt idx="0">
                  <c:v>27</c:v>
                </c:pt>
                <c:pt idx="1">
                  <c:v>5</c:v>
                </c:pt>
                <c:pt idx="2">
                  <c:v>3</c:v>
                </c:pt>
                <c:pt idx="3">
                  <c:v>4</c:v>
                </c:pt>
                <c:pt idx="4">
                  <c:v>5</c:v>
                </c:pt>
              </c:numCache>
            </c:numRef>
          </c:val>
          <c:extLst>
            <c:ext xmlns:c16="http://schemas.microsoft.com/office/drawing/2014/chart" uri="{C3380CC4-5D6E-409C-BE32-E72D297353CC}">
              <c16:uniqueId val="{00000001-CE96-8D45-B516-8CB2964417A6}"/>
            </c:ext>
          </c:extLst>
        </c:ser>
        <c:ser>
          <c:idx val="2"/>
          <c:order val="2"/>
          <c:tx>
            <c:strRef>
              <c:f>Statistic_Threading_QDocs!$B$11</c:f>
              <c:strCache>
                <c:ptCount val="1"/>
                <c:pt idx="0">
                  <c:v>Progress [%]</c:v>
                </c:pt>
              </c:strCache>
            </c:strRef>
          </c:tx>
          <c:spPr>
            <a:solidFill>
              <a:schemeClr val="bg1">
                <a:lumMod val="75000"/>
              </a:schemeClr>
            </a:solidFill>
            <a:ln>
              <a:noFill/>
            </a:ln>
            <a:effectLst/>
          </c:spPr>
          <c:invertIfNegative val="0"/>
          <c:dLbls>
            <c:dLbl>
              <c:idx val="0"/>
              <c:tx>
                <c:rich>
                  <a:bodyPr/>
                  <a:lstStyle/>
                  <a:p>
                    <a:fld id="{76936818-1112-BB43-AA98-3D324E2F7D67}" type="VALUE">
                      <a:rPr lang="en-US" baseline="0">
                        <a:latin typeface="Helvetica" pitchFamily="2" charset="0"/>
                      </a:rPr>
                      <a:pPr/>
                      <a:t>[WERT]</a:t>
                    </a:fld>
                    <a:endParaRPr lang="en-GB"/>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E96-8D45-B516-8CB2964417A6}"/>
                </c:ext>
              </c:extLst>
            </c:dLbl>
            <c:dLbl>
              <c:idx val="2"/>
              <c:layout>
                <c:manualLayout>
                  <c:x val="0"/>
                  <c:y val="2.8991221464892519E-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E96-8D45-B516-8CB2964417A6}"/>
                </c:ext>
              </c:extLst>
            </c:dLbl>
            <c:spPr>
              <a:noFill/>
              <a:ln>
                <a:noFill/>
              </a:ln>
              <a:effectLst/>
            </c:spPr>
            <c:txPr>
              <a:bodyPr rot="0" spcFirstLastPara="1" vertOverflow="ellipsis" vert="horz" wrap="square" anchor="ctr" anchorCtr="1"/>
              <a:lstStyle/>
              <a:p>
                <a:pPr>
                  <a:defRPr sz="1200" b="0" i="0" u="none" strike="noStrike" kern="1200" baseline="0">
                    <a:solidFill>
                      <a:schemeClr val="dk1"/>
                    </a:solidFill>
                    <a:latin typeface="Helvetica" pitchFamily="2" charset="0"/>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Statistic_Threading_QDocs!$C$11:$G$11</c:f>
              <c:numCache>
                <c:formatCode>0.00</c:formatCode>
                <c:ptCount val="5"/>
                <c:pt idx="0">
                  <c:v>-98.934070272404256</c:v>
                </c:pt>
                <c:pt idx="1">
                  <c:v>-81.481481481481495</c:v>
                </c:pt>
                <c:pt idx="2">
                  <c:v>-40</c:v>
                </c:pt>
                <c:pt idx="3">
                  <c:v>33.333333333333329</c:v>
                </c:pt>
                <c:pt idx="4">
                  <c:v>25</c:v>
                </c:pt>
              </c:numCache>
            </c:numRef>
          </c:val>
          <c:extLst>
            <c:ext xmlns:c16="http://schemas.microsoft.com/office/drawing/2014/chart" uri="{C3380CC4-5D6E-409C-BE32-E72D297353CC}">
              <c16:uniqueId val="{00000004-CE96-8D45-B516-8CB2964417A6}"/>
            </c:ext>
          </c:extLst>
        </c:ser>
        <c:dLbls>
          <c:showLegendKey val="0"/>
          <c:showVal val="0"/>
          <c:showCatName val="0"/>
          <c:showSerName val="0"/>
          <c:showPercent val="0"/>
          <c:showBubbleSize val="0"/>
        </c:dLbls>
        <c:gapWidth val="219"/>
        <c:overlap val="-27"/>
        <c:axId val="1478122880"/>
        <c:axId val="1478124560"/>
      </c:barChart>
      <c:catAx>
        <c:axId val="147812288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dk1"/>
                    </a:solidFill>
                    <a:latin typeface="Helvetica" pitchFamily="2" charset="0"/>
                    <a:ea typeface="+mn-ea"/>
                    <a:cs typeface="+mn-cs"/>
                  </a:defRPr>
                </a:pPr>
                <a:r>
                  <a:rPr lang="de-DE" sz="1200" baseline="0" noProof="0" dirty="0">
                    <a:latin typeface="Helvetica" pitchFamily="2" charset="0"/>
                  </a:rPr>
                  <a:t>Konfigurationen</a:t>
                </a:r>
              </a:p>
            </c:rich>
          </c:tx>
          <c:layout>
            <c:manualLayout>
              <c:xMode val="edge"/>
              <c:yMode val="edge"/>
              <c:x val="0.45061194305431385"/>
              <c:y val="0.81990128122020134"/>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dk1"/>
                  </a:solidFill>
                  <a:latin typeface="Helvetica" pitchFamily="2" charset="0"/>
                  <a:ea typeface="+mn-ea"/>
                  <a:cs typeface="+mn-cs"/>
                </a:defRPr>
              </a:pPr>
              <a:endParaRPr lang="de-DE"/>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dk1"/>
                </a:solidFill>
                <a:latin typeface="Helvetica" pitchFamily="2" charset="0"/>
                <a:ea typeface="+mn-ea"/>
                <a:cs typeface="+mn-cs"/>
              </a:defRPr>
            </a:pPr>
            <a:endParaRPr lang="de-DE"/>
          </a:p>
        </c:txPr>
        <c:crossAx val="1478124560"/>
        <c:crosses val="autoZero"/>
        <c:auto val="1"/>
        <c:lblAlgn val="ctr"/>
        <c:lblOffset val="100"/>
        <c:noMultiLvlLbl val="0"/>
      </c:catAx>
      <c:valAx>
        <c:axId val="147812456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478122880"/>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dk1"/>
                </a:solidFill>
                <a:latin typeface="Helvetica" pitchFamily="2" charset="0"/>
                <a:ea typeface="+mn-ea"/>
                <a:cs typeface="+mn-cs"/>
              </a:defRPr>
            </a:pPr>
            <a:endParaRPr lang="de-DE"/>
          </a:p>
        </c:txPr>
      </c:legendEntry>
      <c:legendEntry>
        <c:idx val="1"/>
        <c:txPr>
          <a:bodyPr rot="0" spcFirstLastPara="1" vertOverflow="ellipsis" vert="horz" wrap="square" anchor="ctr" anchorCtr="1"/>
          <a:lstStyle/>
          <a:p>
            <a:pPr>
              <a:defRPr sz="1400" b="0" i="0" u="none" strike="noStrike" kern="1200" baseline="0">
                <a:solidFill>
                  <a:schemeClr val="dk1"/>
                </a:solidFill>
                <a:latin typeface="Helvetica" pitchFamily="2" charset="0"/>
                <a:ea typeface="+mn-ea"/>
                <a:cs typeface="+mn-cs"/>
              </a:defRPr>
            </a:pPr>
            <a:endParaRPr lang="de-DE"/>
          </a:p>
        </c:txPr>
      </c:legendEntry>
      <c:legendEntry>
        <c:idx val="2"/>
        <c:txPr>
          <a:bodyPr rot="0" spcFirstLastPara="1" vertOverflow="ellipsis" vert="horz" wrap="square" anchor="ctr" anchorCtr="1"/>
          <a:lstStyle/>
          <a:p>
            <a:pPr>
              <a:defRPr sz="1400" b="0" i="0" u="none" strike="noStrike" kern="1200" baseline="0">
                <a:solidFill>
                  <a:schemeClr val="dk1"/>
                </a:solidFill>
                <a:latin typeface="Helvetica" pitchFamily="2" charset="0"/>
                <a:ea typeface="+mn-ea"/>
                <a:cs typeface="+mn-cs"/>
              </a:defRPr>
            </a:pPr>
            <a:endParaRPr lang="de-DE"/>
          </a:p>
        </c:txPr>
      </c:legendEntry>
      <c:layout>
        <c:manualLayout>
          <c:xMode val="edge"/>
          <c:yMode val="edge"/>
          <c:x val="9.92957614534246E-2"/>
          <c:y val="0.89205235582928943"/>
          <c:w val="0.80052252544460112"/>
          <c:h val="0.10666508181322695"/>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dk1"/>
              </a:solidFill>
              <a:latin typeface="Helvetica" pitchFamily="2" charset="0"/>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a:solidFill>
            <a:schemeClr val="dk1"/>
          </a:solidFill>
          <a:latin typeface="+mn-lt"/>
          <a:ea typeface="+mn-ea"/>
          <a:cs typeface="+mn-cs"/>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de-DE" sz="1800" baseline="0" dirty="0">
                <a:solidFill>
                  <a:schemeClr val="tx1"/>
                </a:solidFill>
                <a:latin typeface="Helvetica" pitchFamily="2" charset="0"/>
              </a:rPr>
              <a:t>Benchmark LLM Performance</a:t>
            </a:r>
          </a:p>
        </c:rich>
      </c:tx>
      <c:layout>
        <c:manualLayout>
          <c:xMode val="edge"/>
          <c:yMode val="edge"/>
          <c:x val="0.36027949710467433"/>
          <c:y val="0"/>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manualLayout>
          <c:layoutTarget val="inner"/>
          <c:xMode val="edge"/>
          <c:yMode val="edge"/>
          <c:x val="5.2019189346433896E-2"/>
          <c:y val="0.12849066585975083"/>
          <c:w val="0.9300573937446569"/>
          <c:h val="0.69398744911804622"/>
        </c:manualLayout>
      </c:layout>
      <c:barChart>
        <c:barDir val="col"/>
        <c:grouping val="clustered"/>
        <c:varyColors val="0"/>
        <c:ser>
          <c:idx val="0"/>
          <c:order val="0"/>
          <c:tx>
            <c:strRef>
              <c:f>'12.4.1.2 Comparison LLM Models'!$B$5</c:f>
              <c:strCache>
                <c:ptCount val="1"/>
                <c:pt idx="0">
                  <c:v>Identified Main Steps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Helvetica" pitchFamily="2" charset="0"/>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'12.4.1.2 Comparison LLM Models'!$C$3:$G$3</c:f>
              <c:strCache>
                <c:ptCount val="5"/>
                <c:pt idx="0">
                  <c:v>GPT-4</c:v>
                </c:pt>
                <c:pt idx="1">
                  <c:v>GPT-5</c:v>
                </c:pt>
                <c:pt idx="2">
                  <c:v>Gemini 2.5 Pro</c:v>
                </c:pt>
                <c:pt idx="3">
                  <c:v>Gemini 3 Pro</c:v>
                </c:pt>
                <c:pt idx="4">
                  <c:v>Claude 4.5</c:v>
                </c:pt>
              </c:strCache>
            </c:strRef>
          </c:cat>
          <c:val>
            <c:numRef>
              <c:f>'12.4.1.2 Comparison LLM Models'!$C$5:$G$5</c:f>
              <c:numCache>
                <c:formatCode>0.0</c:formatCode>
                <c:ptCount val="5"/>
                <c:pt idx="0">
                  <c:v>41.666666666666671</c:v>
                </c:pt>
                <c:pt idx="1">
                  <c:v>91.666666666666657</c:v>
                </c:pt>
                <c:pt idx="2">
                  <c:v>69.166666666666671</c:v>
                </c:pt>
                <c:pt idx="3">
                  <c:v>91.666666666666657</c:v>
                </c:pt>
                <c:pt idx="4">
                  <c:v>89.166666666666657</c:v>
                </c:pt>
              </c:numCache>
            </c:numRef>
          </c:val>
          <c:extLst>
            <c:ext xmlns:c16="http://schemas.microsoft.com/office/drawing/2014/chart" uri="{C3380CC4-5D6E-409C-BE32-E72D297353CC}">
              <c16:uniqueId val="{00000000-A6B1-7947-A0CC-3A54DAF4C26C}"/>
            </c:ext>
          </c:extLst>
        </c:ser>
        <c:ser>
          <c:idx val="1"/>
          <c:order val="1"/>
          <c:tx>
            <c:strRef>
              <c:f>'12.4.1.2 Comparison LLM Models'!$B$6</c:f>
              <c:strCache>
                <c:ptCount val="1"/>
                <c:pt idx="0">
                  <c:v>Identified Subcategories [%]</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Helvetica" pitchFamily="2" charset="0"/>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'12.4.1.2 Comparison LLM Models'!$C$3:$G$3</c:f>
              <c:strCache>
                <c:ptCount val="5"/>
                <c:pt idx="0">
                  <c:v>GPT-4</c:v>
                </c:pt>
                <c:pt idx="1">
                  <c:v>GPT-5</c:v>
                </c:pt>
                <c:pt idx="2">
                  <c:v>Gemini 2.5 Pro</c:v>
                </c:pt>
                <c:pt idx="3">
                  <c:v>Gemini 3 Pro</c:v>
                </c:pt>
                <c:pt idx="4">
                  <c:v>Claude 4.5</c:v>
                </c:pt>
              </c:strCache>
            </c:strRef>
          </c:cat>
          <c:val>
            <c:numRef>
              <c:f>'12.4.1.2 Comparison LLM Models'!$C$6:$G$6</c:f>
              <c:numCache>
                <c:formatCode>0.0</c:formatCode>
                <c:ptCount val="5"/>
                <c:pt idx="0" formatCode="General">
                  <c:v>30.000000000000004</c:v>
                </c:pt>
                <c:pt idx="1">
                  <c:v>92.222222222222229</c:v>
                </c:pt>
                <c:pt idx="2">
                  <c:v>96.666666666666657</c:v>
                </c:pt>
                <c:pt idx="3">
                  <c:v>96.666666666666657</c:v>
                </c:pt>
                <c:pt idx="4" formatCode="0.00">
                  <c:v>81.111111111111114</c:v>
                </c:pt>
              </c:numCache>
            </c:numRef>
          </c:val>
          <c:extLst>
            <c:ext xmlns:c16="http://schemas.microsoft.com/office/drawing/2014/chart" uri="{C3380CC4-5D6E-409C-BE32-E72D297353CC}">
              <c16:uniqueId val="{00000001-A6B1-7947-A0CC-3A54DAF4C26C}"/>
            </c:ext>
          </c:extLst>
        </c:ser>
        <c:dLbls>
          <c:dLblPos val="outEnd"/>
          <c:showLegendKey val="0"/>
          <c:showVal val="1"/>
          <c:showCatName val="0"/>
          <c:showSerName val="0"/>
          <c:showPercent val="0"/>
          <c:showBubbleSize val="0"/>
        </c:dLbls>
        <c:gapWidth val="219"/>
        <c:overlap val="-27"/>
        <c:axId val="773143055"/>
        <c:axId val="773127055"/>
      </c:barChart>
      <c:catAx>
        <c:axId val="773143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Helvetica" pitchFamily="2" charset="0"/>
                <a:ea typeface="+mn-ea"/>
                <a:cs typeface="+mn-cs"/>
              </a:defRPr>
            </a:pPr>
            <a:endParaRPr lang="de-DE"/>
          </a:p>
        </c:txPr>
        <c:crossAx val="773127055"/>
        <c:crosses val="autoZero"/>
        <c:auto val="1"/>
        <c:lblAlgn val="ctr"/>
        <c:lblOffset val="100"/>
        <c:noMultiLvlLbl val="0"/>
      </c:catAx>
      <c:valAx>
        <c:axId val="773127055"/>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Helvetica" pitchFamily="2" charset="0"/>
                <a:ea typeface="+mn-ea"/>
                <a:cs typeface="+mn-cs"/>
              </a:defRPr>
            </a:pPr>
            <a:endParaRPr lang="de-DE"/>
          </a:p>
        </c:txPr>
        <c:crossAx val="773143055"/>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tx1"/>
                </a:solidFill>
                <a:latin typeface="Helvetica" pitchFamily="2" charset="0"/>
                <a:ea typeface="+mn-ea"/>
                <a:cs typeface="+mn-cs"/>
              </a:defRPr>
            </a:pPr>
            <a:endParaRPr lang="de-DE"/>
          </a:p>
        </c:txPr>
      </c:legendEntry>
      <c:legendEntry>
        <c:idx val="1"/>
        <c:txPr>
          <a:bodyPr rot="0" spcFirstLastPara="1" vertOverflow="ellipsis" vert="horz" wrap="square" anchor="ctr" anchorCtr="1"/>
          <a:lstStyle/>
          <a:p>
            <a:pPr>
              <a:defRPr sz="1400" b="0" i="0" u="none" strike="noStrike" kern="1200" baseline="0">
                <a:solidFill>
                  <a:schemeClr val="tx1"/>
                </a:solidFill>
                <a:latin typeface="Helvetica" pitchFamily="2" charset="0"/>
                <a:ea typeface="+mn-ea"/>
                <a:cs typeface="+mn-cs"/>
              </a:defRPr>
            </a:pPr>
            <a:endParaRPr lang="de-DE"/>
          </a:p>
        </c:txPr>
      </c:legendEntry>
      <c:layout>
        <c:manualLayout>
          <c:xMode val="edge"/>
          <c:yMode val="edge"/>
          <c:x val="0.10990761929198141"/>
          <c:y val="0.92759391960651294"/>
          <c:w val="0.74017947066680012"/>
          <c:h val="7.2405986678633696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Helvetica" pitchFamily="2" charset="0"/>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dk1"/>
                </a:solidFill>
                <a:latin typeface="+mn-lt"/>
                <a:ea typeface="+mn-ea"/>
                <a:cs typeface="+mn-cs"/>
              </a:defRPr>
            </a:pPr>
            <a:r>
              <a:rPr lang="de-DE" sz="1800" noProof="1">
                <a:latin typeface="Helvetica" pitchFamily="2" charset="0"/>
              </a:rPr>
              <a:t>Rating Frequency</a:t>
            </a:r>
            <a:r>
              <a:rPr lang="de-DE" sz="1800" baseline="0" noProof="1">
                <a:latin typeface="Helvetica" pitchFamily="2" charset="0"/>
              </a:rPr>
              <a:t> by Evaluation Criteria</a:t>
            </a:r>
            <a:endParaRPr lang="de-DE" sz="1800" noProof="1">
              <a:latin typeface="Helvetica" pitchFamily="2" charset="0"/>
            </a:endParaRPr>
          </a:p>
        </c:rich>
      </c:tx>
      <c:layout>
        <c:manualLayout>
          <c:xMode val="edge"/>
          <c:yMode val="edge"/>
          <c:x val="0.23437109725352664"/>
          <c:y val="2.8251292655542059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dk1"/>
              </a:solidFill>
              <a:latin typeface="+mn-lt"/>
              <a:ea typeface="+mn-ea"/>
              <a:cs typeface="+mn-cs"/>
            </a:defRPr>
          </a:pPr>
          <a:endParaRPr lang="de-DE"/>
        </a:p>
      </c:txPr>
    </c:title>
    <c:autoTitleDeleted val="0"/>
    <c:plotArea>
      <c:layout>
        <c:manualLayout>
          <c:layoutTarget val="inner"/>
          <c:xMode val="edge"/>
          <c:yMode val="edge"/>
          <c:x val="8.8526923693995702E-2"/>
          <c:y val="0.15134199912603316"/>
          <c:w val="0.87018303461309843"/>
          <c:h val="0.66276963864188043"/>
        </c:manualLayout>
      </c:layout>
      <c:barChart>
        <c:barDir val="col"/>
        <c:grouping val="clustered"/>
        <c:varyColors val="0"/>
        <c:ser>
          <c:idx val="0"/>
          <c:order val="0"/>
          <c:tx>
            <c:strRef>
              <c:f>Summary_Questionary!$F$114</c:f>
              <c:strCache>
                <c:ptCount val="1"/>
                <c:pt idx="0">
                  <c:v>Accuracy</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dk1"/>
                    </a:solidFill>
                    <a:latin typeface="Helvetica" pitchFamily="2" charset="0"/>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Summary_Questionary!$E$115:$E$119</c:f>
              <c:strCache>
                <c:ptCount val="5"/>
                <c:pt idx="0">
                  <c:v>(5/5)</c:v>
                </c:pt>
                <c:pt idx="1">
                  <c:v>(4/5)</c:v>
                </c:pt>
                <c:pt idx="2">
                  <c:v>(3/5)</c:v>
                </c:pt>
                <c:pt idx="3">
                  <c:v>(2/5)</c:v>
                </c:pt>
                <c:pt idx="4">
                  <c:v>(1/5)</c:v>
                </c:pt>
              </c:strCache>
            </c:strRef>
          </c:cat>
          <c:val>
            <c:numRef>
              <c:f>Summary_Questionary!$F$115:$F$119</c:f>
              <c:numCache>
                <c:formatCode>0</c:formatCode>
                <c:ptCount val="5"/>
                <c:pt idx="0">
                  <c:v>32</c:v>
                </c:pt>
                <c:pt idx="1">
                  <c:v>29</c:v>
                </c:pt>
                <c:pt idx="2">
                  <c:v>11</c:v>
                </c:pt>
                <c:pt idx="3">
                  <c:v>11</c:v>
                </c:pt>
                <c:pt idx="4">
                  <c:v>2</c:v>
                </c:pt>
              </c:numCache>
            </c:numRef>
          </c:val>
          <c:extLst>
            <c:ext xmlns:c16="http://schemas.microsoft.com/office/drawing/2014/chart" uri="{C3380CC4-5D6E-409C-BE32-E72D297353CC}">
              <c16:uniqueId val="{00000000-6698-2941-A22E-35387D8A71FD}"/>
            </c:ext>
          </c:extLst>
        </c:ser>
        <c:ser>
          <c:idx val="1"/>
          <c:order val="1"/>
          <c:tx>
            <c:strRef>
              <c:f>Summary_Questionary!$G$114</c:f>
              <c:strCache>
                <c:ptCount val="1"/>
                <c:pt idx="0">
                  <c:v>Satisfaction</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dk1"/>
                    </a:solidFill>
                    <a:latin typeface="Helvetica" pitchFamily="2" charset="0"/>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Summary_Questionary!$E$115:$E$119</c:f>
              <c:strCache>
                <c:ptCount val="5"/>
                <c:pt idx="0">
                  <c:v>(5/5)</c:v>
                </c:pt>
                <c:pt idx="1">
                  <c:v>(4/5)</c:v>
                </c:pt>
                <c:pt idx="2">
                  <c:v>(3/5)</c:v>
                </c:pt>
                <c:pt idx="3">
                  <c:v>(2/5)</c:v>
                </c:pt>
                <c:pt idx="4">
                  <c:v>(1/5)</c:v>
                </c:pt>
              </c:strCache>
            </c:strRef>
          </c:cat>
          <c:val>
            <c:numRef>
              <c:f>Summary_Questionary!$G$115:$G$119</c:f>
              <c:numCache>
                <c:formatCode>0</c:formatCode>
                <c:ptCount val="5"/>
                <c:pt idx="0">
                  <c:v>25</c:v>
                </c:pt>
                <c:pt idx="1">
                  <c:v>31</c:v>
                </c:pt>
                <c:pt idx="2">
                  <c:v>16</c:v>
                </c:pt>
                <c:pt idx="3">
                  <c:v>10</c:v>
                </c:pt>
                <c:pt idx="4">
                  <c:v>3</c:v>
                </c:pt>
              </c:numCache>
            </c:numRef>
          </c:val>
          <c:extLst>
            <c:ext xmlns:c16="http://schemas.microsoft.com/office/drawing/2014/chart" uri="{C3380CC4-5D6E-409C-BE32-E72D297353CC}">
              <c16:uniqueId val="{00000001-6698-2941-A22E-35387D8A71FD}"/>
            </c:ext>
          </c:extLst>
        </c:ser>
        <c:dLbls>
          <c:dLblPos val="outEnd"/>
          <c:showLegendKey val="0"/>
          <c:showVal val="1"/>
          <c:showCatName val="0"/>
          <c:showSerName val="0"/>
          <c:showPercent val="0"/>
          <c:showBubbleSize val="0"/>
        </c:dLbls>
        <c:gapWidth val="219"/>
        <c:overlap val="-27"/>
        <c:axId val="35755455"/>
        <c:axId val="35744943"/>
      </c:barChart>
      <c:catAx>
        <c:axId val="35755455"/>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dk1"/>
                    </a:solidFill>
                    <a:latin typeface="Helvetica" pitchFamily="2" charset="0"/>
                    <a:ea typeface="+mn-ea"/>
                    <a:cs typeface="+mn-cs"/>
                  </a:defRPr>
                </a:pPr>
                <a:r>
                  <a:rPr lang="de-DE" sz="1200" baseline="0">
                    <a:latin typeface="Helvetica" pitchFamily="2" charset="0"/>
                  </a:rPr>
                  <a:t>Rating</a:t>
                </a:r>
              </a:p>
            </c:rich>
          </c:tx>
          <c:layout>
            <c:manualLayout>
              <c:xMode val="edge"/>
              <c:yMode val="edge"/>
              <c:x val="0.48871747137014099"/>
              <c:y val="0.88498386924786598"/>
            </c:manualLayout>
          </c:layout>
          <c:overlay val="0"/>
          <c:spPr>
            <a:solidFill>
              <a:schemeClr val="bg1"/>
            </a:solidFill>
            <a:ln>
              <a:solidFill>
                <a:schemeClr val="bg1"/>
              </a:solidFill>
            </a:ln>
            <a:effectLst/>
          </c:spPr>
          <c:txPr>
            <a:bodyPr rot="0" spcFirstLastPara="1" vertOverflow="ellipsis" vert="horz" wrap="square" anchor="ctr" anchorCtr="1"/>
            <a:lstStyle/>
            <a:p>
              <a:pPr>
                <a:defRPr sz="1200" b="0" i="0" u="none" strike="noStrike" kern="1200" baseline="0">
                  <a:solidFill>
                    <a:schemeClr val="dk1"/>
                  </a:solidFill>
                  <a:latin typeface="Helvetica" pitchFamily="2" charset="0"/>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dk1"/>
                </a:solidFill>
                <a:latin typeface="Helvetica" pitchFamily="2" charset="0"/>
                <a:ea typeface="+mn-ea"/>
                <a:cs typeface="+mn-cs"/>
              </a:defRPr>
            </a:pPr>
            <a:endParaRPr lang="de-DE"/>
          </a:p>
        </c:txPr>
        <c:crossAx val="35744943"/>
        <c:crosses val="autoZero"/>
        <c:auto val="1"/>
        <c:lblAlgn val="ctr"/>
        <c:lblOffset val="100"/>
        <c:noMultiLvlLbl val="0"/>
      </c:catAx>
      <c:valAx>
        <c:axId val="357449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dk1"/>
                    </a:solidFill>
                    <a:latin typeface="Helvetica" pitchFamily="2" charset="0"/>
                    <a:ea typeface="+mn-ea"/>
                    <a:cs typeface="+mn-cs"/>
                  </a:defRPr>
                </a:pPr>
                <a:r>
                  <a:rPr lang="de-DE" sz="1400" baseline="0">
                    <a:latin typeface="Helvetica" pitchFamily="2" charset="0"/>
                  </a:rPr>
                  <a:t>Counts</a:t>
                </a:r>
              </a:p>
            </c:rich>
          </c:tx>
          <c:layout>
            <c:manualLayout>
              <c:xMode val="edge"/>
              <c:yMode val="edge"/>
              <c:x val="0"/>
              <c:y val="0.40218303542492989"/>
            </c:manualLayout>
          </c:layout>
          <c:overlay val="0"/>
          <c:spPr>
            <a:noFill/>
            <a:ln>
              <a:noFill/>
            </a:ln>
            <a:effectLst/>
          </c:spPr>
          <c:txPr>
            <a:bodyPr rot="-5400000" spcFirstLastPara="1" vertOverflow="ellipsis" vert="horz" wrap="square" anchor="ctr" anchorCtr="1"/>
            <a:lstStyle/>
            <a:p>
              <a:pPr>
                <a:defRPr sz="1400" b="0" i="0" u="none" strike="noStrike" kern="1200" baseline="0">
                  <a:solidFill>
                    <a:schemeClr val="dk1"/>
                  </a:solidFill>
                  <a:latin typeface="Helvetica" pitchFamily="2" charset="0"/>
                  <a:ea typeface="+mn-ea"/>
                  <a:cs typeface="+mn-cs"/>
                </a:defRPr>
              </a:pPr>
              <a:endParaRPr lang="de-DE"/>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dk1"/>
                </a:solidFill>
                <a:latin typeface="Helvetica" pitchFamily="2" charset="0"/>
                <a:ea typeface="+mn-ea"/>
                <a:cs typeface="+mn-cs"/>
              </a:defRPr>
            </a:pPr>
            <a:endParaRPr lang="de-DE"/>
          </a:p>
        </c:txPr>
        <c:crossAx val="35755455"/>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400" b="0" i="0" u="none" strike="noStrike" kern="1200" baseline="0">
                <a:solidFill>
                  <a:schemeClr val="dk1"/>
                </a:solidFill>
                <a:latin typeface="Helvetica" pitchFamily="2" charset="0"/>
                <a:ea typeface="+mn-ea"/>
                <a:cs typeface="+mn-cs"/>
              </a:defRPr>
            </a:pPr>
            <a:endParaRPr lang="de-DE"/>
          </a:p>
        </c:txPr>
      </c:legendEntry>
      <c:legendEntry>
        <c:idx val="1"/>
        <c:txPr>
          <a:bodyPr rot="0" spcFirstLastPara="1" vertOverflow="ellipsis" vert="horz" wrap="square" anchor="ctr" anchorCtr="1"/>
          <a:lstStyle/>
          <a:p>
            <a:pPr>
              <a:defRPr sz="1400" b="0" i="0" u="none" strike="noStrike" kern="1200" baseline="0">
                <a:solidFill>
                  <a:schemeClr val="dk1"/>
                </a:solidFill>
                <a:latin typeface="Helvetica" pitchFamily="2" charset="0"/>
                <a:ea typeface="+mn-ea"/>
                <a:cs typeface="+mn-cs"/>
              </a:defRPr>
            </a:pPr>
            <a:endParaRPr lang="de-DE"/>
          </a:p>
        </c:txPr>
      </c:legendEntry>
      <c:layout>
        <c:manualLayout>
          <c:xMode val="edge"/>
          <c:yMode val="edge"/>
          <c:x val="0.30551619973297883"/>
          <c:y val="0.92285695169555848"/>
          <c:w val="0.47216752929069761"/>
          <c:h val="7.6526470124928817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dk1"/>
              </a:solidFill>
              <a:latin typeface="Helvetica" pitchFamily="2" charset="0"/>
              <a:ea typeface="+mn-ea"/>
              <a:cs typeface="+mn-cs"/>
            </a:defRPr>
          </a:pPr>
          <a:endParaRPr lang="de-DE"/>
        </a:p>
      </c:txPr>
    </c:legend>
    <c:plotVisOnly val="1"/>
    <c:dispBlanksAs val="gap"/>
    <c:showDLblsOverMax val="0"/>
  </c:chart>
  <c:spPr>
    <a:noFill/>
    <a:ln w="9525" cap="flat" cmpd="sng" algn="ctr">
      <a:noFill/>
      <a:round/>
    </a:ln>
    <a:effectLst/>
  </c:spPr>
  <c:txPr>
    <a:bodyPr/>
    <a:lstStyle/>
    <a:p>
      <a:pPr>
        <a:defRPr>
          <a:solidFill>
            <a:schemeClr val="dk1"/>
          </a:solidFill>
          <a:latin typeface="+mn-lt"/>
          <a:ea typeface="+mn-ea"/>
          <a:cs typeface="+mn-cs"/>
        </a:defRPr>
      </a:pPr>
      <a:endParaRPr lang="de-DE"/>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Questionary!$F$124:$F$133</cx:f>
        <cx:lvl ptCount="10" formatCode="0.0">
          <cx:pt idx="0">4.7777777777777777</cx:pt>
          <cx:pt idx="1">3.5</cx:pt>
          <cx:pt idx="2">4.333333333333333</cx:pt>
          <cx:pt idx="3">4.1111111111111107</cx:pt>
          <cx:pt idx="4">4.5</cx:pt>
          <cx:pt idx="5">4.4444444444444446</cx:pt>
          <cx:pt idx="6">2.8999999999999999</cx:pt>
          <cx:pt idx="7">3.8333333333333335</cx:pt>
          <cx:pt idx="8">3.2222222222222223</cx:pt>
          <cx:pt idx="9">3.3999999999999999</cx:pt>
        </cx:lvl>
      </cx:numDim>
    </cx:data>
    <cx:data id="1">
      <cx:numDim type="val">
        <cx:f>Questionary!$G$124:$G$133</cx:f>
        <cx:lvl ptCount="10" formatCode="0.0">
          <cx:pt idx="0">5</cx:pt>
          <cx:pt idx="1">5</cx:pt>
          <cx:pt idx="2">4</cx:pt>
          <cx:pt idx="3">4.1111111111111107</cx:pt>
          <cx:pt idx="4">4.2000000000000002</cx:pt>
          <cx:pt idx="5">4.1111111111111107</cx:pt>
          <cx:pt idx="6">2.5</cx:pt>
          <cx:pt idx="7">4.166666666666667</cx:pt>
          <cx:pt idx="8">3.5555555555555554</cx:pt>
          <cx:pt idx="9">3</cx:pt>
        </cx:lvl>
      </cx:numDim>
    </cx:data>
  </cx:chartData>
  <cx:chart>
    <cx:title pos="t" align="ctr" overlay="0">
      <cx:tx>
        <cx:rich>
          <a:bodyPr spcFirstLastPara="1" vertOverflow="ellipsis" horzOverflow="overflow" wrap="square" lIns="0" tIns="0" rIns="0" bIns="0" anchor="ctr" anchorCtr="1"/>
          <a:lstStyle/>
          <a:p>
            <a:pPr algn="ctr" rtl="0">
              <a:defRPr sz="1800"/>
            </a:pPr>
            <a:r>
              <a:rPr lang="de-DE" sz="1800" b="0" i="0" u="none" strike="noStrike" baseline="0">
                <a:solidFill>
                  <a:schemeClr val="tx1"/>
                </a:solidFill>
                <a:latin typeface="Helvetica" pitchFamily="2" charset="0"/>
              </a:rPr>
              <a:t>Rating Distribution by Evaluation Criteria</a:t>
            </a:r>
          </a:p>
          <a:p>
            <a:pPr algn="ctr" rtl="0">
              <a:defRPr sz="1800"/>
            </a:pPr>
            <a:endParaRPr lang="de-DE" sz="1800" b="0" i="0" u="none" strike="noStrike" baseline="0">
              <a:solidFill>
                <a:schemeClr val="tx1"/>
              </a:solidFill>
              <a:latin typeface="Helvetica" pitchFamily="2" charset="0"/>
            </a:endParaRPr>
          </a:p>
        </cx:rich>
      </cx:tx>
    </cx:title>
    <cx:plotArea>
      <cx:plotAreaRegion>
        <cx:plotSurface>
          <cx:spPr>
            <a:ln>
              <a:noFill/>
            </a:ln>
            <a:effectLst>
              <a:outerShdw blurRad="50800" dist="50800" dir="5400000" algn="ctr" rotWithShape="0">
                <a:srgbClr val="000000">
                  <a:alpha val="28000"/>
                </a:srgbClr>
              </a:outerShdw>
            </a:effectLst>
          </cx:spPr>
        </cx:plotSurface>
        <cx:series layoutId="boxWhisker" uniqueId="{D37D73D4-AFE5-9B49-8D70-D9D766B09E14}">
          <cx:tx>
            <cx:txData>
              <cx:f>Questionary!$F$123</cx:f>
              <cx:v>Accuracy</cx:v>
            </cx:txData>
          </cx:tx>
          <cx:dataLabels pos="l">
            <cx:txPr>
              <a:bodyPr spcFirstLastPara="1" vertOverflow="ellipsis" horzOverflow="overflow" wrap="square" lIns="0" tIns="0" rIns="0" bIns="0" anchor="ctr" anchorCtr="1"/>
              <a:lstStyle/>
              <a:p>
                <a:pPr algn="ctr" rtl="0">
                  <a:defRPr sz="1200" baseline="0">
                    <a:solidFill>
                      <a:schemeClr val="tx1"/>
                    </a:solidFill>
                    <a:latin typeface="Helvetica" pitchFamily="2" charset="0"/>
                  </a:defRPr>
                </a:pPr>
                <a:endParaRPr lang="de-DE" sz="1200" b="0" i="0" u="none" strike="noStrike" baseline="0">
                  <a:solidFill>
                    <a:schemeClr val="tx1"/>
                  </a:solidFill>
                  <a:latin typeface="Helvetica" pitchFamily="2" charset="0"/>
                </a:endParaRPr>
              </a:p>
            </cx:txPr>
            <cx:visibility seriesName="0" categoryName="0" value="1"/>
            <cx:separator>, </cx:separator>
            <cx:dataLabel idx="9">
              <cx:txPr>
                <a:bodyPr spcFirstLastPara="1" vertOverflow="ellipsis" horzOverflow="overflow" wrap="square" lIns="0" tIns="0" rIns="0" bIns="0" anchor="ctr" anchorCtr="1"/>
                <a:lstStyle/>
                <a:p>
                  <a:pPr algn="ctr" rtl="0">
                    <a:defRPr sz="1200" baseline="0">
                      <a:solidFill>
                        <a:schemeClr val="tx1"/>
                      </a:solidFill>
                      <a:latin typeface="Helvetica" pitchFamily="2" charset="0"/>
                    </a:defRPr>
                  </a:pPr>
                  <a:r>
                    <a:rPr lang="de-DE" sz="1200" b="0" i="0" u="none" strike="noStrike" baseline="0">
                      <a:solidFill>
                        <a:schemeClr val="tx1"/>
                      </a:solidFill>
                      <a:latin typeface="Helvetica" pitchFamily="2" charset="0"/>
                    </a:rPr>
                    <a:t>4.8</a:t>
                  </a:r>
                </a:p>
              </cx:txPr>
              <cx:visibility seriesName="0" categoryName="0" value="1"/>
              <cx:separator>, </cx:separator>
            </cx:dataLabel>
            <cx:dataLabelHidden idx="10"/>
            <cx:dataLabelHidden idx="11"/>
            <cx:dataLabelHidden idx="12"/>
            <cx:dataLabelHidden idx="13"/>
          </cx:dataLabels>
          <cx:dataId val="0"/>
          <cx:layoutPr>
            <cx:visibility meanLine="1" meanMarker="1" nonoutliers="0" outliers="1"/>
            <cx:statistics quartileMethod="exclusive"/>
          </cx:layoutPr>
        </cx:series>
        <cx:series layoutId="boxWhisker" uniqueId="{222F820B-4E09-D64E-ABB8-CADB5BC97A1A}">
          <cx:tx>
            <cx:txData>
              <cx:f>Questionary!$G$123</cx:f>
              <cx:v>Satsifaction</cx:v>
            </cx:txData>
          </cx:tx>
          <cx:spPr>
            <a:effectLst>
              <a:outerShdw blurRad="50800" dist="50800" dir="5400000" sx="1000" sy="1000" algn="ctr" rotWithShape="0">
                <a:srgbClr val="000000">
                  <a:alpha val="43137"/>
                </a:srgbClr>
              </a:outerShdw>
            </a:effectLst>
          </cx:spPr>
          <cx:dataLabels pos="l">
            <cx:txPr>
              <a:bodyPr spcFirstLastPara="1" vertOverflow="ellipsis" horzOverflow="overflow" wrap="square" lIns="0" tIns="0" rIns="0" bIns="0" anchor="ctr" anchorCtr="1"/>
              <a:lstStyle/>
              <a:p>
                <a:pPr algn="ctr" rtl="0">
                  <a:defRPr sz="1200" baseline="0">
                    <a:solidFill>
                      <a:schemeClr val="tx1"/>
                    </a:solidFill>
                    <a:latin typeface="Helvetica" pitchFamily="2" charset="0"/>
                  </a:defRPr>
                </a:pPr>
                <a:endParaRPr lang="de-DE" sz="1200" b="0" i="0" u="none" strike="noStrike" baseline="0">
                  <a:solidFill>
                    <a:schemeClr val="tx1"/>
                  </a:solidFill>
                  <a:latin typeface="Helvetica" pitchFamily="2" charset="0"/>
                </a:endParaRPr>
              </a:p>
            </cx:txPr>
            <cx:visibility seriesName="0" categoryName="0" value="1"/>
            <cx:separator>, </cx:separator>
            <cx:dataLabelHidden idx="10"/>
            <cx:dataLabelHidden idx="11"/>
            <cx:dataLabelHidden idx="12"/>
            <cx:dataLabelHidden idx="13"/>
          </cx:dataLabels>
          <cx:dataId val="1"/>
          <cx:layoutPr>
            <cx:visibility meanLine="1" meanMarker="1" nonoutliers="0" outliers="1"/>
            <cx:statistics quartileMethod="exclusive"/>
          </cx:layoutPr>
        </cx:series>
      </cx:plotAreaRegion>
      <cx:axis id="0" hidden="1">
        <cx:catScaling gapWidth="1"/>
        <cx:tickLabels/>
      </cx:axis>
      <cx:axis id="1">
        <cx:valScaling max="5" min="1"/>
        <cx:title>
          <cx:tx>
            <cx:rich>
              <a:bodyPr spcFirstLastPara="1" vertOverflow="ellipsis" horzOverflow="overflow" wrap="square" lIns="0" tIns="0" rIns="0" bIns="0" anchor="ctr" anchorCtr="1"/>
              <a:lstStyle/>
              <a:p>
                <a:pPr algn="ctr" rtl="0">
                  <a:defRPr sz="1400" baseline="0">
                    <a:solidFill>
                      <a:schemeClr val="tx1"/>
                    </a:solidFill>
                    <a:latin typeface="Helvetica" pitchFamily="2" charset="0"/>
                  </a:defRPr>
                </a:pPr>
                <a:r>
                  <a:rPr lang="de-DE" sz="1400" b="0" i="0" u="none" strike="noStrike" baseline="0" dirty="0">
                    <a:solidFill>
                      <a:schemeClr val="tx1"/>
                    </a:solidFill>
                    <a:latin typeface="Helvetica" pitchFamily="2" charset="0"/>
                  </a:rPr>
                  <a:t>Rating Range</a:t>
                </a:r>
              </a:p>
              <a:p>
                <a:pPr algn="ctr" rtl="0">
                  <a:defRPr sz="1400" baseline="0">
                    <a:solidFill>
                      <a:schemeClr val="tx1"/>
                    </a:solidFill>
                    <a:latin typeface="Helvetica" pitchFamily="2" charset="0"/>
                  </a:defRPr>
                </a:pPr>
                <a:endParaRPr lang="de-DE" sz="1400" b="0" i="0" u="none" strike="noStrike" baseline="0" dirty="0">
                  <a:solidFill>
                    <a:schemeClr val="tx1"/>
                  </a:solidFill>
                  <a:latin typeface="Helvetica" pitchFamily="2" charset="0"/>
                </a:endParaRPr>
              </a:p>
            </cx:rich>
          </cx:tx>
        </cx:title>
        <cx:majorGridlines>
          <cx:spPr>
            <a:ln>
              <a:solidFill>
                <a:schemeClr val="bg1">
                  <a:lumMod val="85000"/>
                </a:schemeClr>
              </a:solidFill>
            </a:ln>
          </cx:spPr>
        </cx:majorGridlines>
        <cx:tickLabels/>
        <cx:txPr>
          <a:bodyPr spcFirstLastPara="1" vertOverflow="ellipsis" horzOverflow="overflow" wrap="square" lIns="0" tIns="0" rIns="0" bIns="0" anchor="ctr" anchorCtr="1"/>
          <a:lstStyle/>
          <a:p>
            <a:pPr algn="ctr" rtl="0">
              <a:defRPr sz="1200" baseline="0">
                <a:solidFill>
                  <a:schemeClr val="tx1"/>
                </a:solidFill>
                <a:latin typeface="Helvetica" pitchFamily="2" charset="0"/>
              </a:defRPr>
            </a:pPr>
            <a:endParaRPr lang="de-DE" sz="1200" b="0" i="0" u="none" strike="noStrike" baseline="0">
              <a:solidFill>
                <a:schemeClr val="tx1"/>
              </a:solidFill>
              <a:latin typeface="Helvetica" pitchFamily="2" charset="0"/>
            </a:endParaRPr>
          </a:p>
        </cx:txPr>
      </cx:axis>
    </cx:plotArea>
    <cx:legend pos="b" align="ctr" overlay="0">
      <cx:txPr>
        <a:bodyPr spcFirstLastPara="1" vertOverflow="ellipsis" horzOverflow="overflow" wrap="square" lIns="0" tIns="0" rIns="0" bIns="0" anchor="ctr" anchorCtr="1"/>
        <a:lstStyle/>
        <a:p>
          <a:pPr algn="ctr" rtl="0">
            <a:defRPr sz="1400" baseline="0">
              <a:latin typeface="Helvetica" pitchFamily="2" charset="0"/>
            </a:defRPr>
          </a:pPr>
          <a:endParaRPr lang="de-DE" sz="1400" b="0" i="0" u="none" strike="noStrike" baseline="0">
            <a:solidFill>
              <a:schemeClr val="tx1"/>
            </a:solidFill>
            <a:latin typeface="Helvetica" pitchFamily="2" charset="0"/>
          </a:endParaRPr>
        </a:p>
      </cx:txPr>
    </cx:legend>
  </cx:chart>
  <cx:spPr>
    <a:ln>
      <a:noFill/>
    </a:ln>
  </cx:spPr>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367705-424B-CB40-B0F3-D0A096EE3B0A}" type="datetimeFigureOut">
              <a:rPr lang="en-GB" smtClean="0"/>
              <a:t>16/02/2026</a:t>
            </a:fld>
            <a:endParaRPr lang="en-GB"/>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D97A47-993E-B64C-898C-A0103DF0B7AF}" type="slidenum">
              <a:rPr lang="en-GB" smtClean="0"/>
              <a:t>‹Nr.›</a:t>
            </a:fld>
            <a:endParaRPr lang="en-GB"/>
          </a:p>
        </p:txBody>
      </p:sp>
    </p:spTree>
    <p:extLst>
      <p:ext uri="{BB962C8B-B14F-4D97-AF65-F5344CB8AC3E}">
        <p14:creationId xmlns:p14="http://schemas.microsoft.com/office/powerpoint/2010/main" val="504792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2CD97A47-993E-B64C-898C-A0103DF0B7AF}" type="slidenum">
              <a:rPr lang="en-GB" smtClean="0"/>
              <a:t>1</a:t>
            </a:fld>
            <a:endParaRPr lang="en-GB"/>
          </a:p>
        </p:txBody>
      </p:sp>
    </p:spTree>
    <p:extLst>
      <p:ext uri="{BB962C8B-B14F-4D97-AF65-F5344CB8AC3E}">
        <p14:creationId xmlns:p14="http://schemas.microsoft.com/office/powerpoint/2010/main" val="2441732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2CD97A47-993E-B64C-898C-A0103DF0B7AF}" type="slidenum">
              <a:rPr lang="en-GB" smtClean="0"/>
              <a:t>2</a:t>
            </a:fld>
            <a:endParaRPr lang="en-GB"/>
          </a:p>
        </p:txBody>
      </p:sp>
    </p:spTree>
    <p:extLst>
      <p:ext uri="{BB962C8B-B14F-4D97-AF65-F5344CB8AC3E}">
        <p14:creationId xmlns:p14="http://schemas.microsoft.com/office/powerpoint/2010/main" val="719595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noProof="0" dirty="0"/>
              <a:t>strukturierte Daten: </a:t>
            </a:r>
            <a:r>
              <a:rPr lang="de-DE" b="0" noProof="0" dirty="0"/>
              <a:t>Daten in einem </a:t>
            </a:r>
            <a:r>
              <a:rPr lang="de-DE" b="0" u="sng" noProof="0" dirty="0"/>
              <a:t>standardisierten tabellarischen Format </a:t>
            </a:r>
            <a:r>
              <a:rPr lang="de-DE" b="0" noProof="0" dirty="0"/>
              <a:t>mit </a:t>
            </a:r>
            <a:r>
              <a:rPr lang="de-DE" b="0" u="sng" noProof="0" dirty="0"/>
              <a:t>Spalten und Zeilen</a:t>
            </a:r>
          </a:p>
          <a:p>
            <a:r>
              <a:rPr lang="de-DE" b="1" noProof="0" dirty="0"/>
              <a:t>unstrukturierte Daten: </a:t>
            </a:r>
            <a:r>
              <a:rPr lang="de-DE" b="0" noProof="0" dirty="0"/>
              <a:t>Daten in </a:t>
            </a:r>
            <a:r>
              <a:rPr lang="de-DE" b="0" u="sng" noProof="0" dirty="0"/>
              <a:t>keinem vordefinierten Format </a:t>
            </a:r>
            <a:r>
              <a:rPr lang="de-DE" b="0" noProof="0" dirty="0"/>
              <a:t>und keiner </a:t>
            </a:r>
            <a:r>
              <a:rPr lang="de-DE" b="0" u="sng" noProof="0" dirty="0"/>
              <a:t>klassischen </a:t>
            </a:r>
            <a:r>
              <a:rPr lang="de-DE" b="0" u="sng" noProof="0" dirty="0" err="1"/>
              <a:t>Tabelenstruktur</a:t>
            </a:r>
            <a:r>
              <a:rPr lang="de-DE" b="0" u="sng" noProof="0" dirty="0"/>
              <a:t> folgen</a:t>
            </a:r>
            <a:br>
              <a:rPr lang="de-DE" b="0" u="sng" noProof="0" dirty="0"/>
            </a:br>
            <a:br>
              <a:rPr lang="de-DE" b="0" u="sng" noProof="0" dirty="0"/>
            </a:br>
            <a:br>
              <a:rPr lang="de-DE" b="0" u="sng" noProof="0" dirty="0"/>
            </a:br>
            <a:r>
              <a:rPr lang="de-DE" b="1" u="none" noProof="0" dirty="0"/>
              <a:t>Basierend</a:t>
            </a:r>
            <a:r>
              <a:rPr lang="de-DE" b="0" u="none" noProof="0" dirty="0"/>
              <a:t> auf Teilprojekt wurden </a:t>
            </a:r>
            <a:r>
              <a:rPr lang="de-DE" b="1" u="none" noProof="0" dirty="0"/>
              <a:t>GenAI basierte Modell </a:t>
            </a:r>
            <a:r>
              <a:rPr lang="de-DE" b="0" u="none" noProof="0" dirty="0"/>
              <a:t>entwickelt....wo als Basis dienen</a:t>
            </a:r>
            <a:endParaRPr lang="de-DE" b="1" u="none" noProof="0" dirty="0"/>
          </a:p>
        </p:txBody>
      </p:sp>
      <p:sp>
        <p:nvSpPr>
          <p:cNvPr id="4" name="Foliennummernplatzhalter 3"/>
          <p:cNvSpPr>
            <a:spLocks noGrp="1"/>
          </p:cNvSpPr>
          <p:nvPr>
            <p:ph type="sldNum" sz="quarter" idx="5"/>
          </p:nvPr>
        </p:nvSpPr>
        <p:spPr/>
        <p:txBody>
          <a:bodyPr/>
          <a:lstStyle/>
          <a:p>
            <a:fld id="{2CD97A47-993E-B64C-898C-A0103DF0B7AF}" type="slidenum">
              <a:rPr lang="en-GB" smtClean="0"/>
              <a:t>3</a:t>
            </a:fld>
            <a:endParaRPr lang="en-GB"/>
          </a:p>
        </p:txBody>
      </p:sp>
    </p:spTree>
    <p:extLst>
      <p:ext uri="{BB962C8B-B14F-4D97-AF65-F5344CB8AC3E}">
        <p14:creationId xmlns:p14="http://schemas.microsoft.com/office/powerpoint/2010/main" val="3540962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noProof="0" dirty="0"/>
              <a:t>Resultierende Modelle sind </a:t>
            </a:r>
            <a:r>
              <a:rPr lang="de-DE" b="1" noProof="0" dirty="0"/>
              <a:t>Alpha Version, Open Beta Model </a:t>
            </a:r>
            <a:r>
              <a:rPr lang="de-DE" noProof="0" dirty="0"/>
              <a:t>sowie </a:t>
            </a:r>
            <a:r>
              <a:rPr lang="de-DE" b="1" noProof="0" dirty="0"/>
              <a:t>Insight Retriever</a:t>
            </a:r>
          </a:p>
          <a:p>
            <a:pPr marL="171450" indent="-171450">
              <a:buFontTx/>
              <a:buChar char="-"/>
            </a:pPr>
            <a:endParaRPr lang="de-DE" b="1" noProof="0" dirty="0"/>
          </a:p>
          <a:p>
            <a:pPr marL="171450" indent="-171450">
              <a:buFontTx/>
              <a:buChar char="-"/>
            </a:pPr>
            <a:r>
              <a:rPr lang="de-DE" b="0" noProof="0" dirty="0"/>
              <a:t>Modelle unterschieden sich bezogen auf </a:t>
            </a:r>
            <a:r>
              <a:rPr lang="de-DE" b="1" noProof="0" dirty="0"/>
              <a:t>Datentyp, Teilprojekt, ....Inhaltlicher Umfang</a:t>
            </a:r>
          </a:p>
          <a:p>
            <a:pPr marL="171450" indent="-171450">
              <a:buFontTx/>
              <a:buChar char="-"/>
            </a:pPr>
            <a:endParaRPr lang="de-DE" b="1" noProof="0" dirty="0"/>
          </a:p>
          <a:p>
            <a:pPr marL="171450" indent="-171450">
              <a:buFontTx/>
              <a:buChar char="-"/>
            </a:pPr>
            <a:r>
              <a:rPr lang="de-DE" b="1" noProof="0" dirty="0"/>
              <a:t>(INPUT BALKEN). !!!</a:t>
            </a:r>
          </a:p>
          <a:p>
            <a:pPr marL="171450" indent="-171450">
              <a:buFontTx/>
              <a:buChar char="-"/>
            </a:pPr>
            <a:endParaRPr lang="de-DE" b="1" noProof="0" dirty="0"/>
          </a:p>
          <a:p>
            <a:pPr marL="171450" indent="-171450">
              <a:buFontTx/>
              <a:buChar char="-"/>
            </a:pPr>
            <a:r>
              <a:rPr lang="de-DE" b="0" noProof="0" dirty="0"/>
              <a:t>Mithilfe </a:t>
            </a:r>
            <a:r>
              <a:rPr lang="de-DE" b="1" noProof="0" dirty="0"/>
              <a:t>Alpha Version </a:t>
            </a:r>
            <a:r>
              <a:rPr lang="de-DE" b="0" noProof="0" dirty="0"/>
              <a:t>und </a:t>
            </a:r>
            <a:r>
              <a:rPr lang="de-DE" b="1" noProof="0" dirty="0"/>
              <a:t>Open Beta, </a:t>
            </a:r>
            <a:r>
              <a:rPr lang="de-DE" b="0" noProof="0" dirty="0"/>
              <a:t>werden </a:t>
            </a:r>
            <a:r>
              <a:rPr lang="de-DE" b="0" u="sng" noProof="0" dirty="0"/>
              <a:t>FF1 &amp; 2 adressiert</a:t>
            </a:r>
            <a:endParaRPr lang="de-DE" b="0" noProof="0" dirty="0"/>
          </a:p>
          <a:p>
            <a:pPr marL="171450" indent="-171450">
              <a:buFontTx/>
              <a:buChar char="-"/>
            </a:pPr>
            <a:endParaRPr lang="de-DE" b="0" noProof="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b="0" noProof="0" dirty="0"/>
              <a:t>Während</a:t>
            </a:r>
            <a:r>
              <a:rPr lang="de-DE" b="1" noProof="0" dirty="0"/>
              <a:t> mithilfe vom Insight Retriever ausschlieslich </a:t>
            </a:r>
            <a:r>
              <a:rPr lang="de-DE" b="0" u="sng" noProof="0" dirty="0"/>
              <a:t>FF2 </a:t>
            </a:r>
            <a:r>
              <a:rPr lang="de-DE" b="1" noProof="0" dirty="0">
                <a:highlight>
                  <a:srgbClr val="FFFF00"/>
                </a:highlight>
              </a:rPr>
              <a:t>adressiert wird</a:t>
            </a:r>
            <a:endParaRPr lang="de-DE" b="1" noProof="0" dirty="0"/>
          </a:p>
        </p:txBody>
      </p:sp>
      <p:sp>
        <p:nvSpPr>
          <p:cNvPr id="4" name="Foliennummernplatzhalter 3"/>
          <p:cNvSpPr>
            <a:spLocks noGrp="1"/>
          </p:cNvSpPr>
          <p:nvPr>
            <p:ph type="sldNum" sz="quarter" idx="5"/>
          </p:nvPr>
        </p:nvSpPr>
        <p:spPr/>
        <p:txBody>
          <a:bodyPr/>
          <a:lstStyle/>
          <a:p>
            <a:fld id="{2CD97A47-993E-B64C-898C-A0103DF0B7AF}" type="slidenum">
              <a:rPr lang="en-GB" smtClean="0"/>
              <a:t>4</a:t>
            </a:fld>
            <a:endParaRPr lang="en-GB"/>
          </a:p>
        </p:txBody>
      </p:sp>
    </p:spTree>
    <p:extLst>
      <p:ext uri="{BB962C8B-B14F-4D97-AF65-F5344CB8AC3E}">
        <p14:creationId xmlns:p14="http://schemas.microsoft.com/office/powerpoint/2010/main" val="399172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400" noProof="0" dirty="0"/>
              <a:t>Im Rahmen der Master Thesis wurden </a:t>
            </a:r>
            <a:r>
              <a:rPr lang="de-DE" sz="400" b="1" noProof="0" dirty="0"/>
              <a:t>zwei</a:t>
            </a:r>
            <a:r>
              <a:rPr lang="de-DE" sz="400" noProof="0" dirty="0"/>
              <a:t> </a:t>
            </a:r>
            <a:r>
              <a:rPr lang="de-DE" sz="400" b="1" noProof="0" dirty="0"/>
              <a:t>Methodische Ansätze </a:t>
            </a:r>
            <a:r>
              <a:rPr lang="de-DE" sz="400" noProof="0" dirty="0"/>
              <a:t>verwendet</a:t>
            </a:r>
            <a:br>
              <a:rPr lang="de-DE" sz="400" noProof="0" dirty="0"/>
            </a:br>
            <a:br>
              <a:rPr lang="de-DE" sz="400" noProof="0" dirty="0"/>
            </a:br>
            <a:r>
              <a:rPr lang="de-DE" sz="400" noProof="0" dirty="0"/>
              <a:t>   </a:t>
            </a:r>
            <a:r>
              <a:rPr lang="de-DE" sz="400" b="1" noProof="0" dirty="0"/>
              <a:t>1: Iterative Modell Entwicklung</a:t>
            </a:r>
          </a:p>
          <a:p>
            <a:br>
              <a:rPr lang="de-DE" sz="400" noProof="0" dirty="0"/>
            </a:br>
            <a:r>
              <a:rPr lang="de-DE" sz="400" noProof="0" dirty="0"/>
              <a:t>-  Betrifft die </a:t>
            </a:r>
            <a:r>
              <a:rPr lang="de-DE" sz="400" b="1" noProof="0" dirty="0"/>
              <a:t>Teilprojekte</a:t>
            </a:r>
            <a:r>
              <a:rPr lang="de-DE" sz="400" noProof="0" dirty="0"/>
              <a:t> und die daraus </a:t>
            </a:r>
            <a:r>
              <a:rPr lang="de-DE" sz="400" b="1" noProof="0" dirty="0"/>
              <a:t>resultierenden Modelle</a:t>
            </a:r>
          </a:p>
          <a:p>
            <a:endParaRPr lang="de-DE" sz="400" b="1" noProof="0" dirty="0"/>
          </a:p>
          <a:p>
            <a:pPr marL="171450" indent="-171450">
              <a:buFontTx/>
              <a:buChar char="-"/>
            </a:pPr>
            <a:r>
              <a:rPr lang="de-DE" sz="400" b="1" noProof="0" dirty="0"/>
              <a:t>Modelle</a:t>
            </a:r>
            <a:r>
              <a:rPr lang="de-DE" sz="400" noProof="0" dirty="0"/>
              <a:t> werden dabei, wie in der </a:t>
            </a:r>
            <a:r>
              <a:rPr lang="de-DE" sz="400" b="1" noProof="0" dirty="0"/>
              <a:t>Grafik grün </a:t>
            </a:r>
            <a:r>
              <a:rPr lang="de-DE" sz="400" noProof="0" dirty="0"/>
              <a:t>dargestellt, </a:t>
            </a:r>
            <a:r>
              <a:rPr lang="de-DE" sz="400" b="1" noProof="0" dirty="0"/>
              <a:t>durch </a:t>
            </a:r>
            <a:r>
              <a:rPr lang="de-DE" sz="400" b="1" u="sng" noProof="0" dirty="0"/>
              <a:t>Entwicklungs- und Evaluations Zyklen </a:t>
            </a:r>
            <a:r>
              <a:rPr lang="de-DE" sz="400" noProof="0" dirty="0"/>
              <a:t>kontinuierlich </a:t>
            </a:r>
            <a:r>
              <a:rPr lang="de-DE" sz="400" b="1" noProof="0" dirty="0"/>
              <a:t>weiterentwickelt</a:t>
            </a:r>
            <a:br>
              <a:rPr lang="de-DE" sz="400" noProof="0" dirty="0"/>
            </a:br>
            <a:br>
              <a:rPr lang="de-DE" sz="400" noProof="0" dirty="0"/>
            </a:br>
            <a:r>
              <a:rPr lang="de-DE" sz="400" b="1" noProof="0" dirty="0"/>
              <a:t>2: Zweiter Ansatz : Qualitative Modell Evaluation</a:t>
            </a:r>
          </a:p>
          <a:p>
            <a:pPr marL="171450" indent="-171450">
              <a:buFontTx/>
              <a:buChar char="-"/>
            </a:pPr>
            <a:endParaRPr lang="de-DE" sz="400" b="1" noProof="0" dirty="0"/>
          </a:p>
          <a:p>
            <a:pPr marL="171450" indent="-171450">
              <a:buFontTx/>
              <a:buChar char="-"/>
            </a:pPr>
            <a:r>
              <a:rPr lang="de-DE" sz="400" b="0" noProof="0" dirty="0"/>
              <a:t>Nutzung eines </a:t>
            </a:r>
            <a:r>
              <a:rPr lang="de-DE" sz="400" b="1" noProof="0" dirty="0"/>
              <a:t>strukturierten Fragebogens </a:t>
            </a:r>
            <a:r>
              <a:rPr lang="de-DE" sz="400" b="0" noProof="0" dirty="0"/>
              <a:t>zur </a:t>
            </a:r>
            <a:r>
              <a:rPr lang="de-DE" sz="400" b="1" noProof="0" dirty="0"/>
              <a:t>qualitativen Evaluation </a:t>
            </a:r>
            <a:r>
              <a:rPr lang="de-DE" sz="400" b="0" noProof="0" dirty="0"/>
              <a:t>der Modelle </a:t>
            </a:r>
            <a:r>
              <a:rPr lang="de-DE" sz="400" b="1" noProof="0" dirty="0"/>
              <a:t>mithilfe</a:t>
            </a:r>
            <a:r>
              <a:rPr lang="de-DE" sz="400" b="0" noProof="0" dirty="0"/>
              <a:t> von Fachexperten</a:t>
            </a:r>
          </a:p>
          <a:p>
            <a:pPr marL="171450" indent="-171450">
              <a:buFontTx/>
              <a:buChar char="-"/>
            </a:pPr>
            <a:endParaRPr lang="de-DE" sz="400" b="0" noProof="0" dirty="0"/>
          </a:p>
          <a:p>
            <a:pPr marL="171450" indent="-171450">
              <a:buFontTx/>
              <a:buChar char="-"/>
            </a:pPr>
            <a:r>
              <a:rPr lang="de-DE" sz="400" b="0" noProof="0" dirty="0"/>
              <a:t>Methodik umfasst ebenfalls </a:t>
            </a:r>
            <a:r>
              <a:rPr lang="de-DE" sz="400" b="1" noProof="0" dirty="0"/>
              <a:t>konsolidierte Zusammenführung und Analyse </a:t>
            </a:r>
            <a:r>
              <a:rPr lang="de-DE" sz="400" b="0" noProof="0" dirty="0"/>
              <a:t>der </a:t>
            </a:r>
            <a:r>
              <a:rPr lang="de-DE" sz="400" b="1" noProof="0" dirty="0"/>
              <a:t>Ergebnisse</a:t>
            </a:r>
            <a:r>
              <a:rPr lang="de-DE" sz="400" b="0" noProof="0" dirty="0"/>
              <a:t> in Form einer Excel Datei</a:t>
            </a:r>
          </a:p>
        </p:txBody>
      </p:sp>
      <p:sp>
        <p:nvSpPr>
          <p:cNvPr id="4" name="Foliennummernplatzhalter 3"/>
          <p:cNvSpPr>
            <a:spLocks noGrp="1"/>
          </p:cNvSpPr>
          <p:nvPr>
            <p:ph type="sldNum" sz="quarter" idx="5"/>
          </p:nvPr>
        </p:nvSpPr>
        <p:spPr/>
        <p:txBody>
          <a:bodyPr/>
          <a:lstStyle/>
          <a:p>
            <a:fld id="{2CD97A47-993E-B64C-898C-A0103DF0B7AF}" type="slidenum">
              <a:rPr lang="en-GB" smtClean="0"/>
              <a:t>5</a:t>
            </a:fld>
            <a:endParaRPr lang="en-GB"/>
          </a:p>
        </p:txBody>
      </p:sp>
    </p:spTree>
    <p:extLst>
      <p:ext uri="{BB962C8B-B14F-4D97-AF65-F5344CB8AC3E}">
        <p14:creationId xmlns:p14="http://schemas.microsoft.com/office/powerpoint/2010/main" val="3291501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noProof="0" dirty="0"/>
              <a:t>Forschungsfrage 1, </a:t>
            </a:r>
            <a:r>
              <a:rPr lang="de-DE" noProof="0" dirty="0"/>
              <a:t>umfasst </a:t>
            </a:r>
            <a:r>
              <a:rPr lang="de-DE" b="1" noProof="0" dirty="0"/>
              <a:t>drei eigenständige Kernpunkte</a:t>
            </a:r>
            <a:endParaRPr lang="de-DE" strike="sngStrike" noProof="0" dirty="0"/>
          </a:p>
          <a:p>
            <a:endParaRPr lang="de-DE" noProof="0" dirty="0"/>
          </a:p>
          <a:p>
            <a:r>
              <a:rPr lang="de-DE" noProof="0" dirty="0"/>
              <a:t>1: Integration ...</a:t>
            </a:r>
          </a:p>
          <a:p>
            <a:r>
              <a:rPr lang="de-DE" noProof="0" dirty="0"/>
              <a:t>2: Umgang .....</a:t>
            </a:r>
            <a:br>
              <a:rPr lang="de-DE" noProof="0" dirty="0"/>
            </a:br>
            <a:r>
              <a:rPr lang="de-DE" noProof="0" dirty="0"/>
              <a:t>3: Evaluation ......</a:t>
            </a:r>
            <a:br>
              <a:rPr lang="de-DE" noProof="0" dirty="0"/>
            </a:br>
            <a:endParaRPr lang="de-DE" noProof="0" dirty="0"/>
          </a:p>
        </p:txBody>
      </p:sp>
      <p:sp>
        <p:nvSpPr>
          <p:cNvPr id="4" name="Foliennummernplatzhalter 3"/>
          <p:cNvSpPr>
            <a:spLocks noGrp="1"/>
          </p:cNvSpPr>
          <p:nvPr>
            <p:ph type="sldNum" sz="quarter" idx="5"/>
          </p:nvPr>
        </p:nvSpPr>
        <p:spPr/>
        <p:txBody>
          <a:bodyPr/>
          <a:lstStyle/>
          <a:p>
            <a:fld id="{2CD97A47-993E-B64C-898C-A0103DF0B7AF}" type="slidenum">
              <a:rPr lang="en-GB" smtClean="0"/>
              <a:t>7</a:t>
            </a:fld>
            <a:endParaRPr lang="en-GB"/>
          </a:p>
        </p:txBody>
      </p:sp>
    </p:spTree>
    <p:extLst>
      <p:ext uri="{BB962C8B-B14F-4D97-AF65-F5344CB8AC3E}">
        <p14:creationId xmlns:p14="http://schemas.microsoft.com/office/powerpoint/2010/main" val="4032795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sz="1200" dirty="0">
                <a:latin typeface="Helvetica" pitchFamily="2" charset="0"/>
              </a:rPr>
              <a:t>Bei der </a:t>
            </a:r>
            <a:r>
              <a:rPr lang="de-DE" sz="1200" b="1" dirty="0">
                <a:latin typeface="Helvetica" pitchFamily="2" charset="0"/>
              </a:rPr>
              <a:t>Integration </a:t>
            </a:r>
            <a:r>
              <a:rPr lang="de-DE" sz="1200" dirty="0">
                <a:latin typeface="Helvetica" pitchFamily="2" charset="0"/>
              </a:rPr>
              <a:t>unstrukturierter Supply Chain Daten.....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DE" sz="1200" dirty="0">
              <a:latin typeface="Helvetica" pitchFamily="2" charset="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sz="1200" b="1" dirty="0">
                <a:latin typeface="Helvetica" pitchFamily="2" charset="0"/>
              </a:rPr>
              <a:t>Performance Engpass </a:t>
            </a:r>
            <a:r>
              <a:rPr lang="de-DE" sz="1200" dirty="0">
                <a:latin typeface="Helvetica" pitchFamily="2" charset="0"/>
              </a:rPr>
              <a:t>Identifikation</a:t>
            </a:r>
            <a:r>
              <a:rPr lang="de-DE" sz="1200" b="1" dirty="0">
                <a:latin typeface="Helvetica" pitchFamily="2" charset="0"/>
              </a:rPr>
              <a:t>  </a:t>
            </a:r>
            <a:r>
              <a:rPr lang="de-DE" sz="1200" dirty="0">
                <a:latin typeface="Helvetica" pitchFamily="2" charset="0"/>
              </a:rPr>
              <a:t>=&gt; Was zu </a:t>
            </a:r>
            <a:r>
              <a:rPr lang="de-DE" sz="1200" b="1" dirty="0">
                <a:latin typeface="Helvetica" pitchFamily="2" charset="0"/>
              </a:rPr>
              <a:t>sehr langen</a:t>
            </a:r>
            <a:r>
              <a:rPr lang="de-DE" sz="1200" dirty="0">
                <a:latin typeface="Helvetica" pitchFamily="2" charset="0"/>
              </a:rPr>
              <a:t>, nicht </a:t>
            </a:r>
            <a:r>
              <a:rPr lang="de-DE" sz="1200" b="1" u="sng" dirty="0">
                <a:latin typeface="Helvetica" pitchFamily="2" charset="0"/>
              </a:rPr>
              <a:t>praktikable</a:t>
            </a:r>
            <a:r>
              <a:rPr lang="de-DE" sz="1200" dirty="0">
                <a:latin typeface="Helvetica" pitchFamily="2" charset="0"/>
              </a:rPr>
              <a:t>, </a:t>
            </a:r>
            <a:r>
              <a:rPr lang="de-DE" sz="1200" b="1" dirty="0">
                <a:latin typeface="Helvetica" pitchFamily="2" charset="0"/>
              </a:rPr>
              <a:t>Verarbeitungszeiten </a:t>
            </a:r>
            <a:r>
              <a:rPr lang="de-DE" sz="1200" b="0" dirty="0">
                <a:latin typeface="Helvetica" pitchFamily="2" charset="0"/>
              </a:rPr>
              <a:t>einzelnen Dokumenten geführt hat</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DE" sz="1200" b="1" dirty="0">
              <a:latin typeface="Helvetica" pitchFamily="2" charset="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b="0" noProof="0" dirty="0"/>
              <a:t>Zur Lösung des Problems, </a:t>
            </a:r>
            <a:r>
              <a:rPr lang="de-DE" b="1" noProof="0" dirty="0"/>
              <a:t>Parallelisierung des Prozesses</a:t>
            </a:r>
            <a:r>
              <a:rPr lang="de-DE" b="0" noProof="0" dirty="0"/>
              <a:t> =&gt; mithilfe von </a:t>
            </a:r>
            <a:r>
              <a:rPr lang="de-DE" b="1" noProof="0" dirty="0"/>
              <a:t>Python Threading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DE" b="0" noProof="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CH" sz="1200" b="1" i="0" u="none" strike="noStrike" kern="1200" dirty="0">
                <a:solidFill>
                  <a:schemeClr val="tx1"/>
                </a:solidFill>
                <a:effectLst/>
                <a:latin typeface="+mn-lt"/>
                <a:ea typeface="+mn-ea"/>
                <a:cs typeface="+mn-cs"/>
              </a:rPr>
              <a:t>Die Grafik </a:t>
            </a:r>
            <a:r>
              <a:rPr lang="de-CH" sz="1200" b="0" i="0" u="none" strike="noStrike" kern="1200" dirty="0">
                <a:solidFill>
                  <a:schemeClr val="tx1"/>
                </a:solidFill>
                <a:effectLst/>
                <a:latin typeface="+mn-lt"/>
                <a:ea typeface="+mn-ea"/>
                <a:cs typeface="+mn-cs"/>
              </a:rPr>
              <a:t>zeigt die Verwendung von Threading </a:t>
            </a:r>
            <a:r>
              <a:rPr lang="de-CH" sz="1200" b="1" i="0" u="none" strike="noStrike" kern="1200" dirty="0">
                <a:solidFill>
                  <a:schemeClr val="tx1"/>
                </a:solidFill>
                <a:effectLst/>
                <a:latin typeface="+mn-lt"/>
                <a:ea typeface="+mn-ea"/>
                <a:cs typeface="+mn-cs"/>
              </a:rPr>
              <a:t>anhand einem Test Datensatz </a:t>
            </a:r>
            <a:r>
              <a:rPr lang="de-CH" sz="1200" b="0" i="0" u="none" strike="noStrike" kern="1200" dirty="0">
                <a:solidFill>
                  <a:schemeClr val="tx1"/>
                </a:solidFill>
                <a:effectLst/>
                <a:latin typeface="+mn-lt"/>
                <a:ea typeface="+mn-ea"/>
                <a:cs typeface="+mn-cs"/>
              </a:rPr>
              <a:t>mit unterschiedlicher </a:t>
            </a:r>
            <a:r>
              <a:rPr lang="de-CH" sz="1200" b="1" i="0" u="none" strike="noStrike" kern="1200" dirty="0">
                <a:solidFill>
                  <a:schemeClr val="tx1"/>
                </a:solidFill>
                <a:effectLst/>
                <a:latin typeface="+mn-lt"/>
                <a:ea typeface="+mn-ea"/>
                <a:cs typeface="+mn-cs"/>
              </a:rPr>
              <a:t>Konfiguration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CH" sz="1200" b="0" i="0" u="none" strike="noStrike"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CH" sz="1200" b="1" i="0" u="none" strike="noStrike" kern="1200" dirty="0">
                <a:solidFill>
                  <a:schemeClr val="tx1"/>
                </a:solidFill>
                <a:effectLst/>
                <a:latin typeface="+mn-lt"/>
                <a:ea typeface="+mn-ea"/>
                <a:cs typeface="+mn-cs"/>
              </a:rPr>
              <a:t>Die Einzelne Konfigurationen, </a:t>
            </a:r>
            <a:r>
              <a:rPr lang="de-CH" sz="1200" b="0" i="0" u="none" strike="noStrike" kern="1200" dirty="0">
                <a:solidFill>
                  <a:schemeClr val="tx1"/>
                </a:solidFill>
                <a:effectLst/>
                <a:latin typeface="+mn-lt"/>
                <a:ea typeface="+mn-ea"/>
                <a:cs typeface="+mn-cs"/>
              </a:rPr>
              <a:t>haben jeweils unterschiedlichen Anzahl Threads (blau dargestellt) und werden </a:t>
            </a:r>
            <a:r>
              <a:rPr lang="de-CH" sz="1200" b="1" i="0" u="none" strike="noStrike" kern="1200" dirty="0">
                <a:solidFill>
                  <a:schemeClr val="tx1"/>
                </a:solidFill>
                <a:effectLst/>
                <a:latin typeface="+mn-lt"/>
                <a:ea typeface="+mn-ea"/>
                <a:cs typeface="+mn-cs"/>
              </a:rPr>
              <a:t>zusammen mit den </a:t>
            </a:r>
            <a:r>
              <a:rPr lang="de-CH" sz="1200" b="0" i="0" u="none" strike="noStrike" kern="1200" dirty="0">
                <a:solidFill>
                  <a:schemeClr val="tx1"/>
                </a:solidFill>
                <a:effectLst/>
                <a:latin typeface="+mn-lt"/>
                <a:ea typeface="+mn-ea"/>
                <a:cs typeface="+mn-cs"/>
              </a:rPr>
              <a:t>entsprechenden </a:t>
            </a:r>
            <a:r>
              <a:rPr lang="de-CH" sz="1200" b="1" i="0" u="none" strike="noStrike" kern="1200" dirty="0">
                <a:solidFill>
                  <a:schemeClr val="tx1"/>
                </a:solidFill>
                <a:effectLst/>
                <a:latin typeface="+mn-lt"/>
                <a:ea typeface="+mn-ea"/>
                <a:cs typeface="+mn-cs"/>
              </a:rPr>
              <a:t>Extraktionsdauer (orange) </a:t>
            </a:r>
            <a:r>
              <a:rPr lang="de-CH" sz="1200" b="0" i="0" u="none" strike="noStrike" kern="1200" dirty="0">
                <a:solidFill>
                  <a:schemeClr val="tx1"/>
                </a:solidFill>
                <a:effectLst/>
                <a:latin typeface="+mn-lt"/>
                <a:ea typeface="+mn-ea"/>
                <a:cs typeface="+mn-cs"/>
              </a:rPr>
              <a:t>und dem </a:t>
            </a:r>
            <a:r>
              <a:rPr lang="de-CH" sz="1200" b="1" i="0" u="none" strike="noStrike" kern="1200" dirty="0">
                <a:solidFill>
                  <a:schemeClr val="tx1"/>
                </a:solidFill>
                <a:effectLst/>
                <a:latin typeface="+mn-lt"/>
                <a:ea typeface="+mn-ea"/>
                <a:cs typeface="+mn-cs"/>
              </a:rPr>
              <a:t>prozentualen Progress (grau dargestellt), </a:t>
            </a:r>
            <a:r>
              <a:rPr lang="de-CH" sz="1200" b="0" i="0" u="sng" strike="noStrike" kern="1200" dirty="0">
                <a:solidFill>
                  <a:schemeClr val="tx1"/>
                </a:solidFill>
                <a:effectLst/>
                <a:latin typeface="+mn-lt"/>
                <a:ea typeface="+mn-ea"/>
                <a:cs typeface="+mn-cs"/>
              </a:rPr>
              <a:t>untersucht</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CH" sz="1200" b="0" i="0" u="none" strike="noStrike" kern="1200" dirty="0">
              <a:solidFill>
                <a:schemeClr val="tx1"/>
              </a:solidFill>
              <a:effectLst/>
              <a:highlight>
                <a:srgbClr val="FFFF00"/>
              </a:highligh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CH" sz="1200" b="1" i="1" u="none" strike="noStrike" kern="1200" dirty="0">
                <a:solidFill>
                  <a:schemeClr val="tx1"/>
                </a:solidFill>
                <a:effectLst/>
                <a:highlight>
                  <a:srgbClr val="FFFF00"/>
                </a:highlight>
                <a:latin typeface="+mn-lt"/>
                <a:ea typeface="+mn-ea"/>
                <a:cs typeface="+mn-cs"/>
              </a:rPr>
              <a:t>(Optimum Input)</a:t>
            </a:r>
            <a:br>
              <a:rPr lang="de-CH" sz="1200" b="0" i="0" u="none" strike="noStrike" kern="1200" dirty="0">
                <a:solidFill>
                  <a:schemeClr val="tx1"/>
                </a:solidFill>
                <a:effectLst/>
                <a:latin typeface="+mn-lt"/>
                <a:ea typeface="+mn-ea"/>
                <a:cs typeface="+mn-cs"/>
              </a:rPr>
            </a:br>
            <a:endParaRPr lang="de-CH" sz="1200" b="1" i="0" u="none" strike="noStrike"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CH" sz="1200" b="1" i="0" u="none" strike="noStrike" kern="1200" noProof="0" dirty="0">
                <a:solidFill>
                  <a:schemeClr val="tx1"/>
                </a:solidFill>
                <a:effectLst/>
                <a:latin typeface="+mn-lt"/>
                <a:ea typeface="+mn-ea"/>
                <a:cs typeface="+mn-cs"/>
              </a:rPr>
              <a:t>Erkenntnis: Threading</a:t>
            </a:r>
            <a:r>
              <a:rPr lang="de-CH" sz="1200" b="0" i="0" u="none" strike="noStrike" kern="1200" noProof="0" dirty="0">
                <a:solidFill>
                  <a:schemeClr val="tx1"/>
                </a:solidFill>
                <a:effectLst/>
                <a:latin typeface="+mn-lt"/>
                <a:ea typeface="+mn-ea"/>
                <a:cs typeface="+mn-cs"/>
              </a:rPr>
              <a:t> sehr sinnvoll</a:t>
            </a:r>
            <a:r>
              <a:rPr lang="de-CH" sz="1200" b="1" i="0" u="none" strike="noStrike" kern="1200" noProof="0" dirty="0">
                <a:solidFill>
                  <a:schemeClr val="tx1"/>
                </a:solidFill>
                <a:effectLst/>
                <a:latin typeface="+mn-lt"/>
                <a:ea typeface="+mn-ea"/>
                <a:cs typeface="+mn-cs"/>
              </a:rPr>
              <a:t>, </a:t>
            </a:r>
            <a:r>
              <a:rPr lang="de-CH" sz="1200" b="0" i="0" u="none" strike="noStrike" kern="1200" noProof="0" dirty="0">
                <a:solidFill>
                  <a:schemeClr val="tx1"/>
                </a:solidFill>
                <a:effectLst/>
                <a:latin typeface="+mn-lt"/>
                <a:ea typeface="+mn-ea"/>
                <a:cs typeface="+mn-cs"/>
              </a:rPr>
              <a:t>Bei Anwendung von </a:t>
            </a:r>
            <a:r>
              <a:rPr lang="de-CH" sz="1200" b="1" i="0" u="none" strike="noStrike" kern="1200" noProof="0" dirty="0">
                <a:solidFill>
                  <a:schemeClr val="tx1"/>
                </a:solidFill>
                <a:effectLst/>
                <a:latin typeface="+mn-lt"/>
                <a:ea typeface="+mn-ea"/>
                <a:cs typeface="+mn-cs"/>
              </a:rPr>
              <a:t>Threading</a:t>
            </a:r>
            <a:r>
              <a:rPr lang="de-CH" sz="1200" b="0" i="0" u="none" strike="noStrike" kern="1200" noProof="0" dirty="0">
                <a:solidFill>
                  <a:schemeClr val="tx1"/>
                </a:solidFill>
                <a:effectLst/>
                <a:latin typeface="+mn-lt"/>
                <a:ea typeface="+mn-ea"/>
                <a:cs typeface="+mn-cs"/>
              </a:rPr>
              <a:t>, optimale Threadanzahl entscheidend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CH" sz="1200" b="0" i="0" u="none" strike="noStrike" kern="1200" noProof="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CH" sz="1200" b="0" i="0" u="none" strike="noStrike" kern="1200" dirty="0">
                <a:solidFill>
                  <a:schemeClr val="tx1"/>
                </a:solidFill>
                <a:effectLst/>
                <a:latin typeface="+mn-lt"/>
                <a:ea typeface="+mn-ea"/>
                <a:cs typeface="+mn-cs"/>
              </a:rPr>
              <a:t>Eine </a:t>
            </a:r>
            <a:r>
              <a:rPr lang="de-CH" sz="1200" b="1" i="0" u="none" strike="noStrike" kern="1200" dirty="0">
                <a:solidFill>
                  <a:schemeClr val="tx1"/>
                </a:solidFill>
                <a:effectLst/>
                <a:latin typeface="+mn-lt"/>
                <a:ea typeface="+mn-ea"/>
                <a:cs typeface="+mn-cs"/>
              </a:rPr>
              <a:t>höhere Threadanzahl </a:t>
            </a:r>
            <a:r>
              <a:rPr lang="de-CH" sz="1200" b="0" i="0" u="none" strike="noStrike" kern="1200" dirty="0">
                <a:solidFill>
                  <a:schemeClr val="tx1"/>
                </a:solidFill>
                <a:effectLst/>
                <a:latin typeface="+mn-lt"/>
                <a:ea typeface="+mn-ea"/>
                <a:cs typeface="+mn-cs"/>
              </a:rPr>
              <a:t>führt nicht zu einer kontinuierlichen Verbesserung der Extraktionsdauer.</a:t>
            </a:r>
            <a:endParaRPr lang="de-CH" sz="1200" b="0" i="0" u="none" strike="noStrike" kern="1200" noProof="0" dirty="0">
              <a:solidFill>
                <a:schemeClr val="tx1"/>
              </a:solidFill>
              <a:effectLst/>
              <a:latin typeface="+mn-lt"/>
              <a:ea typeface="+mn-ea"/>
              <a:cs typeface="+mn-cs"/>
            </a:endParaRPr>
          </a:p>
        </p:txBody>
      </p:sp>
      <p:sp>
        <p:nvSpPr>
          <p:cNvPr id="4" name="Foliennummernplatzhalter 3"/>
          <p:cNvSpPr>
            <a:spLocks noGrp="1"/>
          </p:cNvSpPr>
          <p:nvPr>
            <p:ph type="sldNum" sz="quarter" idx="5"/>
          </p:nvPr>
        </p:nvSpPr>
        <p:spPr/>
        <p:txBody>
          <a:bodyPr/>
          <a:lstStyle/>
          <a:p>
            <a:fld id="{2CD97A47-993E-B64C-898C-A0103DF0B7AF}" type="slidenum">
              <a:rPr lang="en-GB" smtClean="0"/>
              <a:t>8</a:t>
            </a:fld>
            <a:endParaRPr lang="en-GB"/>
          </a:p>
        </p:txBody>
      </p:sp>
    </p:spTree>
    <p:extLst>
      <p:ext uri="{BB962C8B-B14F-4D97-AF65-F5344CB8AC3E}">
        <p14:creationId xmlns:p14="http://schemas.microsoft.com/office/powerpoint/2010/main" val="2857920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noProof="0" dirty="0"/>
              <a:t>Bei der „Einschränkungen... </a:t>
            </a:r>
            <a:r>
              <a:rPr lang="de-DE" b="1" noProof="0" dirty="0"/>
              <a:t>3 Lösungsansätze </a:t>
            </a:r>
            <a:r>
              <a:rPr lang="de-DE" noProof="0" dirty="0"/>
              <a:t>herauskristallisiert</a:t>
            </a:r>
          </a:p>
          <a:p>
            <a:pPr marL="171450" indent="-171450">
              <a:buFont typeface="Arial" panose="020B0604020202020204" pitchFamily="34" charset="0"/>
              <a:buChar char="•"/>
            </a:pPr>
            <a:endParaRPr lang="de-DE" noProof="0" dirty="0"/>
          </a:p>
          <a:p>
            <a:pPr marL="171450" indent="-171450">
              <a:buFont typeface="Arial" panose="020B0604020202020204" pitchFamily="34" charset="0"/>
              <a:buChar char="•"/>
            </a:pPr>
            <a:r>
              <a:rPr lang="de-DE" b="1" noProof="0" dirty="0"/>
              <a:t>1</a:t>
            </a:r>
            <a:r>
              <a:rPr lang="de-DE" b="1" noProof="0" dirty="0">
                <a:highlight>
                  <a:srgbClr val="FFFF00"/>
                </a:highlight>
              </a:rPr>
              <a:t>. Einsatz alternativer LLMs</a:t>
            </a:r>
          </a:p>
          <a:p>
            <a:pPr marL="171450" indent="-171450">
              <a:buFontTx/>
              <a:buChar char="-"/>
            </a:pPr>
            <a:endParaRPr lang="de-DE" b="1" noProof="0" dirty="0">
              <a:highlight>
                <a:srgbClr val="FFFF00"/>
              </a:highlight>
            </a:endParaRPr>
          </a:p>
          <a:p>
            <a:pPr marL="171450" indent="-171450">
              <a:buFontTx/>
              <a:buChar char="-"/>
            </a:pPr>
            <a:r>
              <a:rPr lang="de-DE" noProof="0" dirty="0"/>
              <a:t>Einsatz </a:t>
            </a:r>
            <a:r>
              <a:rPr lang="de-DE" b="1" noProof="0" dirty="0"/>
              <a:t>neuere, leistungsstärkere LLM </a:t>
            </a:r>
            <a:r>
              <a:rPr lang="de-DE" noProof="0" dirty="0"/>
              <a:t>des gleichen Anbieters </a:t>
            </a:r>
          </a:p>
          <a:p>
            <a:pPr marL="171450" indent="-171450">
              <a:buFontTx/>
              <a:buChar char="-"/>
            </a:pPr>
            <a:r>
              <a:rPr lang="de-DE" noProof="0" dirty="0"/>
              <a:t>Sowie </a:t>
            </a:r>
            <a:r>
              <a:rPr lang="de-DE" b="1" noProof="0" dirty="0"/>
              <a:t>Nutzung LLMs anderer Anbieter</a:t>
            </a:r>
            <a:r>
              <a:rPr lang="de-DE" noProof="0" dirty="0"/>
              <a:t>, welche für </a:t>
            </a:r>
            <a:r>
              <a:rPr lang="de-DE" b="1" noProof="0" dirty="0"/>
              <a:t>Grafiken besser geeignet sind und somit vielversprechender </a:t>
            </a:r>
            <a:r>
              <a:rPr lang="de-DE" noProof="0" dirty="0"/>
              <a:t>sind</a:t>
            </a:r>
          </a:p>
          <a:p>
            <a:pPr marL="171450" indent="-171450">
              <a:buFontTx/>
              <a:buChar char="-"/>
            </a:pPr>
            <a:endParaRPr lang="de-DE" noProof="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b="1" noProof="0" dirty="0">
                <a:highlight>
                  <a:srgbClr val="FFFF00"/>
                </a:highlight>
              </a:rPr>
              <a:t>2. Segmentierung grafischer Inhalte</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DE" b="1" noProof="0" dirty="0">
              <a:highlight>
                <a:srgbClr val="FFFF00"/>
              </a:highligh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b="1" noProof="0" dirty="0">
                <a:highlight>
                  <a:srgbClr val="FFFF00"/>
                </a:highlight>
              </a:rPr>
              <a:t>Hierbei </a:t>
            </a:r>
            <a:r>
              <a:rPr lang="de-DE" b="0" noProof="0" dirty="0">
                <a:highlight>
                  <a:srgbClr val="FFFF00"/>
                </a:highlight>
              </a:rPr>
              <a:t>werden Grafische Inhalte </a:t>
            </a:r>
            <a:r>
              <a:rPr lang="de-DE" b="1" noProof="0" dirty="0">
                <a:highlight>
                  <a:srgbClr val="FFFF00"/>
                </a:highlight>
              </a:rPr>
              <a:t>segmentiert </a:t>
            </a:r>
            <a:r>
              <a:rPr lang="de-DE" b="0" noProof="0" dirty="0">
                <a:highlight>
                  <a:srgbClr val="FFFF00"/>
                </a:highlight>
              </a:rPr>
              <a:t>und einzeln dem </a:t>
            </a:r>
            <a:r>
              <a:rPr lang="de-DE" b="1" noProof="0" dirty="0">
                <a:highlight>
                  <a:srgbClr val="FFFF00"/>
                </a:highlight>
              </a:rPr>
              <a:t>LLM </a:t>
            </a:r>
            <a:r>
              <a:rPr lang="de-DE" b="0" noProof="0" dirty="0">
                <a:highlight>
                  <a:srgbClr val="FFFF00"/>
                </a:highlight>
              </a:rPr>
              <a:t>überführt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b="1" noProof="0" dirty="0">
                <a:highlight>
                  <a:srgbClr val="FFFF00"/>
                </a:highlight>
              </a:rPr>
              <a:t>Dadurch </a:t>
            </a:r>
            <a:r>
              <a:rPr lang="de-DE" b="0" noProof="0" dirty="0">
                <a:highlight>
                  <a:srgbClr val="FFFF00"/>
                </a:highlight>
              </a:rPr>
              <a:t>ist der</a:t>
            </a:r>
            <a:r>
              <a:rPr lang="de-DE" b="0" u="sng" noProof="0" dirty="0">
                <a:highlight>
                  <a:srgbClr val="FFFF00"/>
                </a:highlight>
              </a:rPr>
              <a:t> </a:t>
            </a:r>
            <a:r>
              <a:rPr lang="de-DE" b="1" u="sng" noProof="0" dirty="0">
                <a:highlight>
                  <a:srgbClr val="FFFF00"/>
                </a:highlight>
              </a:rPr>
              <a:t>Extraktionsprozess</a:t>
            </a:r>
            <a:r>
              <a:rPr lang="de-DE" b="0" u="sng" noProof="0" dirty="0">
                <a:highlight>
                  <a:srgbClr val="FFFF00"/>
                </a:highlight>
              </a:rPr>
              <a:t> </a:t>
            </a:r>
            <a:r>
              <a:rPr lang="de-DE" b="0" noProof="0" dirty="0">
                <a:highlight>
                  <a:srgbClr val="FFFF00"/>
                </a:highlight>
              </a:rPr>
              <a:t>für das </a:t>
            </a:r>
            <a:r>
              <a:rPr lang="de-DE" b="1" noProof="0" dirty="0">
                <a:highlight>
                  <a:srgbClr val="FFFF00"/>
                </a:highlight>
              </a:rPr>
              <a:t>LLM</a:t>
            </a:r>
            <a:r>
              <a:rPr lang="de-DE" b="0" noProof="0" dirty="0">
                <a:highlight>
                  <a:srgbClr val="FFFF00"/>
                </a:highlight>
              </a:rPr>
              <a:t> </a:t>
            </a:r>
            <a:r>
              <a:rPr lang="de-DE" b="0" u="sng" noProof="0" dirty="0">
                <a:highlight>
                  <a:srgbClr val="FFFF00"/>
                </a:highlight>
              </a:rPr>
              <a:t>vereinfacht </a:t>
            </a:r>
            <a:r>
              <a:rPr lang="de-DE" b="0" noProof="0" dirty="0">
                <a:highlight>
                  <a:srgbClr val="FFFF00"/>
                </a:highlight>
              </a:rPr>
              <a:t>und es ist mit </a:t>
            </a:r>
            <a:r>
              <a:rPr lang="de-DE" b="1" noProof="0" dirty="0">
                <a:highlight>
                  <a:srgbClr val="FFFF00"/>
                </a:highlight>
              </a:rPr>
              <a:t>besserem Output</a:t>
            </a:r>
            <a:r>
              <a:rPr lang="de-DE" b="0" noProof="0" dirty="0">
                <a:highlight>
                  <a:srgbClr val="FFFF00"/>
                </a:highlight>
              </a:rPr>
              <a:t> zu rechnen.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DE" b="0" noProof="0" dirty="0">
              <a:highlight>
                <a:srgbClr val="FFFF00"/>
              </a:highligh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b="1" noProof="0" dirty="0">
                <a:highlight>
                  <a:srgbClr val="FFFF00"/>
                </a:highlight>
              </a:rPr>
              <a:t>3. Manuelle Integration Daten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DE" b="1" noProof="0" dirty="0">
              <a:highlight>
                <a:srgbClr val="FFFF00"/>
              </a:highligh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b="1" u="sng" noProof="0" dirty="0">
                <a:highlight>
                  <a:srgbClr val="FFFF00"/>
                </a:highlight>
              </a:rPr>
              <a:t>Bei der Manuellen Daten </a:t>
            </a:r>
            <a:r>
              <a:rPr lang="de-DE" b="1" noProof="0" dirty="0">
                <a:highlight>
                  <a:srgbClr val="FFFF00"/>
                </a:highlight>
              </a:rPr>
              <a:t>Integration</a:t>
            </a:r>
            <a:r>
              <a:rPr lang="de-DE" b="0" noProof="0" dirty="0">
                <a:highlight>
                  <a:srgbClr val="FFFF00"/>
                </a:highlight>
              </a:rPr>
              <a:t> werden zusätzliche relevante Daten in </a:t>
            </a:r>
            <a:r>
              <a:rPr lang="de-DE" b="1" u="sng" noProof="0" dirty="0">
                <a:highlight>
                  <a:srgbClr val="FFFF00"/>
                </a:highlight>
              </a:rPr>
              <a:t>Form von Textdokumenten integriert</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DE" b="1" u="sng" noProof="0" dirty="0">
              <a:highlight>
                <a:srgbClr val="FFFF00"/>
              </a:highligh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b="1" u="sng" noProof="0" dirty="0">
                <a:highlight>
                  <a:srgbClr val="FFFF00"/>
                </a:highlight>
              </a:rPr>
              <a:t>Somit </a:t>
            </a:r>
            <a:r>
              <a:rPr lang="de-DE" b="0" noProof="0" dirty="0">
                <a:highlight>
                  <a:srgbClr val="FFFF00"/>
                </a:highlight>
              </a:rPr>
              <a:t>können Informationen Bereitgestellt werden, welche </a:t>
            </a:r>
            <a:r>
              <a:rPr lang="de-DE" b="1" noProof="0" dirty="0">
                <a:highlight>
                  <a:srgbClr val="FFFF00"/>
                </a:highlight>
              </a:rPr>
              <a:t>zuvor </a:t>
            </a:r>
            <a:r>
              <a:rPr lang="de-DE" b="1" u="sng" noProof="0" dirty="0">
                <a:highlight>
                  <a:srgbClr val="FFFF00"/>
                </a:highlight>
              </a:rPr>
              <a:t>nicht </a:t>
            </a:r>
            <a:r>
              <a:rPr lang="de-DE" b="1" noProof="0" dirty="0">
                <a:highlight>
                  <a:srgbClr val="FFFF00"/>
                </a:highlight>
              </a:rPr>
              <a:t>oder</a:t>
            </a:r>
            <a:r>
              <a:rPr lang="de-DE" b="1" u="sng" noProof="0" dirty="0">
                <a:highlight>
                  <a:srgbClr val="FFFF00"/>
                </a:highlight>
              </a:rPr>
              <a:t> unzureichend </a:t>
            </a:r>
            <a:r>
              <a:rPr lang="de-DE" b="0" noProof="0" dirty="0">
                <a:highlight>
                  <a:srgbClr val="FFFF00"/>
                </a:highlight>
              </a:rPr>
              <a:t>extrahiert wurden konnten</a:t>
            </a:r>
            <a:br>
              <a:rPr lang="de-DE" b="0" noProof="0" dirty="0">
                <a:highlight>
                  <a:srgbClr val="FFFF00"/>
                </a:highlight>
              </a:rPr>
            </a:br>
            <a:br>
              <a:rPr lang="de-DE" b="0" noProof="0" dirty="0">
                <a:highlight>
                  <a:srgbClr val="FFFF00"/>
                </a:highlight>
              </a:rPr>
            </a:br>
            <a:r>
              <a:rPr lang="de-CH" sz="1200" b="0" i="0" u="none" strike="noStrike" kern="1200" dirty="0">
                <a:solidFill>
                  <a:schemeClr val="tx1"/>
                </a:solidFill>
                <a:effectLst/>
                <a:highlight>
                  <a:srgbClr val="FFFF00"/>
                </a:highlight>
                <a:latin typeface="+mn-lt"/>
                <a:ea typeface="+mn-ea"/>
                <a:cs typeface="+mn-cs"/>
              </a:rPr>
              <a:t>Die </a:t>
            </a:r>
            <a:r>
              <a:rPr lang="de-CH" sz="1200" b="1" i="0" u="none" strike="noStrike" kern="1200" dirty="0">
                <a:solidFill>
                  <a:schemeClr val="tx1"/>
                </a:solidFill>
                <a:effectLst/>
                <a:highlight>
                  <a:srgbClr val="FFFF00"/>
                </a:highlight>
                <a:latin typeface="+mn-lt"/>
                <a:ea typeface="+mn-ea"/>
                <a:cs typeface="+mn-cs"/>
              </a:rPr>
              <a:t>genannten Lösungsansätze </a:t>
            </a:r>
            <a:r>
              <a:rPr lang="de-CH" sz="1200" b="0" i="0" u="none" strike="noStrike" kern="1200" dirty="0">
                <a:solidFill>
                  <a:schemeClr val="tx1"/>
                </a:solidFill>
                <a:effectLst/>
                <a:highlight>
                  <a:srgbClr val="FFFF00"/>
                </a:highlight>
                <a:latin typeface="+mn-lt"/>
                <a:ea typeface="+mn-ea"/>
                <a:cs typeface="+mn-cs"/>
              </a:rPr>
              <a:t>bringen dabei einen stets steigenden </a:t>
            </a:r>
            <a:r>
              <a:rPr lang="de-CH" sz="1200" b="1" i="0" u="none" strike="noStrike" kern="1200" dirty="0">
                <a:solidFill>
                  <a:schemeClr val="tx1"/>
                </a:solidFill>
                <a:effectLst/>
                <a:highlight>
                  <a:srgbClr val="FFFF00"/>
                </a:highlight>
                <a:latin typeface="+mn-lt"/>
                <a:ea typeface="+mn-ea"/>
                <a:cs typeface="+mn-cs"/>
              </a:rPr>
              <a:t>Implementierungsaufwand</a:t>
            </a:r>
            <a:r>
              <a:rPr lang="de-CH" sz="1200" b="0" i="0" u="none" strike="noStrike" kern="1200" dirty="0">
                <a:solidFill>
                  <a:schemeClr val="tx1"/>
                </a:solidFill>
                <a:effectLst/>
                <a:highlight>
                  <a:srgbClr val="FFFF00"/>
                </a:highlight>
                <a:latin typeface="+mn-lt"/>
                <a:ea typeface="+mn-ea"/>
                <a:cs typeface="+mn-cs"/>
              </a:rPr>
              <a:t> mit sich.</a:t>
            </a:r>
            <a:endParaRPr lang="de-DE" b="1" noProof="0" dirty="0">
              <a:highlight>
                <a:srgbClr val="FFFF00"/>
              </a:highlight>
            </a:endParaRPr>
          </a:p>
          <a:p>
            <a:pPr marL="171450" indent="-171450">
              <a:buFontTx/>
              <a:buChar char="-"/>
            </a:pPr>
            <a:endParaRPr lang="de-DE" noProof="0" dirty="0"/>
          </a:p>
        </p:txBody>
      </p:sp>
      <p:sp>
        <p:nvSpPr>
          <p:cNvPr id="4" name="Foliennummernplatzhalter 3"/>
          <p:cNvSpPr>
            <a:spLocks noGrp="1"/>
          </p:cNvSpPr>
          <p:nvPr>
            <p:ph type="sldNum" sz="quarter" idx="5"/>
          </p:nvPr>
        </p:nvSpPr>
        <p:spPr/>
        <p:txBody>
          <a:bodyPr/>
          <a:lstStyle/>
          <a:p>
            <a:fld id="{2CD97A47-993E-B64C-898C-A0103DF0B7AF}" type="slidenum">
              <a:rPr lang="en-GB" smtClean="0"/>
              <a:t>9</a:t>
            </a:fld>
            <a:endParaRPr lang="en-GB"/>
          </a:p>
        </p:txBody>
      </p:sp>
    </p:spTree>
    <p:extLst>
      <p:ext uri="{BB962C8B-B14F-4D97-AF65-F5344CB8AC3E}">
        <p14:creationId xmlns:p14="http://schemas.microsoft.com/office/powerpoint/2010/main" val="1510988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noProof="0" dirty="0"/>
              <a:t>Der </a:t>
            </a:r>
            <a:r>
              <a:rPr lang="de-DE" b="1" noProof="0" dirty="0"/>
              <a:t>Performance Vergleich aller getesteten LLMs </a:t>
            </a:r>
            <a:r>
              <a:rPr lang="de-DE" noProof="0" dirty="0"/>
              <a:t>zeigen </a:t>
            </a:r>
            <a:r>
              <a:rPr lang="de-DE" b="1" noProof="0" dirty="0"/>
              <a:t>deutliche Unterschiede</a:t>
            </a:r>
          </a:p>
          <a:p>
            <a:pPr marL="171450" indent="-171450">
              <a:buFontTx/>
              <a:buChar char="-"/>
            </a:pPr>
            <a:endParaRPr lang="de-DE" b="1" noProof="0" dirty="0"/>
          </a:p>
          <a:p>
            <a:pPr marL="171450" indent="-171450">
              <a:buFontTx/>
              <a:buChar char="-"/>
            </a:pPr>
            <a:r>
              <a:rPr lang="de-DE" noProof="0" dirty="0"/>
              <a:t>Unter </a:t>
            </a:r>
            <a:r>
              <a:rPr lang="de-DE" b="1" noProof="0" dirty="0"/>
              <a:t>identischen</a:t>
            </a:r>
            <a:r>
              <a:rPr lang="de-DE" noProof="0" dirty="0"/>
              <a:t> Rahmenbedingungen, wurde die vom </a:t>
            </a:r>
            <a:r>
              <a:rPr lang="de-DE" b="1" noProof="0" dirty="0"/>
              <a:t>LLM</a:t>
            </a:r>
            <a:r>
              <a:rPr lang="de-DE" u="none" noProof="0" dirty="0"/>
              <a:t> erzielte </a:t>
            </a:r>
            <a:r>
              <a:rPr lang="de-DE" b="1" u="sng" noProof="0" dirty="0"/>
              <a:t>Vollständigkeit</a:t>
            </a:r>
            <a:r>
              <a:rPr lang="de-DE" u="sng" noProof="0" dirty="0"/>
              <a:t> bei der </a:t>
            </a:r>
            <a:r>
              <a:rPr lang="de-DE" b="1" u="sng" noProof="0" dirty="0"/>
              <a:t>Identifikation </a:t>
            </a:r>
            <a:r>
              <a:rPr lang="de-DE" u="sng" noProof="0" dirty="0"/>
              <a:t>von </a:t>
            </a:r>
            <a:r>
              <a:rPr lang="de-DE" b="1" u="sng" noProof="0" dirty="0"/>
              <a:t>Hauptprozessen (Blau) und Unterkategorien (Orange), </a:t>
            </a:r>
            <a:r>
              <a:rPr lang="de-DE" b="0" u="sng" noProof="0" dirty="0"/>
              <a:t>einer </a:t>
            </a:r>
            <a:r>
              <a:rPr lang="de-DE" u="sng" noProof="0" dirty="0"/>
              <a:t>Supply Chain Map </a:t>
            </a:r>
            <a:r>
              <a:rPr lang="de-DE" b="1" u="sng" noProof="0" dirty="0"/>
              <a:t>untersucht.</a:t>
            </a:r>
          </a:p>
          <a:p>
            <a:pPr marL="171450" indent="-171450">
              <a:buFontTx/>
              <a:buChar char="-"/>
            </a:pPr>
            <a:endParaRPr lang="de-DE" noProof="0" dirty="0"/>
          </a:p>
          <a:p>
            <a:pPr marL="171450" indent="-171450">
              <a:buFontTx/>
              <a:buChar char="-"/>
            </a:pPr>
            <a:r>
              <a:rPr lang="de-DE" b="1" noProof="0" dirty="0"/>
              <a:t>Gemini 3 Pro </a:t>
            </a:r>
            <a:r>
              <a:rPr lang="de-DE" noProof="0" dirty="0"/>
              <a:t>(GPT-5) </a:t>
            </a:r>
            <a:r>
              <a:rPr lang="de-DE" u="sng" noProof="0" dirty="0"/>
              <a:t>Bestwerte </a:t>
            </a:r>
            <a:r>
              <a:rPr lang="de-DE" noProof="0" dirty="0"/>
              <a:t>bei Hauptprozesse mit </a:t>
            </a:r>
            <a:r>
              <a:rPr lang="de-DE" b="1" noProof="0" dirty="0"/>
              <a:t>91.7 % =&gt; allgemein sagen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b="1" noProof="0" dirty="0"/>
              <a:t>Gemini 3 Pro </a:t>
            </a:r>
            <a:r>
              <a:rPr lang="de-DE" noProof="0" dirty="0"/>
              <a:t>(Gemini 2.5 Pro)</a:t>
            </a:r>
            <a:r>
              <a:rPr lang="de-DE" u="sng" noProof="0" dirty="0"/>
              <a:t> Bestwerte </a:t>
            </a:r>
            <a:r>
              <a:rPr lang="de-DE" noProof="0" dirty="0"/>
              <a:t>bei Unterkategorie mit </a:t>
            </a:r>
            <a:r>
              <a:rPr lang="de-DE" b="1" noProof="0" dirty="0"/>
              <a:t>96.7 %  =&gt; allgemein sagen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de-DE" b="1" noProof="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b="1" noProof="0" dirty="0"/>
              <a:t>GPT-4 deutlich geschlagen = </a:t>
            </a:r>
            <a:r>
              <a:rPr lang="de-DE" b="0" noProof="0" dirty="0"/>
              <a:t>mögliche Ursache geringer Modelloutput (Im Vergleich)</a:t>
            </a:r>
          </a:p>
          <a:p>
            <a:pPr marL="171450" indent="-171450">
              <a:buFontTx/>
              <a:buChar char="-"/>
            </a:pPr>
            <a:endParaRPr lang="de-DE" noProof="0" dirty="0"/>
          </a:p>
          <a:p>
            <a:pPr marL="171450" indent="-171450">
              <a:buFontTx/>
              <a:buChar char="-"/>
            </a:pPr>
            <a:endParaRPr lang="de-DE" noProof="0" dirty="0"/>
          </a:p>
        </p:txBody>
      </p:sp>
      <p:sp>
        <p:nvSpPr>
          <p:cNvPr id="4" name="Foliennummernplatzhalter 3"/>
          <p:cNvSpPr>
            <a:spLocks noGrp="1"/>
          </p:cNvSpPr>
          <p:nvPr>
            <p:ph type="sldNum" sz="quarter" idx="5"/>
          </p:nvPr>
        </p:nvSpPr>
        <p:spPr/>
        <p:txBody>
          <a:bodyPr/>
          <a:lstStyle/>
          <a:p>
            <a:fld id="{2CD97A47-993E-B64C-898C-A0103DF0B7AF}" type="slidenum">
              <a:rPr lang="en-GB" smtClean="0"/>
              <a:t>10</a:t>
            </a:fld>
            <a:endParaRPr lang="en-GB"/>
          </a:p>
        </p:txBody>
      </p:sp>
    </p:spTree>
    <p:extLst>
      <p:ext uri="{BB962C8B-B14F-4D97-AF65-F5344CB8AC3E}">
        <p14:creationId xmlns:p14="http://schemas.microsoft.com/office/powerpoint/2010/main" val="3976974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Tx/>
              <a:buChar char="-"/>
            </a:pPr>
            <a:r>
              <a:rPr lang="de-DE" b="1" u="sng" noProof="0" dirty="0"/>
              <a:t>Die Ergebnisse </a:t>
            </a:r>
            <a:r>
              <a:rPr lang="de-DE" b="0" noProof="0" dirty="0"/>
              <a:t>bei der </a:t>
            </a:r>
            <a:r>
              <a:rPr lang="de-DE" b="1" noProof="0" dirty="0"/>
              <a:t>Segmentierung grafischer </a:t>
            </a:r>
            <a:r>
              <a:rPr lang="de-DE" b="0" noProof="0" dirty="0"/>
              <a:t>Inhalte zeigen =&gt; dass </a:t>
            </a:r>
            <a:r>
              <a:rPr lang="de-DE" b="1" noProof="0" dirty="0"/>
              <a:t>qualitativ</a:t>
            </a:r>
            <a:r>
              <a:rPr lang="de-DE" b="0" noProof="0" dirty="0"/>
              <a:t> deutliche bessere </a:t>
            </a:r>
            <a:r>
              <a:rPr lang="de-DE" b="1" noProof="0" dirty="0"/>
              <a:t>LLM-Outputs</a:t>
            </a:r>
            <a:r>
              <a:rPr lang="de-DE" b="0" noProof="0" dirty="0"/>
              <a:t> erzielt werden können</a:t>
            </a:r>
          </a:p>
          <a:p>
            <a:pPr marL="171450" indent="-171450">
              <a:buFontTx/>
              <a:buChar char="-"/>
            </a:pPr>
            <a:endParaRPr lang="de-DE" b="0" noProof="0" dirty="0"/>
          </a:p>
          <a:p>
            <a:pPr marL="171450" indent="-171450">
              <a:buFontTx/>
              <a:buChar char="-"/>
            </a:pPr>
            <a:r>
              <a:rPr lang="de-DE" b="0" noProof="0" dirty="0"/>
              <a:t>Selbst </a:t>
            </a:r>
            <a:r>
              <a:rPr lang="de-DE" b="1" noProof="0" dirty="0"/>
              <a:t>leistungsschwächere LLMs </a:t>
            </a:r>
            <a:r>
              <a:rPr lang="de-DE" b="0" noProof="0" dirty="0"/>
              <a:t>mit </a:t>
            </a:r>
            <a:r>
              <a:rPr lang="de-DE" b="0" u="sng" noProof="0" dirty="0"/>
              <a:t>Segmentierung</a:t>
            </a:r>
            <a:r>
              <a:rPr lang="de-DE" b="0" noProof="0" dirty="0"/>
              <a:t> der besseren Ergebnisse als </a:t>
            </a:r>
            <a:r>
              <a:rPr lang="de-DE" b="1" noProof="0" dirty="0"/>
              <a:t>leistungsstärkste LLM (</a:t>
            </a:r>
            <a:r>
              <a:rPr lang="de-DE" b="1" u="sng" noProof="0" dirty="0"/>
              <a:t>ohne Segmentierung</a:t>
            </a:r>
            <a:r>
              <a:rPr lang="de-DE" b="1" noProof="0" dirty="0"/>
              <a:t>)</a:t>
            </a:r>
          </a:p>
          <a:p>
            <a:pPr marL="171450" indent="-171450">
              <a:buFontTx/>
              <a:buChar char="-"/>
            </a:pPr>
            <a:endParaRPr lang="de-DE" b="1" noProof="0" dirty="0"/>
          </a:p>
          <a:p>
            <a:pPr marL="171450" indent="-171450">
              <a:buFontTx/>
              <a:buChar char="-"/>
            </a:pPr>
            <a:r>
              <a:rPr lang="de-DE" b="1" noProof="0" dirty="0"/>
              <a:t>Halluzination: </a:t>
            </a:r>
            <a:r>
              <a:rPr lang="de-DE" b="0" noProof="0" dirty="0"/>
              <a:t>plausibel scheinende Informationen, welche jedoch faktisch falsch sind</a:t>
            </a:r>
          </a:p>
          <a:p>
            <a:pPr marL="171450" indent="-171450">
              <a:buFontTx/>
              <a:buChar char="-"/>
            </a:pPr>
            <a:endParaRPr lang="de-DE" b="0" noProof="0" dirty="0"/>
          </a:p>
          <a:p>
            <a:pPr marL="171450" indent="-171450">
              <a:buFontTx/>
              <a:buChar char="-"/>
            </a:pPr>
            <a:r>
              <a:rPr lang="de-DE" b="0" u="sng" noProof="0" dirty="0"/>
              <a:t>Bei der </a:t>
            </a:r>
            <a:r>
              <a:rPr lang="de-DE" b="1" u="sng" noProof="0" dirty="0"/>
              <a:t>manuelle Daten Integration hat sich gezeigt:</a:t>
            </a:r>
          </a:p>
          <a:p>
            <a:pPr marL="171450" indent="-171450">
              <a:buFontTx/>
              <a:buChar char="-"/>
            </a:pPr>
            <a:endParaRPr lang="de-DE" b="1" noProof="0" dirty="0"/>
          </a:p>
          <a:p>
            <a:pPr marL="171450" indent="-171450">
              <a:buFontTx/>
              <a:buChar char="-"/>
            </a:pPr>
            <a:r>
              <a:rPr lang="de-DE" b="1" noProof="0" dirty="0"/>
              <a:t>Dass</a:t>
            </a:r>
            <a:r>
              <a:rPr lang="de-DE" b="0" noProof="0" dirty="0"/>
              <a:t>, Integration der Daten (Unstrukturierte und simulierte strukturierte Daten) =&gt; Erweiterung </a:t>
            </a:r>
            <a:r>
              <a:rPr lang="de-DE" b="1" noProof="0" dirty="0"/>
              <a:t>Wissens Basis des Modells </a:t>
            </a:r>
            <a:r>
              <a:rPr lang="de-DE" b="0" noProof="0" dirty="0"/>
              <a:t>=&gt; was </a:t>
            </a:r>
            <a:r>
              <a:rPr lang="de-DE" b="0" u="sng" noProof="0" dirty="0"/>
              <a:t>sich wiederum </a:t>
            </a:r>
            <a:r>
              <a:rPr lang="de-DE" b="0" noProof="0" dirty="0"/>
              <a:t>in einem verbesserter Modeloutput </a:t>
            </a:r>
            <a:r>
              <a:rPr lang="de-DE" b="1" noProof="0" dirty="0"/>
              <a:t>widerspiegelt</a:t>
            </a:r>
            <a:br>
              <a:rPr lang="de-DE" b="0" noProof="0" dirty="0"/>
            </a:br>
            <a:endParaRPr lang="de-DE" b="0" noProof="0" dirty="0"/>
          </a:p>
        </p:txBody>
      </p:sp>
      <p:sp>
        <p:nvSpPr>
          <p:cNvPr id="4" name="Foliennummernplatzhalter 3"/>
          <p:cNvSpPr>
            <a:spLocks noGrp="1"/>
          </p:cNvSpPr>
          <p:nvPr>
            <p:ph type="sldNum" sz="quarter" idx="5"/>
          </p:nvPr>
        </p:nvSpPr>
        <p:spPr/>
        <p:txBody>
          <a:bodyPr/>
          <a:lstStyle/>
          <a:p>
            <a:fld id="{2CD97A47-993E-B64C-898C-A0103DF0B7AF}" type="slidenum">
              <a:rPr lang="en-GB" smtClean="0"/>
              <a:t>11</a:t>
            </a:fld>
            <a:endParaRPr lang="en-GB"/>
          </a:p>
        </p:txBody>
      </p:sp>
    </p:spTree>
    <p:extLst>
      <p:ext uri="{BB962C8B-B14F-4D97-AF65-F5344CB8AC3E}">
        <p14:creationId xmlns:p14="http://schemas.microsoft.com/office/powerpoint/2010/main" val="522770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noProof="0" dirty="0"/>
              <a:t>Zur Beantwortung </a:t>
            </a:r>
            <a:r>
              <a:rPr lang="de-DE" noProof="0" dirty="0"/>
              <a:t>dem dritten </a:t>
            </a:r>
            <a:r>
              <a:rPr lang="de-DE" b="1" noProof="0" dirty="0"/>
              <a:t>Punkt </a:t>
            </a:r>
            <a:r>
              <a:rPr lang="de-DE" noProof="0" dirty="0"/>
              <a:t>der </a:t>
            </a:r>
            <a:r>
              <a:rPr lang="de-DE" b="1" noProof="0" dirty="0"/>
              <a:t>Forschungsfrage 1, </a:t>
            </a:r>
            <a:r>
              <a:rPr lang="de-DE" b="0" noProof="0" dirty="0"/>
              <a:t>wurde</a:t>
            </a:r>
            <a:r>
              <a:rPr lang="de-DE" b="1" noProof="0" dirty="0"/>
              <a:t> </a:t>
            </a:r>
            <a:r>
              <a:rPr lang="de-DE" noProof="0" dirty="0"/>
              <a:t>die entwickelte </a:t>
            </a:r>
            <a:r>
              <a:rPr lang="de-DE" b="1" u="sng" noProof="0" dirty="0"/>
              <a:t>Qualitative Model Evaluation Methodik </a:t>
            </a:r>
            <a:r>
              <a:rPr lang="de-DE" noProof="0" dirty="0"/>
              <a:t>am </a:t>
            </a:r>
            <a:r>
              <a:rPr lang="de-DE" b="1" noProof="0" dirty="0"/>
              <a:t>Open Beta Model </a:t>
            </a:r>
            <a:r>
              <a:rPr lang="de-DE" b="0" noProof="0" dirty="0"/>
              <a:t>angewendet,....</a:t>
            </a:r>
            <a:br>
              <a:rPr lang="de-DE" b="0" noProof="0" dirty="0"/>
            </a:br>
            <a:endParaRPr lang="de-DE" b="0" noProof="0" dirty="0"/>
          </a:p>
          <a:p>
            <a:r>
              <a:rPr lang="de-DE" b="0" noProof="0" dirty="0"/>
              <a:t>Die erzielten Durchschnittswerte der getesteten Bewertungskriterien sind ....</a:t>
            </a:r>
            <a:br>
              <a:rPr lang="de-DE" b="0" noProof="0" dirty="0"/>
            </a:br>
            <a:br>
              <a:rPr lang="de-DE" b="0" noProof="0" dirty="0"/>
            </a:br>
            <a:r>
              <a:rPr lang="de-DE" b="1" noProof="0" dirty="0"/>
              <a:t>4 </a:t>
            </a:r>
            <a:r>
              <a:rPr lang="de-DE" b="1" u="sng" noProof="0" dirty="0"/>
              <a:t>von</a:t>
            </a:r>
            <a:r>
              <a:rPr lang="de-DE" b="1" noProof="0" dirty="0"/>
              <a:t> 5 </a:t>
            </a:r>
            <a:br>
              <a:rPr lang="de-DE" b="0" noProof="0" dirty="0"/>
            </a:br>
            <a:r>
              <a:rPr lang="de-DE" b="1" noProof="0" dirty="0"/>
              <a:t>5 </a:t>
            </a:r>
            <a:r>
              <a:rPr lang="de-DE" b="1" u="sng" noProof="0" dirty="0"/>
              <a:t>von</a:t>
            </a:r>
            <a:r>
              <a:rPr lang="de-DE" b="1" noProof="0" dirty="0"/>
              <a:t> 5 </a:t>
            </a:r>
            <a:r>
              <a:rPr lang="de-DE" b="0" noProof="0" dirty="0"/>
              <a:t>Maximalbewertung</a:t>
            </a:r>
            <a:br>
              <a:rPr lang="de-DE" b="0" noProof="0" dirty="0"/>
            </a:br>
            <a:br>
              <a:rPr lang="de-DE" b="1" noProof="0" dirty="0"/>
            </a:br>
            <a:r>
              <a:rPr lang="de-DE" b="1" noProof="0" dirty="0"/>
              <a:t>Einzeln betrachtet </a:t>
            </a:r>
            <a:r>
              <a:rPr lang="de-DE" b="0" noProof="0" dirty="0"/>
              <a:t>wurde die </a:t>
            </a:r>
            <a:r>
              <a:rPr lang="de-DE" b="1" noProof="0" dirty="0"/>
              <a:t>Maximalbewertung </a:t>
            </a:r>
            <a:r>
              <a:rPr lang="de-DE" b="0" noProof="0" dirty="0"/>
              <a:t>bei </a:t>
            </a:r>
            <a:r>
              <a:rPr lang="de-DE" b="1" noProof="0" dirty="0" err="1"/>
              <a:t>Accuracy</a:t>
            </a:r>
            <a:r>
              <a:rPr lang="de-DE" b="0" noProof="0" dirty="0"/>
              <a:t> mit insgesamt </a:t>
            </a:r>
            <a:r>
              <a:rPr lang="de-DE" b="1" noProof="0" dirty="0"/>
              <a:t>32 Bewertungen </a:t>
            </a:r>
            <a:r>
              <a:rPr lang="de-DE" b="0" noProof="0" dirty="0"/>
              <a:t>verwendet</a:t>
            </a:r>
          </a:p>
        </p:txBody>
      </p:sp>
      <p:sp>
        <p:nvSpPr>
          <p:cNvPr id="4" name="Foliennummernplatzhalter 3"/>
          <p:cNvSpPr>
            <a:spLocks noGrp="1"/>
          </p:cNvSpPr>
          <p:nvPr>
            <p:ph type="sldNum" sz="quarter" idx="5"/>
          </p:nvPr>
        </p:nvSpPr>
        <p:spPr/>
        <p:txBody>
          <a:bodyPr/>
          <a:lstStyle/>
          <a:p>
            <a:fld id="{2CD97A47-993E-B64C-898C-A0103DF0B7AF}" type="slidenum">
              <a:rPr lang="en-GB" smtClean="0"/>
              <a:t>12</a:t>
            </a:fld>
            <a:endParaRPr lang="en-GB"/>
          </a:p>
        </p:txBody>
      </p:sp>
    </p:spTree>
    <p:extLst>
      <p:ext uri="{BB962C8B-B14F-4D97-AF65-F5344CB8AC3E}">
        <p14:creationId xmlns:p14="http://schemas.microsoft.com/office/powerpoint/2010/main" val="1529450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noProof="0" dirty="0"/>
              <a:t>Die Verteilung </a:t>
            </a:r>
            <a:r>
              <a:rPr lang="de-DE" b="0" noProof="0" dirty="0"/>
              <a:t>und </a:t>
            </a:r>
            <a:r>
              <a:rPr lang="de-DE" b="1" noProof="0" dirty="0"/>
              <a:t>Streuung der Bewertungen </a:t>
            </a:r>
            <a:r>
              <a:rPr lang="de-DE" noProof="0" dirty="0"/>
              <a:t>anhand eines </a:t>
            </a:r>
            <a:r>
              <a:rPr lang="de-DE" b="1" noProof="0" dirty="0"/>
              <a:t>Box Plots </a:t>
            </a:r>
            <a:r>
              <a:rPr lang="de-DE" noProof="0" dirty="0"/>
              <a:t>zeigen, .......</a:t>
            </a:r>
          </a:p>
        </p:txBody>
      </p:sp>
      <p:sp>
        <p:nvSpPr>
          <p:cNvPr id="4" name="Foliennummernplatzhalter 3"/>
          <p:cNvSpPr>
            <a:spLocks noGrp="1"/>
          </p:cNvSpPr>
          <p:nvPr>
            <p:ph type="sldNum" sz="quarter" idx="5"/>
          </p:nvPr>
        </p:nvSpPr>
        <p:spPr/>
        <p:txBody>
          <a:bodyPr/>
          <a:lstStyle/>
          <a:p>
            <a:fld id="{2CD97A47-993E-B64C-898C-A0103DF0B7AF}" type="slidenum">
              <a:rPr lang="en-GB" smtClean="0"/>
              <a:t>13</a:t>
            </a:fld>
            <a:endParaRPr lang="en-GB"/>
          </a:p>
        </p:txBody>
      </p:sp>
    </p:spTree>
    <p:extLst>
      <p:ext uri="{BB962C8B-B14F-4D97-AF65-F5344CB8AC3E}">
        <p14:creationId xmlns:p14="http://schemas.microsoft.com/office/powerpoint/2010/main" val="4024452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noProof="0" dirty="0"/>
              <a:t>Bei den zurückerhaltene Feedback Kommentare </a:t>
            </a:r>
            <a:r>
              <a:rPr lang="de-DE" b="0" noProof="0" dirty="0"/>
              <a:t>der Fragebogen,</a:t>
            </a:r>
          </a:p>
          <a:p>
            <a:pPr marL="0" indent="0">
              <a:buFont typeface="Arial" panose="020B0604020202020204" pitchFamily="34" charset="0"/>
              <a:buNone/>
            </a:pPr>
            <a:r>
              <a:rPr lang="de-DE" noProof="0" dirty="0"/>
              <a:t>wurden </a:t>
            </a:r>
            <a:r>
              <a:rPr lang="de-DE" b="1" noProof="0" dirty="0"/>
              <a:t>3 Kategorien</a:t>
            </a:r>
            <a:r>
              <a:rPr lang="de-DE" noProof="0" dirty="0"/>
              <a:t> festgestellt</a:t>
            </a:r>
            <a:br>
              <a:rPr lang="de-DE" noProof="0" dirty="0"/>
            </a:br>
            <a:br>
              <a:rPr lang="de-DE" noProof="0" dirty="0"/>
            </a:br>
            <a:r>
              <a:rPr lang="de-DE" b="1" u="sng" noProof="0" dirty="0"/>
              <a:t>Nutzerpräferenzen und Antwortstil:</a:t>
            </a:r>
          </a:p>
          <a:p>
            <a:pPr marL="0" indent="0">
              <a:buFont typeface="Arial" panose="020B0604020202020204" pitchFamily="34" charset="0"/>
              <a:buNone/>
            </a:pPr>
            <a:endParaRPr lang="de-DE" b="1" u="sng" noProof="0" dirty="0"/>
          </a:p>
          <a:p>
            <a:pPr marL="0" indent="0">
              <a:buFont typeface="Arial" panose="020B0604020202020204" pitchFamily="34" charset="0"/>
              <a:buNone/>
            </a:pPr>
            <a:r>
              <a:rPr lang="de-DE" b="1" u="none" noProof="0" dirty="0"/>
              <a:t>Einige Teilnehmer </a:t>
            </a:r>
            <a:r>
              <a:rPr lang="de-DE" b="0" u="none" noProof="0" dirty="0"/>
              <a:t>wünschen sich vom Modell eine andere </a:t>
            </a:r>
            <a:r>
              <a:rPr lang="de-DE" b="1" u="none" noProof="0" dirty="0"/>
              <a:t>Struktur oder Detailierungsgrad </a:t>
            </a:r>
            <a:r>
              <a:rPr lang="de-DE" b="0" u="none" noProof="0" dirty="0"/>
              <a:t>beim Output </a:t>
            </a:r>
          </a:p>
          <a:p>
            <a:pPr marL="0" indent="0">
              <a:buFont typeface="Arial" panose="020B0604020202020204" pitchFamily="34" charset="0"/>
              <a:buNone/>
            </a:pPr>
            <a:r>
              <a:rPr lang="de-DE" b="0" u="none" noProof="0" dirty="0"/>
              <a:t>oder einem </a:t>
            </a:r>
            <a:r>
              <a:rPr lang="de-DE" b="1" u="none" noProof="0" dirty="0"/>
              <a:t>anderen Antwortstil, </a:t>
            </a:r>
            <a:r>
              <a:rPr lang="de-DE" b="0" u="none" noProof="0" dirty="0"/>
              <a:t>je nach </a:t>
            </a:r>
            <a:r>
              <a:rPr lang="de-DE" b="1" u="none" noProof="0" dirty="0"/>
              <a:t>Use-Case</a:t>
            </a:r>
            <a:r>
              <a:rPr lang="de-DE" b="0" u="none" noProof="0" dirty="0"/>
              <a:t> (Schritt für Schritt Anleitung)</a:t>
            </a:r>
          </a:p>
          <a:p>
            <a:pPr marL="0" indent="0">
              <a:buFont typeface="Arial" panose="020B0604020202020204" pitchFamily="34" charset="0"/>
              <a:buNone/>
            </a:pPr>
            <a:endParaRPr lang="de-DE" b="0" u="none" noProof="0" dirty="0"/>
          </a:p>
          <a:p>
            <a:pPr marL="0" indent="0">
              <a:buFont typeface="Arial" panose="020B0604020202020204" pitchFamily="34" charset="0"/>
              <a:buNone/>
            </a:pPr>
            <a:r>
              <a:rPr lang="de-DE" b="1" u="sng" noProof="0" dirty="0"/>
              <a:t>Funktionale Erweiterungen &amp; Benutzerfreundlichkeit</a:t>
            </a:r>
          </a:p>
          <a:p>
            <a:pPr marL="0" indent="0">
              <a:buFont typeface="Arial" panose="020B0604020202020204" pitchFamily="34" charset="0"/>
              <a:buNone/>
            </a:pPr>
            <a:endParaRPr lang="de-DE" b="1" u="sng" noProof="0" dirty="0"/>
          </a:p>
          <a:p>
            <a:pPr marL="0" indent="0">
              <a:buFont typeface="Arial" panose="020B0604020202020204" pitchFamily="34" charset="0"/>
              <a:buNone/>
            </a:pPr>
            <a:r>
              <a:rPr lang="de-DE" b="0" u="none" noProof="0" dirty="0"/>
              <a:t>Vorschläge zur </a:t>
            </a:r>
            <a:r>
              <a:rPr lang="de-DE" b="1" u="none" noProof="0" dirty="0"/>
              <a:t>Integration von zusätzlichen Funktionen (Hyper,...) </a:t>
            </a:r>
            <a:r>
              <a:rPr lang="de-DE" b="0" u="none" noProof="0" dirty="0"/>
              <a:t>... was wiederum zu einer verbesserten Benutzerfreundlichkeit des Tools führt.</a:t>
            </a:r>
          </a:p>
        </p:txBody>
      </p:sp>
      <p:sp>
        <p:nvSpPr>
          <p:cNvPr id="4" name="Foliennummernplatzhalter 3"/>
          <p:cNvSpPr>
            <a:spLocks noGrp="1"/>
          </p:cNvSpPr>
          <p:nvPr>
            <p:ph type="sldNum" sz="quarter" idx="5"/>
          </p:nvPr>
        </p:nvSpPr>
        <p:spPr/>
        <p:txBody>
          <a:bodyPr/>
          <a:lstStyle/>
          <a:p>
            <a:fld id="{2CD97A47-993E-B64C-898C-A0103DF0B7AF}" type="slidenum">
              <a:rPr lang="en-GB" smtClean="0"/>
              <a:t>14</a:t>
            </a:fld>
            <a:endParaRPr lang="en-GB"/>
          </a:p>
        </p:txBody>
      </p:sp>
    </p:spTree>
    <p:extLst>
      <p:ext uri="{BB962C8B-B14F-4D97-AF65-F5344CB8AC3E}">
        <p14:creationId xmlns:p14="http://schemas.microsoft.com/office/powerpoint/2010/main" val="2783415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noProof="0" dirty="0"/>
              <a:t>Abschliessend </a:t>
            </a:r>
            <a:r>
              <a:rPr lang="de-DE" noProof="0" dirty="0"/>
              <a:t>lassen sich die Ergebnisse der </a:t>
            </a:r>
            <a:r>
              <a:rPr lang="de-DE" b="1" noProof="0" dirty="0"/>
              <a:t>Forschungsfrage 1 </a:t>
            </a:r>
            <a:r>
              <a:rPr lang="de-DE" noProof="0" dirty="0"/>
              <a:t>folgendermassen zusammenfassen:</a:t>
            </a:r>
          </a:p>
        </p:txBody>
      </p:sp>
      <p:sp>
        <p:nvSpPr>
          <p:cNvPr id="4" name="Foliennummernplatzhalter 3"/>
          <p:cNvSpPr>
            <a:spLocks noGrp="1"/>
          </p:cNvSpPr>
          <p:nvPr>
            <p:ph type="sldNum" sz="quarter" idx="5"/>
          </p:nvPr>
        </p:nvSpPr>
        <p:spPr/>
        <p:txBody>
          <a:bodyPr/>
          <a:lstStyle/>
          <a:p>
            <a:fld id="{2CD97A47-993E-B64C-898C-A0103DF0B7AF}" type="slidenum">
              <a:rPr lang="en-GB" smtClean="0"/>
              <a:t>15</a:t>
            </a:fld>
            <a:endParaRPr lang="en-GB"/>
          </a:p>
        </p:txBody>
      </p:sp>
    </p:spTree>
    <p:extLst>
      <p:ext uri="{BB962C8B-B14F-4D97-AF65-F5344CB8AC3E}">
        <p14:creationId xmlns:p14="http://schemas.microsoft.com/office/powerpoint/2010/main" val="1322053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1" noProof="0" dirty="0"/>
              <a:t>Ebenfalls</a:t>
            </a:r>
            <a:r>
              <a:rPr lang="de-DE" b="0" noProof="0" dirty="0"/>
              <a:t> drei </a:t>
            </a:r>
            <a:r>
              <a:rPr lang="de-DE" b="1" noProof="0" dirty="0"/>
              <a:t>Kernpunkte</a:t>
            </a:r>
            <a:endParaRPr lang="de-DE" strike="sngStrike" noProof="0" dirty="0"/>
          </a:p>
          <a:p>
            <a:endParaRPr lang="en-GB" dirty="0"/>
          </a:p>
        </p:txBody>
      </p:sp>
      <p:sp>
        <p:nvSpPr>
          <p:cNvPr id="4" name="Foliennummernplatzhalter 3"/>
          <p:cNvSpPr>
            <a:spLocks noGrp="1"/>
          </p:cNvSpPr>
          <p:nvPr>
            <p:ph type="sldNum" sz="quarter" idx="5"/>
          </p:nvPr>
        </p:nvSpPr>
        <p:spPr/>
        <p:txBody>
          <a:bodyPr/>
          <a:lstStyle/>
          <a:p>
            <a:fld id="{2CD97A47-993E-B64C-898C-A0103DF0B7AF}" type="slidenum">
              <a:rPr lang="en-GB" smtClean="0"/>
              <a:t>17</a:t>
            </a:fld>
            <a:endParaRPr lang="en-GB"/>
          </a:p>
        </p:txBody>
      </p:sp>
    </p:spTree>
    <p:extLst>
      <p:ext uri="{BB962C8B-B14F-4D97-AF65-F5344CB8AC3E}">
        <p14:creationId xmlns:p14="http://schemas.microsoft.com/office/powerpoint/2010/main" val="3584145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noProof="0" dirty="0"/>
              <a:t>Bei erstem </a:t>
            </a:r>
            <a:r>
              <a:rPr lang="de-DE" b="1" noProof="0" dirty="0"/>
              <a:t>Kernpunkt</a:t>
            </a:r>
            <a:r>
              <a:rPr lang="de-DE" noProof="0" dirty="0"/>
              <a:t>, hat sich gezeigt, dass eine </a:t>
            </a:r>
            <a:r>
              <a:rPr lang="de-DE" b="1" noProof="0" dirty="0"/>
              <a:t>Plattform wie Dataiku</a:t>
            </a:r>
            <a:br>
              <a:rPr lang="de-DE" b="1" noProof="0" dirty="0"/>
            </a:br>
            <a:br>
              <a:rPr lang="de-DE" b="1" noProof="0" dirty="0"/>
            </a:br>
            <a:r>
              <a:rPr lang="de-DE" b="1" noProof="0" dirty="0"/>
              <a:t>1. </a:t>
            </a:r>
            <a:r>
              <a:rPr lang="de-DE" b="0" u="sng" noProof="0" dirty="0"/>
              <a:t>Kollaborative Entwicklung </a:t>
            </a:r>
            <a:r>
              <a:rPr lang="de-DE" b="1" noProof="0" dirty="0"/>
              <a:t>ermöglicht</a:t>
            </a:r>
            <a:r>
              <a:rPr lang="de-DE" b="0" noProof="0" dirty="0"/>
              <a:t> =&gt; </a:t>
            </a:r>
          </a:p>
          <a:p>
            <a:r>
              <a:rPr lang="de-DE" b="0" noProof="0" dirty="0"/>
              <a:t>mithilfe von </a:t>
            </a:r>
            <a:r>
              <a:rPr lang="de-DE" b="1" noProof="0" dirty="0"/>
              <a:t>gemeinsamen Workflows </a:t>
            </a:r>
            <a:r>
              <a:rPr lang="de-DE" b="0" noProof="0" dirty="0"/>
              <a:t>und zentraler </a:t>
            </a:r>
            <a:r>
              <a:rPr lang="de-DE" b="1" noProof="0" dirty="0"/>
              <a:t>Plattform</a:t>
            </a:r>
          </a:p>
          <a:p>
            <a:endParaRPr lang="de-DE" b="0" noProof="0" dirty="0"/>
          </a:p>
          <a:p>
            <a:endParaRPr lang="de-DE" b="0" noProof="0" dirty="0"/>
          </a:p>
          <a:p>
            <a:r>
              <a:rPr lang="de-DE" b="1" noProof="0" dirty="0"/>
              <a:t>2. </a:t>
            </a:r>
            <a:r>
              <a:rPr lang="de-DE" b="0" noProof="0" dirty="0"/>
              <a:t>Eine </a:t>
            </a:r>
            <a:r>
              <a:rPr lang="de-DE" b="0" u="sng" noProof="0" dirty="0"/>
              <a:t>agile und iterative Entwicklung</a:t>
            </a:r>
            <a:r>
              <a:rPr lang="de-DE" b="1" u="sng" noProof="0" dirty="0"/>
              <a:t> </a:t>
            </a:r>
            <a:r>
              <a:rPr lang="de-DE" b="1" noProof="0" dirty="0"/>
              <a:t>fördert </a:t>
            </a:r>
            <a:r>
              <a:rPr lang="de-DE" b="0" noProof="0" dirty="0"/>
              <a:t>=&gt; </a:t>
            </a:r>
          </a:p>
          <a:p>
            <a:r>
              <a:rPr lang="de-DE" b="0" noProof="0" dirty="0"/>
              <a:t>mithilfe </a:t>
            </a:r>
            <a:r>
              <a:rPr lang="de-DE" b="1" noProof="0" dirty="0"/>
              <a:t>schnelles Testing </a:t>
            </a:r>
            <a:r>
              <a:rPr lang="de-DE" b="0" noProof="0" dirty="0"/>
              <a:t>und einfacher </a:t>
            </a:r>
            <a:r>
              <a:rPr lang="de-DE" b="1" noProof="0" dirty="0"/>
              <a:t>GenAI Modellentwicklung</a:t>
            </a:r>
            <a:br>
              <a:rPr lang="de-DE" b="0" noProof="0" dirty="0"/>
            </a:br>
            <a:br>
              <a:rPr lang="de-DE" b="0" noProof="0" dirty="0"/>
            </a:br>
            <a:r>
              <a:rPr lang="de-DE" b="0" u="sng" noProof="0" dirty="0"/>
              <a:t>Skalierbare Integration strukturierter Daten</a:t>
            </a:r>
          </a:p>
          <a:p>
            <a:br>
              <a:rPr lang="de-DE" b="0" u="sng" noProof="0" dirty="0"/>
            </a:br>
            <a:r>
              <a:rPr lang="de-DE" b="1" u="none" noProof="0" dirty="0"/>
              <a:t>Strukturierte Datensätze </a:t>
            </a:r>
            <a:r>
              <a:rPr lang="de-DE" b="0" u="none" noProof="0" dirty="0"/>
              <a:t>in der Praxis </a:t>
            </a:r>
            <a:r>
              <a:rPr lang="de-DE" b="1" u="none" noProof="0" dirty="0"/>
              <a:t>sehr gross </a:t>
            </a:r>
            <a:r>
              <a:rPr lang="de-DE" b="0" u="none" noProof="0" dirty="0"/>
              <a:t>=&gt; lange </a:t>
            </a:r>
            <a:r>
              <a:rPr lang="de-DE" b="1" u="none" noProof="0" dirty="0"/>
              <a:t>Integrations</a:t>
            </a:r>
            <a:r>
              <a:rPr lang="de-DE" b="0" u="none" noProof="0" dirty="0"/>
              <a:t> und </a:t>
            </a:r>
            <a:r>
              <a:rPr lang="de-DE" b="1" u="none" noProof="0" dirty="0"/>
              <a:t>Ladezeiten =&gt; </a:t>
            </a:r>
            <a:r>
              <a:rPr lang="de-DE" b="0" u="none" noProof="0" dirty="0"/>
              <a:t>Selektive </a:t>
            </a:r>
            <a:r>
              <a:rPr lang="de-DE" b="1" u="none" noProof="0" dirty="0"/>
              <a:t>Spaltenreduktion</a:t>
            </a:r>
            <a:r>
              <a:rPr lang="de-DE" b="0" u="none" noProof="0" dirty="0"/>
              <a:t> (Metadaten) sehr einfache und schnelle Lösung</a:t>
            </a:r>
          </a:p>
          <a:p>
            <a:endParaRPr lang="de-DE" b="0" u="none"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0" u="sng" noProof="0" dirty="0"/>
              <a:t>Skalierbare Integration strukturierter Daten</a:t>
            </a:r>
            <a:br>
              <a:rPr lang="de-DE" b="0" u="sng" noProof="0" dirty="0"/>
            </a:br>
            <a:br>
              <a:rPr lang="de-DE" b="0" u="sng" noProof="0" dirty="0"/>
            </a:br>
            <a:r>
              <a:rPr lang="de-DE" b="0" u="none" noProof="0" dirty="0"/>
              <a:t>Beim dritten Kernpunkt hat sich </a:t>
            </a:r>
            <a:r>
              <a:rPr lang="de-DE" b="0" u="sng" noProof="0" dirty="0"/>
              <a:t>gezeigt, dass </a:t>
            </a:r>
            <a:r>
              <a:rPr lang="de-DE" b="1" u="none" noProof="0" dirty="0"/>
              <a:t>theoretisch SQL-Abfragen </a:t>
            </a:r>
            <a:r>
              <a:rPr lang="de-DE" b="0" u="none" noProof="0" dirty="0"/>
              <a:t>mittels </a:t>
            </a:r>
            <a:r>
              <a:rPr lang="de-DE" b="1" u="none" noProof="0" dirty="0"/>
              <a:t>angepasster Prompt Sektion </a:t>
            </a:r>
            <a:r>
              <a:rPr lang="de-DE" b="0" u="none" noProof="0" dirty="0"/>
              <a:t>möglich ist,</a:t>
            </a:r>
            <a:br>
              <a:rPr lang="de-DE" b="0" u="none" noProof="0" dirty="0"/>
            </a:br>
            <a:endParaRPr lang="de-DE" b="0" u="none"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0" u="none" noProof="0" dirty="0"/>
              <a:t>und dadurch </a:t>
            </a:r>
            <a:r>
              <a:rPr lang="de-DE" b="1" u="sng" noProof="0" dirty="0"/>
              <a:t>indirekt </a:t>
            </a:r>
            <a:r>
              <a:rPr lang="de-DE" b="0" u="sng" noProof="0" dirty="0"/>
              <a:t>(</a:t>
            </a:r>
            <a:r>
              <a:rPr lang="de-DE" b="1" u="sng" noProof="0" dirty="0"/>
              <a:t>SQL)-Abfragen</a:t>
            </a:r>
            <a:r>
              <a:rPr lang="de-DE" b="0" u="sng" noProof="0" dirty="0"/>
              <a:t> </a:t>
            </a:r>
            <a:r>
              <a:rPr lang="de-DE" b="0" u="none" noProof="0" dirty="0"/>
              <a:t>mittels </a:t>
            </a:r>
            <a:r>
              <a:rPr lang="de-DE" b="1" u="none" noProof="0" dirty="0"/>
              <a:t>Python Code </a:t>
            </a:r>
            <a:r>
              <a:rPr lang="de-DE" b="0" u="none" noProof="0" dirty="0"/>
              <a:t>generiert werden können.</a:t>
            </a:r>
          </a:p>
          <a:p>
            <a:pPr marL="0" marR="0" lvl="0" indent="0" algn="l" defTabSz="914400" rtl="0" eaLnBrk="1" fontAlgn="auto" latinLnBrk="0" hangingPunct="1">
              <a:lnSpc>
                <a:spcPct val="100000"/>
              </a:lnSpc>
              <a:spcBef>
                <a:spcPts val="0"/>
              </a:spcBef>
              <a:spcAft>
                <a:spcPts val="0"/>
              </a:spcAft>
              <a:buClrTx/>
              <a:buSzTx/>
              <a:buFontTx/>
              <a:buNone/>
              <a:tabLst/>
              <a:defRPr/>
            </a:pPr>
            <a:br>
              <a:rPr lang="de-DE" b="0" u="none" noProof="0" dirty="0"/>
            </a:br>
            <a:r>
              <a:rPr lang="de-DE" b="0" u="none" noProof="0" dirty="0"/>
              <a:t>=&gt; Geringerer Datensatz =&gt; kürzere Ladezeiten</a:t>
            </a:r>
            <a:endParaRPr lang="de-DE" b="0" u="sng" noProof="0" dirty="0"/>
          </a:p>
        </p:txBody>
      </p:sp>
      <p:sp>
        <p:nvSpPr>
          <p:cNvPr id="4" name="Foliennummernplatzhalter 3"/>
          <p:cNvSpPr>
            <a:spLocks noGrp="1"/>
          </p:cNvSpPr>
          <p:nvPr>
            <p:ph type="sldNum" sz="quarter" idx="5"/>
          </p:nvPr>
        </p:nvSpPr>
        <p:spPr/>
        <p:txBody>
          <a:bodyPr/>
          <a:lstStyle/>
          <a:p>
            <a:fld id="{2CD97A47-993E-B64C-898C-A0103DF0B7AF}" type="slidenum">
              <a:rPr lang="en-GB" smtClean="0"/>
              <a:t>18</a:t>
            </a:fld>
            <a:endParaRPr lang="en-GB"/>
          </a:p>
        </p:txBody>
      </p:sp>
    </p:spTree>
    <p:extLst>
      <p:ext uri="{BB962C8B-B14F-4D97-AF65-F5344CB8AC3E}">
        <p14:creationId xmlns:p14="http://schemas.microsoft.com/office/powerpoint/2010/main" val="1987992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noProof="0" dirty="0"/>
              <a:t>Zu </a:t>
            </a:r>
            <a:r>
              <a:rPr lang="de-DE" b="1" noProof="0" dirty="0"/>
              <a:t>den </a:t>
            </a:r>
            <a:r>
              <a:rPr lang="de-DE" b="1" u="sng" noProof="0" dirty="0"/>
              <a:t>wichtigsten </a:t>
            </a:r>
            <a:r>
              <a:rPr lang="de-DE" b="1" noProof="0" dirty="0"/>
              <a:t>Implikationen basierend </a:t>
            </a:r>
            <a:r>
              <a:rPr lang="de-DE" b="0" noProof="0" dirty="0"/>
              <a:t>auf den erzielten Ergebnissen</a:t>
            </a:r>
            <a:br>
              <a:rPr lang="de-DE" b="0" noProof="0" dirty="0"/>
            </a:br>
            <a:br>
              <a:rPr lang="de-DE" b="0" noProof="0" dirty="0"/>
            </a:br>
            <a:r>
              <a:rPr lang="de-DE" b="1" noProof="0" dirty="0"/>
              <a:t>Research:</a:t>
            </a:r>
            <a:br>
              <a:rPr lang="de-DE" b="1" noProof="0" dirty="0"/>
            </a:br>
            <a:r>
              <a:rPr lang="de-DE" b="0" noProof="0" dirty="0"/>
              <a:t>Es gibt Zusammenhang zwischen Unternehmensgrösse und Reifegrad der AI-Implementierungen bei Unternehmen =&gt; </a:t>
            </a:r>
            <a:r>
              <a:rPr lang="de-DE" b="1" noProof="0" dirty="0"/>
              <a:t>Warum ? </a:t>
            </a:r>
            <a:r>
              <a:rPr lang="de-DE" b="0" noProof="0" dirty="0"/>
              <a:t>Finanzielle</a:t>
            </a:r>
            <a:r>
              <a:rPr lang="de-DE" b="1" noProof="0" dirty="0"/>
              <a:t> Ressourcen </a:t>
            </a:r>
            <a:r>
              <a:rPr lang="de-DE" b="0" noProof="0" dirty="0"/>
              <a:t>oder </a:t>
            </a:r>
            <a:r>
              <a:rPr lang="de-DE" b="1" noProof="0" dirty="0"/>
              <a:t>Priorisierung</a:t>
            </a:r>
          </a:p>
          <a:p>
            <a:endParaRPr lang="de-DE" b="1" noProof="0" dirty="0"/>
          </a:p>
          <a:p>
            <a:pPr>
              <a:spcAft>
                <a:spcPts val="500"/>
              </a:spcAft>
            </a:pPr>
            <a:r>
              <a:rPr lang="de-DE" b="0" u="sng" noProof="0" dirty="0" err="1"/>
              <a:t>GenAI</a:t>
            </a:r>
            <a:r>
              <a:rPr lang="de-DE" b="0" u="sng" noProof="0" dirty="0"/>
              <a:t>-Adoption</a:t>
            </a:r>
          </a:p>
          <a:p>
            <a:pPr>
              <a:spcAft>
                <a:spcPts val="500"/>
              </a:spcAft>
            </a:pPr>
            <a:br>
              <a:rPr lang="de-DE" b="1" noProof="0" dirty="0"/>
            </a:br>
            <a:r>
              <a:rPr lang="de-DE" b="0" noProof="0" dirty="0"/>
              <a:t>Aktueller</a:t>
            </a:r>
            <a:r>
              <a:rPr lang="de-DE" b="1" noProof="0" dirty="0"/>
              <a:t> </a:t>
            </a:r>
            <a:r>
              <a:rPr lang="de-DE" b="0" noProof="0" dirty="0"/>
              <a:t>Research zeigt, dass die empfunden </a:t>
            </a:r>
            <a:r>
              <a:rPr lang="de-DE" b="1" noProof="0" dirty="0"/>
              <a:t>Arbeitszufriedenheit </a:t>
            </a:r>
            <a:r>
              <a:rPr lang="de-DE" b="0" noProof="0" dirty="0"/>
              <a:t>bei Benutzung von </a:t>
            </a:r>
            <a:r>
              <a:rPr lang="de-DE" b="1" noProof="0" dirty="0"/>
              <a:t>GenAI Tools  </a:t>
            </a:r>
            <a:r>
              <a:rPr lang="de-DE" b="0" noProof="0" dirty="0"/>
              <a:t>starker Indikator ist, </a:t>
            </a:r>
            <a:r>
              <a:rPr lang="de-DE" b="1" noProof="0" dirty="0"/>
              <a:t>wie verbessern ?</a:t>
            </a:r>
          </a:p>
          <a:p>
            <a:r>
              <a:rPr lang="de-DE" b="1" noProof="0" dirty="0"/>
              <a:t>Ebenfalls Indikator =&gt; aktive Unterstützung und Lernstrukturen =&gt; wie verbessern ?</a:t>
            </a:r>
          </a:p>
          <a:p>
            <a:br>
              <a:rPr lang="de-DE" b="1" noProof="0" dirty="0"/>
            </a:br>
            <a:endParaRPr lang="de-DE" b="1" noProof="0" dirty="0"/>
          </a:p>
        </p:txBody>
      </p:sp>
      <p:sp>
        <p:nvSpPr>
          <p:cNvPr id="4" name="Foliennummernplatzhalter 3"/>
          <p:cNvSpPr>
            <a:spLocks noGrp="1"/>
          </p:cNvSpPr>
          <p:nvPr>
            <p:ph type="sldNum" sz="quarter" idx="5"/>
          </p:nvPr>
        </p:nvSpPr>
        <p:spPr/>
        <p:txBody>
          <a:bodyPr/>
          <a:lstStyle/>
          <a:p>
            <a:fld id="{2CD97A47-993E-B64C-898C-A0103DF0B7AF}" type="slidenum">
              <a:rPr lang="en-GB" smtClean="0"/>
              <a:t>19</a:t>
            </a:fld>
            <a:endParaRPr lang="en-GB"/>
          </a:p>
        </p:txBody>
      </p:sp>
    </p:spTree>
    <p:extLst>
      <p:ext uri="{BB962C8B-B14F-4D97-AF65-F5344CB8AC3E}">
        <p14:creationId xmlns:p14="http://schemas.microsoft.com/office/powerpoint/2010/main" val="758990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2CD97A47-993E-B64C-898C-A0103DF0B7AF}" type="slidenum">
              <a:rPr lang="en-GB" smtClean="0"/>
              <a:t>22</a:t>
            </a:fld>
            <a:endParaRPr lang="en-GB"/>
          </a:p>
        </p:txBody>
      </p:sp>
    </p:spTree>
    <p:extLst>
      <p:ext uri="{BB962C8B-B14F-4D97-AF65-F5344CB8AC3E}">
        <p14:creationId xmlns:p14="http://schemas.microsoft.com/office/powerpoint/2010/main" val="34727412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2CD97A47-993E-B64C-898C-A0103DF0B7AF}" type="slidenum">
              <a:rPr lang="en-GB" smtClean="0"/>
              <a:t>23</a:t>
            </a:fld>
            <a:endParaRPr lang="en-GB"/>
          </a:p>
        </p:txBody>
      </p:sp>
    </p:spTree>
    <p:extLst>
      <p:ext uri="{BB962C8B-B14F-4D97-AF65-F5344CB8AC3E}">
        <p14:creationId xmlns:p14="http://schemas.microsoft.com/office/powerpoint/2010/main" val="2892307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2CD97A47-993E-B64C-898C-A0103DF0B7AF}" type="slidenum">
              <a:rPr lang="en-GB" smtClean="0"/>
              <a:t>24</a:t>
            </a:fld>
            <a:endParaRPr lang="en-GB"/>
          </a:p>
        </p:txBody>
      </p:sp>
    </p:spTree>
    <p:extLst>
      <p:ext uri="{BB962C8B-B14F-4D97-AF65-F5344CB8AC3E}">
        <p14:creationId xmlns:p14="http://schemas.microsoft.com/office/powerpoint/2010/main" val="1414383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2CD97A47-993E-B64C-898C-A0103DF0B7AF}" type="slidenum">
              <a:rPr lang="en-GB" smtClean="0"/>
              <a:t>25</a:t>
            </a:fld>
            <a:endParaRPr lang="en-GB"/>
          </a:p>
        </p:txBody>
      </p:sp>
    </p:spTree>
    <p:extLst>
      <p:ext uri="{BB962C8B-B14F-4D97-AF65-F5344CB8AC3E}">
        <p14:creationId xmlns:p14="http://schemas.microsoft.com/office/powerpoint/2010/main" val="24408922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2CD97A47-993E-B64C-898C-A0103DF0B7AF}" type="slidenum">
              <a:rPr lang="en-GB" smtClean="0"/>
              <a:t>26</a:t>
            </a:fld>
            <a:endParaRPr lang="en-GB"/>
          </a:p>
        </p:txBody>
      </p:sp>
    </p:spTree>
    <p:extLst>
      <p:ext uri="{BB962C8B-B14F-4D97-AF65-F5344CB8AC3E}">
        <p14:creationId xmlns:p14="http://schemas.microsoft.com/office/powerpoint/2010/main" val="1975702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GB" b="1" noProof="1"/>
              <a:t>BLEU:</a:t>
            </a:r>
            <a:r>
              <a:rPr lang="en-GB" noProof="1"/>
              <a:t> Precision</a:t>
            </a:r>
          </a:p>
          <a:p>
            <a:r>
              <a:rPr lang="en-GB" b="1" noProof="1"/>
              <a:t>ROUGE:</a:t>
            </a:r>
            <a:r>
              <a:rPr lang="en-GB" noProof="1"/>
              <a:t> Recall</a:t>
            </a:r>
            <a:br>
              <a:rPr lang="en-GB" noProof="1"/>
            </a:br>
            <a:br>
              <a:rPr lang="en-GB" noProof="1"/>
            </a:br>
            <a:r>
              <a:rPr lang="en-GB" noProof="1"/>
              <a:t>Both poor indicators for factual correctnes</a:t>
            </a:r>
            <a:br>
              <a:rPr lang="en-GB" noProof="1"/>
            </a:br>
            <a:r>
              <a:rPr lang="de-CH" sz="1200" b="1" i="0" u="none" strike="noStrike" kern="1200" noProof="1">
                <a:solidFill>
                  <a:schemeClr val="tx1"/>
                </a:solidFill>
                <a:effectLst/>
                <a:latin typeface="+mn-lt"/>
                <a:ea typeface="+mn-ea"/>
                <a:cs typeface="+mn-cs"/>
              </a:rPr>
              <a:t>BLEU </a:t>
            </a:r>
            <a:r>
              <a:rPr lang="de-CH" sz="1200" b="0" i="0" u="none" strike="noStrike" kern="1200" noProof="1">
                <a:solidFill>
                  <a:schemeClr val="tx1"/>
                </a:solidFill>
                <a:effectLst/>
                <a:latin typeface="+mn-lt"/>
                <a:ea typeface="+mn-ea"/>
                <a:cs typeface="+mn-cs"/>
              </a:rPr>
              <a:t>and </a:t>
            </a:r>
            <a:r>
              <a:rPr lang="de-CH" sz="1200" b="1" i="0" u="none" strike="noStrike" kern="1200" noProof="1">
                <a:solidFill>
                  <a:schemeClr val="tx1"/>
                </a:solidFill>
                <a:effectLst/>
                <a:latin typeface="+mn-lt"/>
                <a:ea typeface="+mn-ea"/>
                <a:cs typeface="+mn-cs"/>
              </a:rPr>
              <a:t>ROUGE</a:t>
            </a:r>
            <a:r>
              <a:rPr lang="de-CH" sz="1200" b="0" i="0" u="none" strike="noStrike" kern="1200" noProof="1">
                <a:solidFill>
                  <a:schemeClr val="tx1"/>
                </a:solidFill>
                <a:effectLst/>
                <a:latin typeface="+mn-lt"/>
                <a:ea typeface="+mn-ea"/>
                <a:cs typeface="+mn-cs"/>
              </a:rPr>
              <a:t> measure textual overlap, not factual correctness.</a:t>
            </a:r>
            <a:br>
              <a:rPr lang="de-CH" sz="1200" b="0" i="0" u="none" strike="noStrike" kern="1200" noProof="1">
                <a:solidFill>
                  <a:schemeClr val="tx1"/>
                </a:solidFill>
                <a:effectLst/>
                <a:latin typeface="+mn-lt"/>
                <a:ea typeface="+mn-ea"/>
                <a:cs typeface="+mn-cs"/>
              </a:rPr>
            </a:br>
            <a:br>
              <a:rPr lang="de-CH" sz="1200" b="0" i="0" u="none" strike="noStrike" kern="1200" noProof="1">
                <a:solidFill>
                  <a:schemeClr val="tx1"/>
                </a:solidFill>
                <a:effectLst/>
                <a:latin typeface="+mn-lt"/>
                <a:ea typeface="+mn-ea"/>
                <a:cs typeface="+mn-cs"/>
              </a:rPr>
            </a:br>
            <a:br>
              <a:rPr lang="de-CH" sz="1200" b="0" i="0" u="none" strike="noStrike" kern="1200" noProof="1">
                <a:solidFill>
                  <a:schemeClr val="tx1"/>
                </a:solidFill>
                <a:effectLst/>
                <a:latin typeface="+mn-lt"/>
                <a:ea typeface="+mn-ea"/>
                <a:cs typeface="+mn-cs"/>
              </a:rPr>
            </a:br>
            <a:r>
              <a:rPr lang="de-CH" sz="1200" b="1" i="0" u="none" strike="noStrike" kern="1200" noProof="1">
                <a:solidFill>
                  <a:schemeClr val="tx1"/>
                </a:solidFill>
                <a:effectLst/>
                <a:latin typeface="+mn-lt"/>
                <a:ea typeface="+mn-ea"/>
                <a:cs typeface="+mn-cs"/>
              </a:rPr>
              <a:t>ROUGE </a:t>
            </a:r>
            <a:r>
              <a:rPr lang="de-CH" sz="1200" b="0" i="0" u="none" strike="noStrike" kern="1200" noProof="1">
                <a:solidFill>
                  <a:schemeClr val="tx1"/>
                </a:solidFill>
                <a:effectLst/>
                <a:latin typeface="+mn-lt"/>
                <a:ea typeface="+mn-ea"/>
                <a:cs typeface="+mn-cs"/>
              </a:rPr>
              <a:t>wird durch </a:t>
            </a:r>
            <a:r>
              <a:rPr lang="de-CH" sz="1200" b="1" i="0" u="none" strike="noStrike" kern="1200" noProof="1">
                <a:solidFill>
                  <a:schemeClr val="tx1"/>
                </a:solidFill>
                <a:effectLst/>
                <a:latin typeface="+mn-lt"/>
                <a:ea typeface="+mn-ea"/>
                <a:cs typeface="+mn-cs"/>
              </a:rPr>
              <a:t>zusätzlichen Input </a:t>
            </a:r>
            <a:r>
              <a:rPr lang="de-CH" sz="1200" b="0" i="0" u="none" strike="noStrike" kern="1200" noProof="1">
                <a:solidFill>
                  <a:schemeClr val="tx1"/>
                </a:solidFill>
                <a:effectLst/>
                <a:latin typeface="+mn-lt"/>
                <a:ea typeface="+mn-ea"/>
                <a:cs typeface="+mn-cs"/>
              </a:rPr>
              <a:t>kaum betroffen</a:t>
            </a:r>
          </a:p>
          <a:p>
            <a:br>
              <a:rPr lang="de-CH" sz="1200" b="0" i="0" u="none" strike="noStrike" kern="1200" noProof="1">
                <a:solidFill>
                  <a:schemeClr val="tx1"/>
                </a:solidFill>
                <a:effectLst/>
                <a:latin typeface="+mn-lt"/>
                <a:ea typeface="+mn-ea"/>
                <a:cs typeface="+mn-cs"/>
              </a:rPr>
            </a:br>
            <a:r>
              <a:rPr lang="de-CH" sz="1200" b="1" i="0" u="none" strike="noStrike" kern="1200" noProof="1">
                <a:solidFill>
                  <a:schemeClr val="tx1"/>
                </a:solidFill>
                <a:effectLst/>
                <a:latin typeface="+mn-lt"/>
                <a:ea typeface="+mn-ea"/>
                <a:cs typeface="+mn-cs"/>
              </a:rPr>
              <a:t>BLEU</a:t>
            </a:r>
            <a:r>
              <a:rPr lang="de-CH" sz="1200" b="0" i="0" u="none" strike="noStrike" kern="1200" noProof="1">
                <a:solidFill>
                  <a:schemeClr val="tx1"/>
                </a:solidFill>
                <a:effectLst/>
                <a:latin typeface="+mn-lt"/>
                <a:ea typeface="+mn-ea"/>
                <a:cs typeface="+mn-cs"/>
              </a:rPr>
              <a:t> sieht Zusatz als Fehler</a:t>
            </a:r>
            <a:endParaRPr lang="en-GB" noProof="1"/>
          </a:p>
        </p:txBody>
      </p:sp>
      <p:sp>
        <p:nvSpPr>
          <p:cNvPr id="4" name="Foliennummernplatzhalter 3"/>
          <p:cNvSpPr>
            <a:spLocks noGrp="1"/>
          </p:cNvSpPr>
          <p:nvPr>
            <p:ph type="sldNum" sz="quarter" idx="5"/>
          </p:nvPr>
        </p:nvSpPr>
        <p:spPr/>
        <p:txBody>
          <a:bodyPr/>
          <a:lstStyle/>
          <a:p>
            <a:fld id="{2CD97A47-993E-B64C-898C-A0103DF0B7AF}" type="slidenum">
              <a:rPr lang="en-GB" smtClean="0"/>
              <a:t>27</a:t>
            </a:fld>
            <a:endParaRPr lang="en-GB"/>
          </a:p>
        </p:txBody>
      </p:sp>
    </p:spTree>
    <p:extLst>
      <p:ext uri="{BB962C8B-B14F-4D97-AF65-F5344CB8AC3E}">
        <p14:creationId xmlns:p14="http://schemas.microsoft.com/office/powerpoint/2010/main" val="2344365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E9C9DA-EB31-444A-9644-AD2772E76434}"/>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GB"/>
          </a:p>
        </p:txBody>
      </p:sp>
      <p:sp>
        <p:nvSpPr>
          <p:cNvPr id="3" name="Untertitel 2">
            <a:extLst>
              <a:ext uri="{FF2B5EF4-FFF2-40B4-BE49-F238E27FC236}">
                <a16:creationId xmlns:a16="http://schemas.microsoft.com/office/drawing/2014/main" id="{E7284D55-B372-6447-A2E8-749D3CFD46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GB"/>
          </a:p>
        </p:txBody>
      </p:sp>
      <p:sp>
        <p:nvSpPr>
          <p:cNvPr id="4" name="Datumsplatzhalter 3">
            <a:extLst>
              <a:ext uri="{FF2B5EF4-FFF2-40B4-BE49-F238E27FC236}">
                <a16:creationId xmlns:a16="http://schemas.microsoft.com/office/drawing/2014/main" id="{C4E23FF7-5400-144F-A05A-4258C560021B}"/>
              </a:ext>
            </a:extLst>
          </p:cNvPr>
          <p:cNvSpPr>
            <a:spLocks noGrp="1"/>
          </p:cNvSpPr>
          <p:nvPr>
            <p:ph type="dt" sz="half" idx="10"/>
          </p:nvPr>
        </p:nvSpPr>
        <p:spPr/>
        <p:txBody>
          <a:bodyPr/>
          <a:lstStyle/>
          <a:p>
            <a:fld id="{57B43061-C548-384A-BD7E-270F91694E62}" type="datetime1">
              <a:rPr lang="de-CH" smtClean="0"/>
              <a:t>16.02.26</a:t>
            </a:fld>
            <a:endParaRPr lang="en-GB"/>
          </a:p>
        </p:txBody>
      </p:sp>
      <p:sp>
        <p:nvSpPr>
          <p:cNvPr id="5" name="Fußzeilenplatzhalter 4">
            <a:extLst>
              <a:ext uri="{FF2B5EF4-FFF2-40B4-BE49-F238E27FC236}">
                <a16:creationId xmlns:a16="http://schemas.microsoft.com/office/drawing/2014/main" id="{FDD0EB35-58A1-5C4B-B430-1F2DFBF3DBB5}"/>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1EF7DE69-D4D0-8243-9498-3937044D0F93}"/>
              </a:ext>
            </a:extLst>
          </p:cNvPr>
          <p:cNvSpPr>
            <a:spLocks noGrp="1"/>
          </p:cNvSpPr>
          <p:nvPr>
            <p:ph type="sldNum" sz="quarter" idx="12"/>
          </p:nvPr>
        </p:nvSpPr>
        <p:spPr/>
        <p:txBody>
          <a:bodyPr/>
          <a:lstStyle/>
          <a:p>
            <a:fld id="{5CC06646-EDF2-2341-B148-FF1B4C173C76}" type="slidenum">
              <a:rPr lang="en-GB" smtClean="0"/>
              <a:t>‹Nr.›</a:t>
            </a:fld>
            <a:endParaRPr lang="en-GB"/>
          </a:p>
        </p:txBody>
      </p:sp>
    </p:spTree>
    <p:extLst>
      <p:ext uri="{BB962C8B-B14F-4D97-AF65-F5344CB8AC3E}">
        <p14:creationId xmlns:p14="http://schemas.microsoft.com/office/powerpoint/2010/main" val="1878150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2B075D-67D2-B748-986A-9DEB326D81FE}"/>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F6CFF05C-1046-CA4D-B70B-82FF5F8CFF99}"/>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8E95FFA2-EB93-0B4C-8CAA-25BF0F95C7C0}"/>
              </a:ext>
            </a:extLst>
          </p:cNvPr>
          <p:cNvSpPr>
            <a:spLocks noGrp="1"/>
          </p:cNvSpPr>
          <p:nvPr>
            <p:ph type="dt" sz="half" idx="10"/>
          </p:nvPr>
        </p:nvSpPr>
        <p:spPr/>
        <p:txBody>
          <a:bodyPr/>
          <a:lstStyle/>
          <a:p>
            <a:fld id="{2BD3D5A4-4AC1-B447-A5F9-791EF99A2789}" type="datetime1">
              <a:rPr lang="de-CH" smtClean="0"/>
              <a:t>16.02.26</a:t>
            </a:fld>
            <a:endParaRPr lang="en-GB"/>
          </a:p>
        </p:txBody>
      </p:sp>
      <p:sp>
        <p:nvSpPr>
          <p:cNvPr id="5" name="Fußzeilenplatzhalter 4">
            <a:extLst>
              <a:ext uri="{FF2B5EF4-FFF2-40B4-BE49-F238E27FC236}">
                <a16:creationId xmlns:a16="http://schemas.microsoft.com/office/drawing/2014/main" id="{F8F20A27-151E-D940-9E4E-B4201F50650E}"/>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77481ADF-B6FA-2A41-8A0B-7FE1F104C614}"/>
              </a:ext>
            </a:extLst>
          </p:cNvPr>
          <p:cNvSpPr>
            <a:spLocks noGrp="1"/>
          </p:cNvSpPr>
          <p:nvPr>
            <p:ph type="sldNum" sz="quarter" idx="12"/>
          </p:nvPr>
        </p:nvSpPr>
        <p:spPr/>
        <p:txBody>
          <a:bodyPr/>
          <a:lstStyle/>
          <a:p>
            <a:fld id="{5CC06646-EDF2-2341-B148-FF1B4C173C76}" type="slidenum">
              <a:rPr lang="en-GB" smtClean="0"/>
              <a:t>‹Nr.›</a:t>
            </a:fld>
            <a:endParaRPr lang="en-GB"/>
          </a:p>
        </p:txBody>
      </p:sp>
    </p:spTree>
    <p:extLst>
      <p:ext uri="{BB962C8B-B14F-4D97-AF65-F5344CB8AC3E}">
        <p14:creationId xmlns:p14="http://schemas.microsoft.com/office/powerpoint/2010/main" val="1115555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B9B90F-E81B-994F-A08D-7693F43E4CB4}"/>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GB"/>
          </a:p>
        </p:txBody>
      </p:sp>
      <p:sp>
        <p:nvSpPr>
          <p:cNvPr id="3" name="Textplatzhalter 2">
            <a:extLst>
              <a:ext uri="{FF2B5EF4-FFF2-40B4-BE49-F238E27FC236}">
                <a16:creationId xmlns:a16="http://schemas.microsoft.com/office/drawing/2014/main" id="{D5358244-6380-6D40-B633-B2C6EDB7DA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8786A183-E8D8-4E44-82AF-5CB936B6D90F}"/>
              </a:ext>
            </a:extLst>
          </p:cNvPr>
          <p:cNvSpPr>
            <a:spLocks noGrp="1"/>
          </p:cNvSpPr>
          <p:nvPr>
            <p:ph type="dt" sz="half" idx="10"/>
          </p:nvPr>
        </p:nvSpPr>
        <p:spPr/>
        <p:txBody>
          <a:bodyPr/>
          <a:lstStyle/>
          <a:p>
            <a:fld id="{72068BD4-8442-1346-9E16-3AEB97464455}" type="datetime1">
              <a:rPr lang="de-CH" smtClean="0"/>
              <a:t>16.02.26</a:t>
            </a:fld>
            <a:endParaRPr lang="en-GB"/>
          </a:p>
        </p:txBody>
      </p:sp>
      <p:sp>
        <p:nvSpPr>
          <p:cNvPr id="5" name="Fußzeilenplatzhalter 4">
            <a:extLst>
              <a:ext uri="{FF2B5EF4-FFF2-40B4-BE49-F238E27FC236}">
                <a16:creationId xmlns:a16="http://schemas.microsoft.com/office/drawing/2014/main" id="{0CF80B72-3B9C-F746-AEDE-C2E05931885E}"/>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7A0FAA1A-7375-0C4D-93FB-69AE6C4F8E3B}"/>
              </a:ext>
            </a:extLst>
          </p:cNvPr>
          <p:cNvSpPr>
            <a:spLocks noGrp="1"/>
          </p:cNvSpPr>
          <p:nvPr>
            <p:ph type="sldNum" sz="quarter" idx="12"/>
          </p:nvPr>
        </p:nvSpPr>
        <p:spPr/>
        <p:txBody>
          <a:bodyPr/>
          <a:lstStyle/>
          <a:p>
            <a:fld id="{5CC06646-EDF2-2341-B148-FF1B4C173C76}" type="slidenum">
              <a:rPr lang="en-GB" smtClean="0"/>
              <a:t>‹Nr.›</a:t>
            </a:fld>
            <a:endParaRPr lang="en-GB"/>
          </a:p>
        </p:txBody>
      </p:sp>
    </p:spTree>
    <p:extLst>
      <p:ext uri="{BB962C8B-B14F-4D97-AF65-F5344CB8AC3E}">
        <p14:creationId xmlns:p14="http://schemas.microsoft.com/office/powerpoint/2010/main" val="3472228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9299AD-0A62-CC4D-9398-9E3304262307}"/>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221F1EB9-A611-704E-92F9-1A7BDD248F66}"/>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Inhaltsplatzhalter 3">
            <a:extLst>
              <a:ext uri="{FF2B5EF4-FFF2-40B4-BE49-F238E27FC236}">
                <a16:creationId xmlns:a16="http://schemas.microsoft.com/office/drawing/2014/main" id="{C1A54861-71FA-494F-9CAE-D0A197B459E8}"/>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Datumsplatzhalter 4">
            <a:extLst>
              <a:ext uri="{FF2B5EF4-FFF2-40B4-BE49-F238E27FC236}">
                <a16:creationId xmlns:a16="http://schemas.microsoft.com/office/drawing/2014/main" id="{01A7AEF3-1B89-9C40-9990-FAD9F66A43BE}"/>
              </a:ext>
            </a:extLst>
          </p:cNvPr>
          <p:cNvSpPr>
            <a:spLocks noGrp="1"/>
          </p:cNvSpPr>
          <p:nvPr>
            <p:ph type="dt" sz="half" idx="10"/>
          </p:nvPr>
        </p:nvSpPr>
        <p:spPr/>
        <p:txBody>
          <a:bodyPr/>
          <a:lstStyle/>
          <a:p>
            <a:fld id="{14BF5A17-9BC3-3944-9AE4-26FA67E8E8BB}" type="datetime1">
              <a:rPr lang="de-CH" smtClean="0"/>
              <a:t>16.02.26</a:t>
            </a:fld>
            <a:endParaRPr lang="en-GB"/>
          </a:p>
        </p:txBody>
      </p:sp>
      <p:sp>
        <p:nvSpPr>
          <p:cNvPr id="6" name="Fußzeilenplatzhalter 5">
            <a:extLst>
              <a:ext uri="{FF2B5EF4-FFF2-40B4-BE49-F238E27FC236}">
                <a16:creationId xmlns:a16="http://schemas.microsoft.com/office/drawing/2014/main" id="{F8BA8C77-8DAB-184D-8E83-506BE4920217}"/>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8BCB2585-60CD-A540-ACD1-C928A8906425}"/>
              </a:ext>
            </a:extLst>
          </p:cNvPr>
          <p:cNvSpPr>
            <a:spLocks noGrp="1"/>
          </p:cNvSpPr>
          <p:nvPr>
            <p:ph type="sldNum" sz="quarter" idx="12"/>
          </p:nvPr>
        </p:nvSpPr>
        <p:spPr/>
        <p:txBody>
          <a:bodyPr/>
          <a:lstStyle/>
          <a:p>
            <a:fld id="{5CC06646-EDF2-2341-B148-FF1B4C173C76}" type="slidenum">
              <a:rPr lang="en-GB" smtClean="0"/>
              <a:t>‹Nr.›</a:t>
            </a:fld>
            <a:endParaRPr lang="en-GB"/>
          </a:p>
        </p:txBody>
      </p:sp>
    </p:spTree>
    <p:extLst>
      <p:ext uri="{BB962C8B-B14F-4D97-AF65-F5344CB8AC3E}">
        <p14:creationId xmlns:p14="http://schemas.microsoft.com/office/powerpoint/2010/main" val="40811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F1F319-AD7F-B045-BE41-4FF96B1E679B}"/>
              </a:ext>
            </a:extLst>
          </p:cNvPr>
          <p:cNvSpPr>
            <a:spLocks noGrp="1"/>
          </p:cNvSpPr>
          <p:nvPr>
            <p:ph type="title"/>
          </p:nvPr>
        </p:nvSpPr>
        <p:spPr>
          <a:xfrm>
            <a:off x="839788" y="365125"/>
            <a:ext cx="10515600" cy="1325563"/>
          </a:xfrm>
        </p:spPr>
        <p:txBody>
          <a:bodyPr/>
          <a:lstStyle/>
          <a:p>
            <a:r>
              <a:rPr lang="de-DE"/>
              <a:t>Mastertitelformat bearbeiten</a:t>
            </a:r>
            <a:endParaRPr lang="en-GB"/>
          </a:p>
        </p:txBody>
      </p:sp>
      <p:sp>
        <p:nvSpPr>
          <p:cNvPr id="3" name="Textplatzhalter 2">
            <a:extLst>
              <a:ext uri="{FF2B5EF4-FFF2-40B4-BE49-F238E27FC236}">
                <a16:creationId xmlns:a16="http://schemas.microsoft.com/office/drawing/2014/main" id="{8A93C787-EC65-6943-8B17-1836B386A3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17D7A901-3959-1F44-9361-120649B6FD99}"/>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Textplatzhalter 4">
            <a:extLst>
              <a:ext uri="{FF2B5EF4-FFF2-40B4-BE49-F238E27FC236}">
                <a16:creationId xmlns:a16="http://schemas.microsoft.com/office/drawing/2014/main" id="{6861C6DB-6063-F245-B2FD-72276767E7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45ABC65B-E7F0-8040-A80D-76644E7DACD4}"/>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7" name="Datumsplatzhalter 6">
            <a:extLst>
              <a:ext uri="{FF2B5EF4-FFF2-40B4-BE49-F238E27FC236}">
                <a16:creationId xmlns:a16="http://schemas.microsoft.com/office/drawing/2014/main" id="{251F6ED9-8C22-FB4B-A17C-2E29D21C3F0F}"/>
              </a:ext>
            </a:extLst>
          </p:cNvPr>
          <p:cNvSpPr>
            <a:spLocks noGrp="1"/>
          </p:cNvSpPr>
          <p:nvPr>
            <p:ph type="dt" sz="half" idx="10"/>
          </p:nvPr>
        </p:nvSpPr>
        <p:spPr/>
        <p:txBody>
          <a:bodyPr/>
          <a:lstStyle/>
          <a:p>
            <a:fld id="{540D081D-6208-214C-AF6A-5BEC213DBB34}" type="datetime1">
              <a:rPr lang="de-CH" smtClean="0"/>
              <a:t>16.02.26</a:t>
            </a:fld>
            <a:endParaRPr lang="en-GB"/>
          </a:p>
        </p:txBody>
      </p:sp>
      <p:sp>
        <p:nvSpPr>
          <p:cNvPr id="8" name="Fußzeilenplatzhalter 7">
            <a:extLst>
              <a:ext uri="{FF2B5EF4-FFF2-40B4-BE49-F238E27FC236}">
                <a16:creationId xmlns:a16="http://schemas.microsoft.com/office/drawing/2014/main" id="{66C595C8-E89C-9D43-B3AD-74CB566C0805}"/>
              </a:ext>
            </a:extLst>
          </p:cNvPr>
          <p:cNvSpPr>
            <a:spLocks noGrp="1"/>
          </p:cNvSpPr>
          <p:nvPr>
            <p:ph type="ftr" sz="quarter" idx="11"/>
          </p:nvPr>
        </p:nvSpPr>
        <p:spPr/>
        <p:txBody>
          <a:bodyPr/>
          <a:lstStyle/>
          <a:p>
            <a:endParaRPr lang="en-GB"/>
          </a:p>
        </p:txBody>
      </p:sp>
      <p:sp>
        <p:nvSpPr>
          <p:cNvPr id="9" name="Foliennummernplatzhalter 8">
            <a:extLst>
              <a:ext uri="{FF2B5EF4-FFF2-40B4-BE49-F238E27FC236}">
                <a16:creationId xmlns:a16="http://schemas.microsoft.com/office/drawing/2014/main" id="{BD2653CB-47E3-BF49-82E6-9B1E0598934A}"/>
              </a:ext>
            </a:extLst>
          </p:cNvPr>
          <p:cNvSpPr>
            <a:spLocks noGrp="1"/>
          </p:cNvSpPr>
          <p:nvPr>
            <p:ph type="sldNum" sz="quarter" idx="12"/>
          </p:nvPr>
        </p:nvSpPr>
        <p:spPr/>
        <p:txBody>
          <a:bodyPr/>
          <a:lstStyle/>
          <a:p>
            <a:fld id="{5CC06646-EDF2-2341-B148-FF1B4C173C76}" type="slidenum">
              <a:rPr lang="en-GB" smtClean="0"/>
              <a:t>‹Nr.›</a:t>
            </a:fld>
            <a:endParaRPr lang="en-GB"/>
          </a:p>
        </p:txBody>
      </p:sp>
    </p:spTree>
    <p:extLst>
      <p:ext uri="{BB962C8B-B14F-4D97-AF65-F5344CB8AC3E}">
        <p14:creationId xmlns:p14="http://schemas.microsoft.com/office/powerpoint/2010/main" val="3493481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9EC7B4-0C73-6141-8235-2A65BFC48602}"/>
              </a:ext>
            </a:extLst>
          </p:cNvPr>
          <p:cNvSpPr>
            <a:spLocks noGrp="1"/>
          </p:cNvSpPr>
          <p:nvPr>
            <p:ph type="title"/>
          </p:nvPr>
        </p:nvSpPr>
        <p:spPr/>
        <p:txBody>
          <a:bodyPr/>
          <a:lstStyle/>
          <a:p>
            <a:r>
              <a:rPr lang="de-DE"/>
              <a:t>Mastertitelformat bearbeiten</a:t>
            </a:r>
            <a:endParaRPr lang="en-GB"/>
          </a:p>
        </p:txBody>
      </p:sp>
      <p:sp>
        <p:nvSpPr>
          <p:cNvPr id="3" name="Datumsplatzhalter 2">
            <a:extLst>
              <a:ext uri="{FF2B5EF4-FFF2-40B4-BE49-F238E27FC236}">
                <a16:creationId xmlns:a16="http://schemas.microsoft.com/office/drawing/2014/main" id="{A7904825-8C21-304E-9590-7AE7E333E3ED}"/>
              </a:ext>
            </a:extLst>
          </p:cNvPr>
          <p:cNvSpPr>
            <a:spLocks noGrp="1"/>
          </p:cNvSpPr>
          <p:nvPr>
            <p:ph type="dt" sz="half" idx="10"/>
          </p:nvPr>
        </p:nvSpPr>
        <p:spPr/>
        <p:txBody>
          <a:bodyPr/>
          <a:lstStyle/>
          <a:p>
            <a:fld id="{1F8695B8-CFB2-484E-B5BF-DF5F6458E354}" type="datetime1">
              <a:rPr lang="de-CH" smtClean="0"/>
              <a:t>16.02.26</a:t>
            </a:fld>
            <a:endParaRPr lang="en-GB"/>
          </a:p>
        </p:txBody>
      </p:sp>
      <p:sp>
        <p:nvSpPr>
          <p:cNvPr id="4" name="Fußzeilenplatzhalter 3">
            <a:extLst>
              <a:ext uri="{FF2B5EF4-FFF2-40B4-BE49-F238E27FC236}">
                <a16:creationId xmlns:a16="http://schemas.microsoft.com/office/drawing/2014/main" id="{AFD57897-BFD7-4E44-878C-4B3C62608910}"/>
              </a:ext>
            </a:extLst>
          </p:cNvPr>
          <p:cNvSpPr>
            <a:spLocks noGrp="1"/>
          </p:cNvSpPr>
          <p:nvPr>
            <p:ph type="ftr" sz="quarter" idx="11"/>
          </p:nvPr>
        </p:nvSpPr>
        <p:spPr/>
        <p:txBody>
          <a:bodyPr/>
          <a:lstStyle/>
          <a:p>
            <a:endParaRPr lang="en-GB"/>
          </a:p>
        </p:txBody>
      </p:sp>
      <p:sp>
        <p:nvSpPr>
          <p:cNvPr id="5" name="Foliennummernplatzhalter 4">
            <a:extLst>
              <a:ext uri="{FF2B5EF4-FFF2-40B4-BE49-F238E27FC236}">
                <a16:creationId xmlns:a16="http://schemas.microsoft.com/office/drawing/2014/main" id="{4469EBDD-3C6A-E24A-A7D4-585F6EC64E2F}"/>
              </a:ext>
            </a:extLst>
          </p:cNvPr>
          <p:cNvSpPr>
            <a:spLocks noGrp="1"/>
          </p:cNvSpPr>
          <p:nvPr>
            <p:ph type="sldNum" sz="quarter" idx="12"/>
          </p:nvPr>
        </p:nvSpPr>
        <p:spPr/>
        <p:txBody>
          <a:bodyPr/>
          <a:lstStyle/>
          <a:p>
            <a:fld id="{5CC06646-EDF2-2341-B148-FF1B4C173C76}" type="slidenum">
              <a:rPr lang="en-GB" smtClean="0"/>
              <a:t>‹Nr.›</a:t>
            </a:fld>
            <a:endParaRPr lang="en-GB"/>
          </a:p>
        </p:txBody>
      </p:sp>
    </p:spTree>
    <p:extLst>
      <p:ext uri="{BB962C8B-B14F-4D97-AF65-F5344CB8AC3E}">
        <p14:creationId xmlns:p14="http://schemas.microsoft.com/office/powerpoint/2010/main" val="896914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1DF0EA1F-602F-DA4C-8494-277DF666F232}"/>
              </a:ext>
            </a:extLst>
          </p:cNvPr>
          <p:cNvSpPr>
            <a:spLocks noGrp="1"/>
          </p:cNvSpPr>
          <p:nvPr>
            <p:ph type="dt" sz="half" idx="10"/>
          </p:nvPr>
        </p:nvSpPr>
        <p:spPr/>
        <p:txBody>
          <a:bodyPr/>
          <a:lstStyle/>
          <a:p>
            <a:fld id="{809920EA-8A9E-7643-9E77-992640053B92}" type="datetime1">
              <a:rPr lang="de-CH" smtClean="0"/>
              <a:t>16.02.26</a:t>
            </a:fld>
            <a:endParaRPr lang="en-GB"/>
          </a:p>
        </p:txBody>
      </p:sp>
      <p:sp>
        <p:nvSpPr>
          <p:cNvPr id="3" name="Fußzeilenplatzhalter 2">
            <a:extLst>
              <a:ext uri="{FF2B5EF4-FFF2-40B4-BE49-F238E27FC236}">
                <a16:creationId xmlns:a16="http://schemas.microsoft.com/office/drawing/2014/main" id="{27A4404B-FB78-FB4A-8660-FE8E301BBEC1}"/>
              </a:ext>
            </a:extLst>
          </p:cNvPr>
          <p:cNvSpPr>
            <a:spLocks noGrp="1"/>
          </p:cNvSpPr>
          <p:nvPr>
            <p:ph type="ftr" sz="quarter" idx="11"/>
          </p:nvPr>
        </p:nvSpPr>
        <p:spPr/>
        <p:txBody>
          <a:bodyPr/>
          <a:lstStyle/>
          <a:p>
            <a:endParaRPr lang="en-GB"/>
          </a:p>
        </p:txBody>
      </p:sp>
      <p:sp>
        <p:nvSpPr>
          <p:cNvPr id="4" name="Foliennummernplatzhalter 3">
            <a:extLst>
              <a:ext uri="{FF2B5EF4-FFF2-40B4-BE49-F238E27FC236}">
                <a16:creationId xmlns:a16="http://schemas.microsoft.com/office/drawing/2014/main" id="{8B54EC35-BA25-CD40-BCCC-06FC7D0DB187}"/>
              </a:ext>
            </a:extLst>
          </p:cNvPr>
          <p:cNvSpPr>
            <a:spLocks noGrp="1"/>
          </p:cNvSpPr>
          <p:nvPr>
            <p:ph type="sldNum" sz="quarter" idx="12"/>
          </p:nvPr>
        </p:nvSpPr>
        <p:spPr/>
        <p:txBody>
          <a:bodyPr/>
          <a:lstStyle/>
          <a:p>
            <a:fld id="{5CC06646-EDF2-2341-B148-FF1B4C173C76}" type="slidenum">
              <a:rPr lang="en-GB" smtClean="0"/>
              <a:t>‹Nr.›</a:t>
            </a:fld>
            <a:endParaRPr lang="en-GB"/>
          </a:p>
        </p:txBody>
      </p:sp>
    </p:spTree>
    <p:extLst>
      <p:ext uri="{BB962C8B-B14F-4D97-AF65-F5344CB8AC3E}">
        <p14:creationId xmlns:p14="http://schemas.microsoft.com/office/powerpoint/2010/main" val="1143218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6EDF81-F482-D544-B0BF-69DC921C6E9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Inhaltsplatzhalter 2">
            <a:extLst>
              <a:ext uri="{FF2B5EF4-FFF2-40B4-BE49-F238E27FC236}">
                <a16:creationId xmlns:a16="http://schemas.microsoft.com/office/drawing/2014/main" id="{F5977EA4-3929-E44C-825C-B4009B5F0C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Textplatzhalter 3">
            <a:extLst>
              <a:ext uri="{FF2B5EF4-FFF2-40B4-BE49-F238E27FC236}">
                <a16:creationId xmlns:a16="http://schemas.microsoft.com/office/drawing/2014/main" id="{9B7166B5-C591-8A4F-98A9-5BF51C69BE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E80C096B-A57A-6D46-BB1D-428BB6DA3D22}"/>
              </a:ext>
            </a:extLst>
          </p:cNvPr>
          <p:cNvSpPr>
            <a:spLocks noGrp="1"/>
          </p:cNvSpPr>
          <p:nvPr>
            <p:ph type="dt" sz="half" idx="10"/>
          </p:nvPr>
        </p:nvSpPr>
        <p:spPr/>
        <p:txBody>
          <a:bodyPr/>
          <a:lstStyle/>
          <a:p>
            <a:fld id="{769638F4-02E0-DC4A-BDDE-980A553B5D00}" type="datetime1">
              <a:rPr lang="de-CH" smtClean="0"/>
              <a:t>16.02.26</a:t>
            </a:fld>
            <a:endParaRPr lang="en-GB"/>
          </a:p>
        </p:txBody>
      </p:sp>
      <p:sp>
        <p:nvSpPr>
          <p:cNvPr id="6" name="Fußzeilenplatzhalter 5">
            <a:extLst>
              <a:ext uri="{FF2B5EF4-FFF2-40B4-BE49-F238E27FC236}">
                <a16:creationId xmlns:a16="http://schemas.microsoft.com/office/drawing/2014/main" id="{FE48BD20-82B9-E341-9A97-5D7AB730B0DD}"/>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6E87FC63-1F56-9040-9DEA-861919195523}"/>
              </a:ext>
            </a:extLst>
          </p:cNvPr>
          <p:cNvSpPr>
            <a:spLocks noGrp="1"/>
          </p:cNvSpPr>
          <p:nvPr>
            <p:ph type="sldNum" sz="quarter" idx="12"/>
          </p:nvPr>
        </p:nvSpPr>
        <p:spPr/>
        <p:txBody>
          <a:bodyPr/>
          <a:lstStyle/>
          <a:p>
            <a:fld id="{5CC06646-EDF2-2341-B148-FF1B4C173C76}" type="slidenum">
              <a:rPr lang="en-GB" smtClean="0"/>
              <a:t>‹Nr.›</a:t>
            </a:fld>
            <a:endParaRPr lang="en-GB"/>
          </a:p>
        </p:txBody>
      </p:sp>
    </p:spTree>
    <p:extLst>
      <p:ext uri="{BB962C8B-B14F-4D97-AF65-F5344CB8AC3E}">
        <p14:creationId xmlns:p14="http://schemas.microsoft.com/office/powerpoint/2010/main" val="1171102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2A0574-533A-1F47-B67A-096A0319AB27}"/>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Bildplatzhalter 2">
            <a:extLst>
              <a:ext uri="{FF2B5EF4-FFF2-40B4-BE49-F238E27FC236}">
                <a16:creationId xmlns:a16="http://schemas.microsoft.com/office/drawing/2014/main" id="{7ABB167E-7022-454D-B784-657BFA7D24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platzhalter 3">
            <a:extLst>
              <a:ext uri="{FF2B5EF4-FFF2-40B4-BE49-F238E27FC236}">
                <a16:creationId xmlns:a16="http://schemas.microsoft.com/office/drawing/2014/main" id="{C5ED2287-A832-BE44-BDEC-C9A2065A15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AB37EAAA-E9A2-9C49-B0E6-A7D7557514FB}"/>
              </a:ext>
            </a:extLst>
          </p:cNvPr>
          <p:cNvSpPr>
            <a:spLocks noGrp="1"/>
          </p:cNvSpPr>
          <p:nvPr>
            <p:ph type="dt" sz="half" idx="10"/>
          </p:nvPr>
        </p:nvSpPr>
        <p:spPr/>
        <p:txBody>
          <a:bodyPr/>
          <a:lstStyle/>
          <a:p>
            <a:fld id="{8F7B1F93-3B77-274B-944F-55A44FB307CD}" type="datetime1">
              <a:rPr lang="de-CH" smtClean="0"/>
              <a:t>16.02.26</a:t>
            </a:fld>
            <a:endParaRPr lang="en-GB"/>
          </a:p>
        </p:txBody>
      </p:sp>
      <p:sp>
        <p:nvSpPr>
          <p:cNvPr id="6" name="Fußzeilenplatzhalter 5">
            <a:extLst>
              <a:ext uri="{FF2B5EF4-FFF2-40B4-BE49-F238E27FC236}">
                <a16:creationId xmlns:a16="http://schemas.microsoft.com/office/drawing/2014/main" id="{8CF37F6C-B43D-B74D-BABE-559C7A79576D}"/>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3F413616-CF27-C64B-9486-2DC787FCD9E8}"/>
              </a:ext>
            </a:extLst>
          </p:cNvPr>
          <p:cNvSpPr>
            <a:spLocks noGrp="1"/>
          </p:cNvSpPr>
          <p:nvPr>
            <p:ph type="sldNum" sz="quarter" idx="12"/>
          </p:nvPr>
        </p:nvSpPr>
        <p:spPr/>
        <p:txBody>
          <a:bodyPr/>
          <a:lstStyle/>
          <a:p>
            <a:fld id="{5CC06646-EDF2-2341-B148-FF1B4C173C76}" type="slidenum">
              <a:rPr lang="en-GB" smtClean="0"/>
              <a:t>‹Nr.›</a:t>
            </a:fld>
            <a:endParaRPr lang="en-GB"/>
          </a:p>
        </p:txBody>
      </p:sp>
    </p:spTree>
    <p:extLst>
      <p:ext uri="{BB962C8B-B14F-4D97-AF65-F5344CB8AC3E}">
        <p14:creationId xmlns:p14="http://schemas.microsoft.com/office/powerpoint/2010/main" val="4089862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337E14-C1AD-0046-90BF-58E1CA73BA33}"/>
              </a:ext>
            </a:extLst>
          </p:cNvPr>
          <p:cNvSpPr>
            <a:spLocks noGrp="1"/>
          </p:cNvSpPr>
          <p:nvPr>
            <p:ph type="title"/>
          </p:nvPr>
        </p:nvSpPr>
        <p:spPr/>
        <p:txBody>
          <a:bodyPr/>
          <a:lstStyle/>
          <a:p>
            <a:r>
              <a:rPr lang="de-DE"/>
              <a:t>Mastertitelformat bearbeiten</a:t>
            </a:r>
            <a:endParaRPr lang="en-GB"/>
          </a:p>
        </p:txBody>
      </p:sp>
      <p:sp>
        <p:nvSpPr>
          <p:cNvPr id="3" name="Vertikaler Textplatzhalter 2">
            <a:extLst>
              <a:ext uri="{FF2B5EF4-FFF2-40B4-BE49-F238E27FC236}">
                <a16:creationId xmlns:a16="http://schemas.microsoft.com/office/drawing/2014/main" id="{E195A4D4-1668-D04F-967D-F902FA4C881B}"/>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237471A0-C27B-4E45-AD64-7E3CB425BD02}"/>
              </a:ext>
            </a:extLst>
          </p:cNvPr>
          <p:cNvSpPr>
            <a:spLocks noGrp="1"/>
          </p:cNvSpPr>
          <p:nvPr>
            <p:ph type="dt" sz="half" idx="10"/>
          </p:nvPr>
        </p:nvSpPr>
        <p:spPr/>
        <p:txBody>
          <a:bodyPr/>
          <a:lstStyle/>
          <a:p>
            <a:fld id="{583EE5C8-BC55-9445-A28E-2F1386024E96}" type="datetime1">
              <a:rPr lang="de-CH" smtClean="0"/>
              <a:t>16.02.26</a:t>
            </a:fld>
            <a:endParaRPr lang="en-GB"/>
          </a:p>
        </p:txBody>
      </p:sp>
      <p:sp>
        <p:nvSpPr>
          <p:cNvPr id="5" name="Fußzeilenplatzhalter 4">
            <a:extLst>
              <a:ext uri="{FF2B5EF4-FFF2-40B4-BE49-F238E27FC236}">
                <a16:creationId xmlns:a16="http://schemas.microsoft.com/office/drawing/2014/main" id="{98571BE6-ABA2-D540-AB0D-6FCED69FA398}"/>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7D99FACB-8F2D-5A43-8534-F62728EAE039}"/>
              </a:ext>
            </a:extLst>
          </p:cNvPr>
          <p:cNvSpPr>
            <a:spLocks noGrp="1"/>
          </p:cNvSpPr>
          <p:nvPr>
            <p:ph type="sldNum" sz="quarter" idx="12"/>
          </p:nvPr>
        </p:nvSpPr>
        <p:spPr/>
        <p:txBody>
          <a:bodyPr/>
          <a:lstStyle/>
          <a:p>
            <a:fld id="{5CC06646-EDF2-2341-B148-FF1B4C173C76}" type="slidenum">
              <a:rPr lang="en-GB" smtClean="0"/>
              <a:t>‹Nr.›</a:t>
            </a:fld>
            <a:endParaRPr lang="en-GB"/>
          </a:p>
        </p:txBody>
      </p:sp>
    </p:spTree>
    <p:extLst>
      <p:ext uri="{BB962C8B-B14F-4D97-AF65-F5344CB8AC3E}">
        <p14:creationId xmlns:p14="http://schemas.microsoft.com/office/powerpoint/2010/main" val="1240947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C23B82E6-3E7C-1F4B-813D-703EB970F24B}"/>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GB"/>
          </a:p>
        </p:txBody>
      </p:sp>
      <p:sp>
        <p:nvSpPr>
          <p:cNvPr id="3" name="Vertikaler Textplatzhalter 2">
            <a:extLst>
              <a:ext uri="{FF2B5EF4-FFF2-40B4-BE49-F238E27FC236}">
                <a16:creationId xmlns:a16="http://schemas.microsoft.com/office/drawing/2014/main" id="{6B8C6F7B-CFA4-1A4E-971B-E6D1ED2F8A4D}"/>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4E8211F0-1A28-1A40-80F6-7691D651E977}"/>
              </a:ext>
            </a:extLst>
          </p:cNvPr>
          <p:cNvSpPr>
            <a:spLocks noGrp="1"/>
          </p:cNvSpPr>
          <p:nvPr>
            <p:ph type="dt" sz="half" idx="10"/>
          </p:nvPr>
        </p:nvSpPr>
        <p:spPr/>
        <p:txBody>
          <a:bodyPr/>
          <a:lstStyle/>
          <a:p>
            <a:fld id="{0E57E34A-F6D0-E240-885C-C093C4E178C3}" type="datetime1">
              <a:rPr lang="de-CH" smtClean="0"/>
              <a:t>16.02.26</a:t>
            </a:fld>
            <a:endParaRPr lang="en-GB"/>
          </a:p>
        </p:txBody>
      </p:sp>
      <p:sp>
        <p:nvSpPr>
          <p:cNvPr id="5" name="Fußzeilenplatzhalter 4">
            <a:extLst>
              <a:ext uri="{FF2B5EF4-FFF2-40B4-BE49-F238E27FC236}">
                <a16:creationId xmlns:a16="http://schemas.microsoft.com/office/drawing/2014/main" id="{1AA45E10-4468-0744-ABEF-720679DA25A7}"/>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9BC2891C-7927-0F41-9DB6-41DC9CA62E28}"/>
              </a:ext>
            </a:extLst>
          </p:cNvPr>
          <p:cNvSpPr>
            <a:spLocks noGrp="1"/>
          </p:cNvSpPr>
          <p:nvPr>
            <p:ph type="sldNum" sz="quarter" idx="12"/>
          </p:nvPr>
        </p:nvSpPr>
        <p:spPr/>
        <p:txBody>
          <a:bodyPr/>
          <a:lstStyle/>
          <a:p>
            <a:fld id="{5CC06646-EDF2-2341-B148-FF1B4C173C76}" type="slidenum">
              <a:rPr lang="en-GB" smtClean="0"/>
              <a:t>‹Nr.›</a:t>
            </a:fld>
            <a:endParaRPr lang="en-GB"/>
          </a:p>
        </p:txBody>
      </p:sp>
    </p:spTree>
    <p:extLst>
      <p:ext uri="{BB962C8B-B14F-4D97-AF65-F5344CB8AC3E}">
        <p14:creationId xmlns:p14="http://schemas.microsoft.com/office/powerpoint/2010/main" val="1705050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3E68F85A-53FF-C547-BA79-1343D890A7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GB"/>
          </a:p>
        </p:txBody>
      </p:sp>
      <p:sp>
        <p:nvSpPr>
          <p:cNvPr id="3" name="Textplatzhalter 2">
            <a:extLst>
              <a:ext uri="{FF2B5EF4-FFF2-40B4-BE49-F238E27FC236}">
                <a16:creationId xmlns:a16="http://schemas.microsoft.com/office/drawing/2014/main" id="{5877A3DB-FBFE-034B-A4B0-580AD599FC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39DAC9B6-6899-0849-9C16-C5E491FFC7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727152-BAA8-1D4C-BDA2-FAAEE8D8CFE4}" type="datetime1">
              <a:rPr lang="de-CH" smtClean="0"/>
              <a:t>16.02.26</a:t>
            </a:fld>
            <a:endParaRPr lang="en-GB"/>
          </a:p>
        </p:txBody>
      </p:sp>
      <p:sp>
        <p:nvSpPr>
          <p:cNvPr id="5" name="Fußzeilenplatzhalter 4">
            <a:extLst>
              <a:ext uri="{FF2B5EF4-FFF2-40B4-BE49-F238E27FC236}">
                <a16:creationId xmlns:a16="http://schemas.microsoft.com/office/drawing/2014/main" id="{E48052D7-C9C7-AC4A-99D9-17C86E0013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Foliennummernplatzhalter 5">
            <a:extLst>
              <a:ext uri="{FF2B5EF4-FFF2-40B4-BE49-F238E27FC236}">
                <a16:creationId xmlns:a16="http://schemas.microsoft.com/office/drawing/2014/main" id="{C692EE59-67C9-7344-A9BE-9E2A945752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C06646-EDF2-2341-B148-FF1B4C173C76}" type="slidenum">
              <a:rPr lang="en-GB" smtClean="0"/>
              <a:t>‹Nr.›</a:t>
            </a:fld>
            <a:endParaRPr lang="en-GB"/>
          </a:p>
        </p:txBody>
      </p:sp>
    </p:spTree>
    <p:extLst>
      <p:ext uri="{BB962C8B-B14F-4D97-AF65-F5344CB8AC3E}">
        <p14:creationId xmlns:p14="http://schemas.microsoft.com/office/powerpoint/2010/main" val="27160526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www.bcg.com/publications/2025/genai-employee-experience-" TargetMode="External"/><Relationship Id="rId3" Type="http://schemas.openxmlformats.org/officeDocument/2006/relationships/hyperlink" Target="https://aws.amazon.com/de/what-is/structured-data/" TargetMode="External"/><Relationship Id="rId7" Type="http://schemas.openxmlformats.org/officeDocument/2006/relationships/hyperlink" Target="https://www.ibm.com/think/topics/structured-vs-unstructured-data"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www.databricks.com/resources/ebook/train-llms-your-data" TargetMode="External"/><Relationship Id="rId5" Type="http://schemas.openxmlformats.org/officeDocument/2006/relationships/hyperlink" Target="https://www.ibm.com/de-de/think/topics/llm-benchmarks" TargetMode="External"/><Relationship Id="rId4" Type="http://schemas.openxmlformats.org/officeDocument/2006/relationships/hyperlink" Target="https://www.freecodecamp.org/news/choose-the-right-llm-for"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doi.org/10.33564/IJEAST.2021.v05i12.011" TargetMode="External"/><Relationship Id="rId3" Type="http://schemas.openxmlformats.org/officeDocument/2006/relationships/hyperlink" Target="https://doi.org/10.13140/RG.2.2.12184.61445" TargetMode="External"/><Relationship Id="rId7" Type="http://schemas.openxmlformats.org/officeDocument/2006/relationships/hyperlink" Target="https://www.vellum.ai/llm-leaderboard"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www.stratascratch.com/blog/python-" TargetMode="External"/><Relationship Id="rId5" Type="http://schemas.openxmlformats.org/officeDocument/2006/relationships/hyperlink" Target="https://www.stack-ai.com/blog/llm-leaderboard-which-llms-are-best-for-which-tasks" TargetMode="External"/><Relationship Id="rId4" Type="http://schemas.openxmlformats.org/officeDocument/2006/relationships/hyperlink" Target="https://docs.python.org/3/library/threading.html"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9F32E896-BD0C-CE43-8FAE-F81B6C5AAD7D}"/>
              </a:ext>
            </a:extLst>
          </p:cNvPr>
          <p:cNvSpPr/>
          <p:nvPr/>
        </p:nvSpPr>
        <p:spPr>
          <a:xfrm>
            <a:off x="-1" y="2064076"/>
            <a:ext cx="10835014" cy="3864722"/>
          </a:xfrm>
          <a:prstGeom prst="rect">
            <a:avLst/>
          </a:prstGeom>
          <a:solidFill>
            <a:srgbClr val="00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pic>
        <p:nvPicPr>
          <p:cNvPr id="5" name="Grafik 4" descr="Lucerne University HSLU - UNWTO Tourism Academy">
            <a:extLst>
              <a:ext uri="{FF2B5EF4-FFF2-40B4-BE49-F238E27FC236}">
                <a16:creationId xmlns:a16="http://schemas.microsoft.com/office/drawing/2014/main" id="{7F7C9F3A-CBA4-0545-88D8-211A275E708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2589" y="435927"/>
            <a:ext cx="2505404" cy="414503"/>
          </a:xfrm>
          <a:prstGeom prst="rect">
            <a:avLst/>
          </a:prstGeom>
          <a:noFill/>
          <a:ln>
            <a:noFill/>
          </a:ln>
        </p:spPr>
      </p:pic>
      <p:sp>
        <p:nvSpPr>
          <p:cNvPr id="6" name="Textfeld 5">
            <a:extLst>
              <a:ext uri="{FF2B5EF4-FFF2-40B4-BE49-F238E27FC236}">
                <a16:creationId xmlns:a16="http://schemas.microsoft.com/office/drawing/2014/main" id="{751F33CB-EF28-804C-89FC-BA79E93EC614}"/>
              </a:ext>
            </a:extLst>
          </p:cNvPr>
          <p:cNvSpPr txBox="1"/>
          <p:nvPr/>
        </p:nvSpPr>
        <p:spPr>
          <a:xfrm>
            <a:off x="1053791" y="2985377"/>
            <a:ext cx="9104818" cy="1938992"/>
          </a:xfrm>
          <a:prstGeom prst="rect">
            <a:avLst/>
          </a:prstGeom>
          <a:noFill/>
        </p:spPr>
        <p:txBody>
          <a:bodyPr wrap="square" rtlCol="0">
            <a:spAutoFit/>
          </a:bodyPr>
          <a:lstStyle/>
          <a:p>
            <a:r>
              <a:rPr lang="en-US" sz="4000" dirty="0">
                <a:solidFill>
                  <a:schemeClr val="bg1"/>
                </a:solidFill>
                <a:latin typeface="Helvetica" pitchFamily="2" charset="0"/>
              </a:rPr>
              <a:t>Development of a Generative AI-</a:t>
            </a:r>
          </a:p>
          <a:p>
            <a:r>
              <a:rPr lang="en-US" sz="4000" dirty="0">
                <a:solidFill>
                  <a:schemeClr val="bg1"/>
                </a:solidFill>
                <a:latin typeface="Helvetica" pitchFamily="2" charset="0"/>
              </a:rPr>
              <a:t>Based Analytics Tool for Supply Chain</a:t>
            </a:r>
          </a:p>
          <a:p>
            <a:r>
              <a:rPr lang="en-US" sz="4000" dirty="0">
                <a:solidFill>
                  <a:schemeClr val="bg1"/>
                </a:solidFill>
                <a:latin typeface="Helvetica" pitchFamily="2" charset="0"/>
              </a:rPr>
              <a:t>Process Optimization</a:t>
            </a:r>
          </a:p>
        </p:txBody>
      </p:sp>
      <p:sp>
        <p:nvSpPr>
          <p:cNvPr id="7" name="Textfeld 6">
            <a:extLst>
              <a:ext uri="{FF2B5EF4-FFF2-40B4-BE49-F238E27FC236}">
                <a16:creationId xmlns:a16="http://schemas.microsoft.com/office/drawing/2014/main" id="{59268B23-7166-894E-ACC3-4FF3D6580C72}"/>
              </a:ext>
            </a:extLst>
          </p:cNvPr>
          <p:cNvSpPr txBox="1"/>
          <p:nvPr/>
        </p:nvSpPr>
        <p:spPr>
          <a:xfrm>
            <a:off x="1610048" y="114182"/>
            <a:ext cx="9527557" cy="830997"/>
          </a:xfrm>
          <a:prstGeom prst="rect">
            <a:avLst/>
          </a:prstGeom>
          <a:noFill/>
        </p:spPr>
        <p:txBody>
          <a:bodyPr wrap="square" rtlCol="0">
            <a:spAutoFit/>
          </a:bodyPr>
          <a:lstStyle/>
          <a:p>
            <a:pPr algn="ctr"/>
            <a:endParaRPr lang="en-GB" sz="1600" dirty="0">
              <a:latin typeface="Helvetica Light" panose="020B0403020202020204" pitchFamily="34" charset="0"/>
            </a:endParaRPr>
          </a:p>
          <a:p>
            <a:pPr algn="ctr"/>
            <a:r>
              <a:rPr lang="en-GB" sz="1600" dirty="0">
                <a:latin typeface="Helvetica Light" panose="020B0403020202020204" pitchFamily="34" charset="0"/>
              </a:rPr>
              <a:t>Hochschule Luzern | MSD Merck Sharp &amp; Dohme</a:t>
            </a:r>
          </a:p>
          <a:p>
            <a:pPr algn="ctr"/>
            <a:r>
              <a:rPr lang="en-GB" sz="1600" dirty="0">
                <a:latin typeface="Helvetica Light" panose="020B0403020202020204" pitchFamily="34" charset="0"/>
              </a:rPr>
              <a:t> M.Sc. Applied Information and Data Science</a:t>
            </a:r>
          </a:p>
        </p:txBody>
      </p:sp>
      <p:pic>
        <p:nvPicPr>
          <p:cNvPr id="9" name="Grafik 8">
            <a:extLst>
              <a:ext uri="{FF2B5EF4-FFF2-40B4-BE49-F238E27FC236}">
                <a16:creationId xmlns:a16="http://schemas.microsoft.com/office/drawing/2014/main" id="{3DD213F7-1021-C040-8185-D4051C207551}"/>
              </a:ext>
            </a:extLst>
          </p:cNvPr>
          <p:cNvPicPr>
            <a:picLocks noChangeAspect="1"/>
          </p:cNvPicPr>
          <p:nvPr/>
        </p:nvPicPr>
        <p:blipFill>
          <a:blip r:embed="rId4"/>
          <a:stretch>
            <a:fillRect/>
          </a:stretch>
        </p:blipFill>
        <p:spPr>
          <a:xfrm>
            <a:off x="9891529" y="236735"/>
            <a:ext cx="1886969" cy="734031"/>
          </a:xfrm>
          <a:prstGeom prst="rect">
            <a:avLst/>
          </a:prstGeom>
        </p:spPr>
      </p:pic>
      <p:sp>
        <p:nvSpPr>
          <p:cNvPr id="12" name="Textfeld 11">
            <a:extLst>
              <a:ext uri="{FF2B5EF4-FFF2-40B4-BE49-F238E27FC236}">
                <a16:creationId xmlns:a16="http://schemas.microsoft.com/office/drawing/2014/main" id="{03E819AA-1909-E64D-8F05-5B6E18514698}"/>
              </a:ext>
            </a:extLst>
          </p:cNvPr>
          <p:cNvSpPr txBox="1"/>
          <p:nvPr/>
        </p:nvSpPr>
        <p:spPr>
          <a:xfrm>
            <a:off x="1332221" y="5930823"/>
            <a:ext cx="9527557" cy="830997"/>
          </a:xfrm>
          <a:prstGeom prst="rect">
            <a:avLst/>
          </a:prstGeom>
          <a:noFill/>
        </p:spPr>
        <p:txBody>
          <a:bodyPr wrap="square" rtlCol="0">
            <a:spAutoFit/>
          </a:bodyPr>
          <a:lstStyle/>
          <a:p>
            <a:pPr algn="ctr"/>
            <a:endParaRPr lang="en-GB" sz="1600" dirty="0">
              <a:latin typeface="Helvetica Light" panose="020B0403020202020204" pitchFamily="34" charset="0"/>
            </a:endParaRPr>
          </a:p>
          <a:p>
            <a:pPr algn="ctr"/>
            <a:r>
              <a:rPr lang="en-GB" sz="1600" dirty="0">
                <a:latin typeface="Helvetica Light" panose="020B0403020202020204" pitchFamily="34" charset="0"/>
              </a:rPr>
              <a:t>Beat Kessler</a:t>
            </a:r>
          </a:p>
          <a:p>
            <a:pPr algn="ctr"/>
            <a:r>
              <a:rPr lang="en-GB" sz="1600" dirty="0">
                <a:latin typeface="Helvetica Light" panose="020B0403020202020204" pitchFamily="34" charset="0"/>
              </a:rPr>
              <a:t> 09.01.2026</a:t>
            </a:r>
          </a:p>
        </p:txBody>
      </p:sp>
    </p:spTree>
    <p:extLst>
      <p:ext uri="{BB962C8B-B14F-4D97-AF65-F5344CB8AC3E}">
        <p14:creationId xmlns:p14="http://schemas.microsoft.com/office/powerpoint/2010/main" val="1608121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2DF9049-A802-1145-97D7-EF08D953FE9F}"/>
              </a:ext>
            </a:extLst>
          </p:cNvPr>
          <p:cNvSpPr/>
          <p:nvPr/>
        </p:nvSpPr>
        <p:spPr>
          <a:xfrm>
            <a:off x="0" y="1"/>
            <a:ext cx="12192000" cy="819411"/>
          </a:xfrm>
          <a:prstGeom prst="rect">
            <a:avLst/>
          </a:prstGeom>
          <a:solidFill>
            <a:srgbClr val="008E87"/>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2" name="Titel 1">
            <a:extLst>
              <a:ext uri="{FF2B5EF4-FFF2-40B4-BE49-F238E27FC236}">
                <a16:creationId xmlns:a16="http://schemas.microsoft.com/office/drawing/2014/main" id="{BAFC5A98-1CCC-CF47-8074-DECF61561282}"/>
              </a:ext>
            </a:extLst>
          </p:cNvPr>
          <p:cNvSpPr>
            <a:spLocks noGrp="1"/>
          </p:cNvSpPr>
          <p:nvPr>
            <p:ph type="title"/>
          </p:nvPr>
        </p:nvSpPr>
        <p:spPr>
          <a:xfrm>
            <a:off x="838200" y="819412"/>
            <a:ext cx="10515600" cy="1325563"/>
          </a:xfrm>
        </p:spPr>
        <p:txBody>
          <a:bodyPr>
            <a:normAutofit/>
          </a:bodyPr>
          <a:lstStyle/>
          <a:p>
            <a:r>
              <a:rPr lang="de-DE" sz="3600" dirty="0">
                <a:latin typeface="Helvetica" pitchFamily="2" charset="0"/>
              </a:rPr>
              <a:t>Ablauf </a:t>
            </a:r>
          </a:p>
        </p:txBody>
      </p:sp>
      <p:sp>
        <p:nvSpPr>
          <p:cNvPr id="3" name="Inhaltsplatzhalter 2">
            <a:extLst>
              <a:ext uri="{FF2B5EF4-FFF2-40B4-BE49-F238E27FC236}">
                <a16:creationId xmlns:a16="http://schemas.microsoft.com/office/drawing/2014/main" id="{17C49656-AD4E-4540-8F6D-F2D98A844059}"/>
              </a:ext>
            </a:extLst>
          </p:cNvPr>
          <p:cNvSpPr>
            <a:spLocks noGrp="1"/>
          </p:cNvSpPr>
          <p:nvPr>
            <p:ph idx="1"/>
          </p:nvPr>
        </p:nvSpPr>
        <p:spPr>
          <a:xfrm>
            <a:off x="838200" y="1991119"/>
            <a:ext cx="10515600" cy="4422100"/>
          </a:xfrm>
        </p:spPr>
        <p:txBody>
          <a:bodyPr>
            <a:noAutofit/>
          </a:bodyPr>
          <a:lstStyle/>
          <a:p>
            <a:r>
              <a:rPr lang="de-DE" sz="2200" dirty="0">
                <a:latin typeface="Helvetica" pitchFamily="2" charset="0"/>
              </a:rPr>
              <a:t>Hintergrund und Motivation</a:t>
            </a:r>
          </a:p>
          <a:p>
            <a:r>
              <a:rPr lang="de-DE" sz="2200" dirty="0">
                <a:latin typeface="Helvetica" pitchFamily="2" charset="0"/>
              </a:rPr>
              <a:t>Methodik</a:t>
            </a:r>
          </a:p>
          <a:p>
            <a:r>
              <a:rPr lang="de-DE" sz="2200" dirty="0">
                <a:latin typeface="Helvetica" pitchFamily="2" charset="0"/>
              </a:rPr>
              <a:t>Forschungsfrage 1</a:t>
            </a:r>
          </a:p>
          <a:p>
            <a:r>
              <a:rPr lang="de-DE" sz="2200" dirty="0">
                <a:latin typeface="Helvetica" pitchFamily="2" charset="0"/>
              </a:rPr>
              <a:t>Forschungsfrage 2</a:t>
            </a:r>
          </a:p>
          <a:p>
            <a:r>
              <a:rPr lang="de-DE" sz="2200" dirty="0">
                <a:latin typeface="Helvetica" pitchFamily="2" charset="0"/>
              </a:rPr>
              <a:t>Implikationen</a:t>
            </a:r>
          </a:p>
          <a:p>
            <a:pPr lvl="1">
              <a:buFont typeface="Symbol" pitchFamily="2" charset="2"/>
              <a:buChar char="-"/>
            </a:pPr>
            <a:r>
              <a:rPr lang="de-DE" sz="2200" dirty="0">
                <a:latin typeface="Helvetica Light" panose="020B0403020202020204" pitchFamily="34" charset="0"/>
              </a:rPr>
              <a:t>MSD</a:t>
            </a:r>
          </a:p>
          <a:p>
            <a:pPr lvl="1">
              <a:buFont typeface="Symbol" pitchFamily="2" charset="2"/>
              <a:buChar char="-"/>
            </a:pPr>
            <a:r>
              <a:rPr lang="de-DE" sz="2200" dirty="0">
                <a:latin typeface="Helvetica Light" panose="020B0403020202020204" pitchFamily="34" charset="0"/>
              </a:rPr>
              <a:t>Research</a:t>
            </a:r>
          </a:p>
          <a:p>
            <a:pPr marL="0" indent="0">
              <a:buNone/>
            </a:pPr>
            <a:endParaRPr lang="de-DE" sz="2200" dirty="0">
              <a:latin typeface="Helvetica" pitchFamily="2" charset="0"/>
            </a:endParaRPr>
          </a:p>
          <a:p>
            <a:r>
              <a:rPr lang="de-DE" sz="2200" dirty="0">
                <a:latin typeface="Helvetica" pitchFamily="2" charset="0"/>
              </a:rPr>
              <a:t>Diskussion (30 min)</a:t>
            </a:r>
          </a:p>
          <a:p>
            <a:r>
              <a:rPr lang="de-DE" sz="2200" dirty="0">
                <a:latin typeface="Helvetica" pitchFamily="2" charset="0"/>
              </a:rPr>
              <a:t>Live Demo Open Beta</a:t>
            </a:r>
          </a:p>
        </p:txBody>
      </p:sp>
      <p:sp>
        <p:nvSpPr>
          <p:cNvPr id="7" name="Foliennummernplatzhalter 6">
            <a:extLst>
              <a:ext uri="{FF2B5EF4-FFF2-40B4-BE49-F238E27FC236}">
                <a16:creationId xmlns:a16="http://schemas.microsoft.com/office/drawing/2014/main" id="{639A6BBD-E105-6E49-A2C2-C99B90AE6A01}"/>
              </a:ext>
            </a:extLst>
          </p:cNvPr>
          <p:cNvSpPr>
            <a:spLocks noGrp="1"/>
          </p:cNvSpPr>
          <p:nvPr>
            <p:ph type="sldNum" sz="quarter" idx="12"/>
          </p:nvPr>
        </p:nvSpPr>
        <p:spPr/>
        <p:txBody>
          <a:bodyPr/>
          <a:lstStyle/>
          <a:p>
            <a:fld id="{5CC06646-EDF2-2341-B148-FF1B4C173C76}" type="slidenum">
              <a:rPr lang="en-GB" sz="1400" smtClean="0">
                <a:solidFill>
                  <a:schemeClr val="tx1"/>
                </a:solidFill>
                <a:latin typeface="Helvetica" pitchFamily="2" charset="0"/>
              </a:rPr>
              <a:t>2</a:t>
            </a:fld>
            <a:endParaRPr lang="en-GB" sz="1100" dirty="0">
              <a:solidFill>
                <a:schemeClr val="tx1"/>
              </a:solidFill>
              <a:latin typeface="Helvetica" pitchFamily="2" charset="0"/>
            </a:endParaRPr>
          </a:p>
        </p:txBody>
      </p:sp>
    </p:spTree>
    <p:extLst>
      <p:ext uri="{BB962C8B-B14F-4D97-AF65-F5344CB8AC3E}">
        <p14:creationId xmlns:p14="http://schemas.microsoft.com/office/powerpoint/2010/main" val="163220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877B"/>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6DCB1E-DAA1-9646-A44C-D42250D5EE09}"/>
              </a:ext>
            </a:extLst>
          </p:cNvPr>
          <p:cNvSpPr>
            <a:spLocks noGrp="1"/>
          </p:cNvSpPr>
          <p:nvPr>
            <p:ph type="title"/>
          </p:nvPr>
        </p:nvSpPr>
        <p:spPr>
          <a:xfrm>
            <a:off x="838200" y="390001"/>
            <a:ext cx="10515600" cy="1060093"/>
          </a:xfrm>
        </p:spPr>
        <p:txBody>
          <a:bodyPr/>
          <a:lstStyle/>
          <a:p>
            <a:pPr algn="ctr"/>
            <a:r>
              <a:rPr lang="en-GB" b="1" dirty="0">
                <a:solidFill>
                  <a:schemeClr val="bg1"/>
                </a:solidFill>
                <a:latin typeface="Helvetica" pitchFamily="2" charset="0"/>
              </a:rPr>
              <a:t>     MSD AI Strategie</a:t>
            </a:r>
          </a:p>
        </p:txBody>
      </p:sp>
      <p:pic>
        <p:nvPicPr>
          <p:cNvPr id="4" name="Grafik 3">
            <a:extLst>
              <a:ext uri="{FF2B5EF4-FFF2-40B4-BE49-F238E27FC236}">
                <a16:creationId xmlns:a16="http://schemas.microsoft.com/office/drawing/2014/main" id="{CFC31579-BBA7-5248-B57E-8FC2B4BCDE13}"/>
              </a:ext>
            </a:extLst>
          </p:cNvPr>
          <p:cNvPicPr>
            <a:picLocks noChangeAspect="1"/>
          </p:cNvPicPr>
          <p:nvPr/>
        </p:nvPicPr>
        <p:blipFill>
          <a:blip r:embed="rId3"/>
          <a:stretch>
            <a:fillRect/>
          </a:stretch>
        </p:blipFill>
        <p:spPr>
          <a:xfrm>
            <a:off x="8814829" y="578600"/>
            <a:ext cx="2425148" cy="943383"/>
          </a:xfrm>
          <a:prstGeom prst="rect">
            <a:avLst/>
          </a:prstGeom>
        </p:spPr>
      </p:pic>
      <p:sp>
        <p:nvSpPr>
          <p:cNvPr id="5" name="Foliennummernplatzhalter 4">
            <a:extLst>
              <a:ext uri="{FF2B5EF4-FFF2-40B4-BE49-F238E27FC236}">
                <a16:creationId xmlns:a16="http://schemas.microsoft.com/office/drawing/2014/main" id="{D6B5217B-F64D-1D4A-9DEA-25EA87FE036B}"/>
              </a:ext>
            </a:extLst>
          </p:cNvPr>
          <p:cNvSpPr>
            <a:spLocks noGrp="1"/>
          </p:cNvSpPr>
          <p:nvPr>
            <p:ph type="sldNum" sz="quarter" idx="12"/>
          </p:nvPr>
        </p:nvSpPr>
        <p:spPr>
          <a:xfrm>
            <a:off x="8610600" y="6356350"/>
            <a:ext cx="2743200" cy="365125"/>
          </a:xfrm>
        </p:spPr>
        <p:txBody>
          <a:bodyPr/>
          <a:lstStyle/>
          <a:p>
            <a:fld id="{5CC06646-EDF2-2341-B148-FF1B4C173C76}" type="slidenum">
              <a:rPr lang="en-GB" sz="1400" smtClean="0">
                <a:solidFill>
                  <a:schemeClr val="bg1"/>
                </a:solidFill>
                <a:latin typeface="Helvetica" pitchFamily="2" charset="0"/>
              </a:rPr>
              <a:t>3</a:t>
            </a:fld>
            <a:endParaRPr lang="en-GB" dirty="0">
              <a:solidFill>
                <a:schemeClr val="bg1"/>
              </a:solidFill>
              <a:latin typeface="Helvetica" pitchFamily="2" charset="0"/>
            </a:endParaRPr>
          </a:p>
        </p:txBody>
      </p:sp>
      <p:pic>
        <p:nvPicPr>
          <p:cNvPr id="7" name="Graphic 9" descr="Document with solid fill">
            <a:extLst>
              <a:ext uri="{FF2B5EF4-FFF2-40B4-BE49-F238E27FC236}">
                <a16:creationId xmlns:a16="http://schemas.microsoft.com/office/drawing/2014/main" id="{A6517611-2185-814F-8DB2-B4E5DB1CD653}"/>
              </a:ext>
            </a:extLst>
          </p:cNvPr>
          <p:cNvPicPr/>
          <p:nvPr/>
        </p:nvPicPr>
        <p:blipFill>
          <a:blip r:embed="rId4">
            <a:extLst>
              <a:ext uri="{96DAC541-7B7A-43D3-8B79-37D633B846F1}">
                <asvg:svgBlip xmlns:asvg="http://schemas.microsoft.com/office/drawing/2016/SVG/main" r:embed="rId5"/>
              </a:ext>
            </a:extLst>
          </a:blip>
          <a:stretch>
            <a:fillRect/>
          </a:stretch>
        </p:blipFill>
        <p:spPr>
          <a:xfrm>
            <a:off x="1504899" y="2936650"/>
            <a:ext cx="771404" cy="781015"/>
          </a:xfrm>
          <a:prstGeom prst="rect">
            <a:avLst/>
          </a:prstGeom>
        </p:spPr>
      </p:pic>
      <p:pic>
        <p:nvPicPr>
          <p:cNvPr id="8" name="Graphic 50" descr="Database with solid fill">
            <a:extLst>
              <a:ext uri="{FF2B5EF4-FFF2-40B4-BE49-F238E27FC236}">
                <a16:creationId xmlns:a16="http://schemas.microsoft.com/office/drawing/2014/main" id="{EE3EA832-A85F-F142-BD2C-42B68996D308}"/>
              </a:ext>
            </a:extLst>
          </p:cNvPr>
          <p:cNvPicPr/>
          <p:nvPr/>
        </p:nvPicPr>
        <p:blipFill>
          <a:blip r:embed="rId6">
            <a:extLst>
              <a:ext uri="{96DAC541-7B7A-43D3-8B79-37D633B846F1}">
                <asvg:svgBlip xmlns:asvg="http://schemas.microsoft.com/office/drawing/2016/SVG/main" r:embed="rId7"/>
              </a:ext>
            </a:extLst>
          </a:blip>
          <a:stretch>
            <a:fillRect/>
          </a:stretch>
        </p:blipFill>
        <p:spPr>
          <a:xfrm>
            <a:off x="7278296" y="2959946"/>
            <a:ext cx="789629" cy="808725"/>
          </a:xfrm>
          <a:prstGeom prst="rect">
            <a:avLst/>
          </a:prstGeom>
        </p:spPr>
      </p:pic>
      <p:pic>
        <p:nvPicPr>
          <p:cNvPr id="13" name="Grafik 12">
            <a:extLst>
              <a:ext uri="{FF2B5EF4-FFF2-40B4-BE49-F238E27FC236}">
                <a16:creationId xmlns:a16="http://schemas.microsoft.com/office/drawing/2014/main" id="{02C400F9-2FE1-D84D-B45C-9743C47B570E}"/>
              </a:ext>
            </a:extLst>
          </p:cNvPr>
          <p:cNvPicPr>
            <a:picLocks noChangeAspect="1"/>
          </p:cNvPicPr>
          <p:nvPr/>
        </p:nvPicPr>
        <p:blipFill>
          <a:blip r:embed="rId8"/>
          <a:stretch>
            <a:fillRect/>
          </a:stretch>
        </p:blipFill>
        <p:spPr>
          <a:xfrm>
            <a:off x="3611297" y="578600"/>
            <a:ext cx="517068" cy="488269"/>
          </a:xfrm>
          <a:prstGeom prst="rect">
            <a:avLst/>
          </a:prstGeom>
        </p:spPr>
      </p:pic>
      <p:sp>
        <p:nvSpPr>
          <p:cNvPr id="14" name="Titel 1">
            <a:extLst>
              <a:ext uri="{FF2B5EF4-FFF2-40B4-BE49-F238E27FC236}">
                <a16:creationId xmlns:a16="http://schemas.microsoft.com/office/drawing/2014/main" id="{EE6A0C40-93F3-7045-BC2B-B9A180C58BCF}"/>
              </a:ext>
            </a:extLst>
          </p:cNvPr>
          <p:cNvSpPr txBox="1">
            <a:spLocks/>
          </p:cNvSpPr>
          <p:nvPr/>
        </p:nvSpPr>
        <p:spPr>
          <a:xfrm>
            <a:off x="1815668" y="2135992"/>
            <a:ext cx="4857871" cy="61556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400" dirty="0">
                <a:solidFill>
                  <a:schemeClr val="bg1"/>
                </a:solidFill>
                <a:latin typeface="Helvetica" pitchFamily="2" charset="0"/>
              </a:rPr>
              <a:t>Knowledge Management System</a:t>
            </a:r>
          </a:p>
        </p:txBody>
      </p:sp>
      <p:sp>
        <p:nvSpPr>
          <p:cNvPr id="15" name="Titel 1">
            <a:extLst>
              <a:ext uri="{FF2B5EF4-FFF2-40B4-BE49-F238E27FC236}">
                <a16:creationId xmlns:a16="http://schemas.microsoft.com/office/drawing/2014/main" id="{8E5311E2-8F9E-564B-ABBD-481883C6B9A6}"/>
              </a:ext>
            </a:extLst>
          </p:cNvPr>
          <p:cNvSpPr txBox="1">
            <a:spLocks/>
          </p:cNvSpPr>
          <p:nvPr/>
        </p:nvSpPr>
        <p:spPr>
          <a:xfrm>
            <a:off x="7759939" y="2137012"/>
            <a:ext cx="2227708" cy="6155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400" dirty="0">
                <a:solidFill>
                  <a:schemeClr val="bg1"/>
                </a:solidFill>
                <a:latin typeface="Helvetica" pitchFamily="2" charset="0"/>
              </a:rPr>
              <a:t>Data GPTeal</a:t>
            </a:r>
          </a:p>
        </p:txBody>
      </p:sp>
      <p:sp>
        <p:nvSpPr>
          <p:cNvPr id="16" name="Abgerundetes Rechteck 15">
            <a:extLst>
              <a:ext uri="{FF2B5EF4-FFF2-40B4-BE49-F238E27FC236}">
                <a16:creationId xmlns:a16="http://schemas.microsoft.com/office/drawing/2014/main" id="{378F798F-3EC3-0D45-B9C0-631D2880F022}"/>
              </a:ext>
            </a:extLst>
          </p:cNvPr>
          <p:cNvSpPr/>
          <p:nvPr/>
        </p:nvSpPr>
        <p:spPr>
          <a:xfrm>
            <a:off x="1594597" y="2065291"/>
            <a:ext cx="5078942" cy="722187"/>
          </a:xfrm>
          <a:prstGeom prst="roundRect">
            <a:avLst/>
          </a:prstGeom>
          <a:noFill/>
          <a:ln w="222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ln>
                <a:solidFill>
                  <a:schemeClr val="bg1"/>
                </a:solidFill>
              </a:ln>
              <a:solidFill>
                <a:schemeClr val="bg1"/>
              </a:solidFill>
            </a:endParaRPr>
          </a:p>
        </p:txBody>
      </p:sp>
      <p:sp>
        <p:nvSpPr>
          <p:cNvPr id="17" name="Abgerundetes Rechteck 16">
            <a:extLst>
              <a:ext uri="{FF2B5EF4-FFF2-40B4-BE49-F238E27FC236}">
                <a16:creationId xmlns:a16="http://schemas.microsoft.com/office/drawing/2014/main" id="{21B468C2-10B9-3945-9C62-28DE5BCF34C6}"/>
              </a:ext>
            </a:extLst>
          </p:cNvPr>
          <p:cNvSpPr/>
          <p:nvPr/>
        </p:nvSpPr>
        <p:spPr>
          <a:xfrm>
            <a:off x="7403473" y="2068503"/>
            <a:ext cx="2743200" cy="722187"/>
          </a:xfrm>
          <a:prstGeom prst="roundRect">
            <a:avLst/>
          </a:prstGeom>
          <a:noFill/>
          <a:ln w="222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ln>
                <a:solidFill>
                  <a:schemeClr val="bg1"/>
                </a:solidFill>
              </a:ln>
              <a:solidFill>
                <a:schemeClr val="bg1"/>
              </a:solidFill>
            </a:endParaRPr>
          </a:p>
        </p:txBody>
      </p:sp>
      <p:sp>
        <p:nvSpPr>
          <p:cNvPr id="20" name="Abgerundetes Rechteck 19">
            <a:extLst>
              <a:ext uri="{FF2B5EF4-FFF2-40B4-BE49-F238E27FC236}">
                <a16:creationId xmlns:a16="http://schemas.microsoft.com/office/drawing/2014/main" id="{57744337-C0BF-854A-852D-CBCC1E22F246}"/>
              </a:ext>
            </a:extLst>
          </p:cNvPr>
          <p:cNvSpPr/>
          <p:nvPr/>
        </p:nvSpPr>
        <p:spPr>
          <a:xfrm>
            <a:off x="4128365" y="5616897"/>
            <a:ext cx="4601408" cy="726009"/>
          </a:xfrm>
          <a:prstGeom prst="roundRect">
            <a:avLst/>
          </a:prstGeom>
          <a:noFill/>
          <a:ln w="222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ln>
                <a:solidFill>
                  <a:schemeClr val="bg1"/>
                </a:solidFill>
              </a:ln>
              <a:solidFill>
                <a:schemeClr val="bg1"/>
              </a:solidFill>
            </a:endParaRPr>
          </a:p>
        </p:txBody>
      </p:sp>
      <p:sp>
        <p:nvSpPr>
          <p:cNvPr id="21" name="Titel 1">
            <a:extLst>
              <a:ext uri="{FF2B5EF4-FFF2-40B4-BE49-F238E27FC236}">
                <a16:creationId xmlns:a16="http://schemas.microsoft.com/office/drawing/2014/main" id="{98EB0A45-4198-6041-BE59-6062A4447BD5}"/>
              </a:ext>
            </a:extLst>
          </p:cNvPr>
          <p:cNvSpPr txBox="1">
            <a:spLocks/>
          </p:cNvSpPr>
          <p:nvPr/>
        </p:nvSpPr>
        <p:spPr>
          <a:xfrm>
            <a:off x="4578939" y="5669998"/>
            <a:ext cx="3637410" cy="61556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400" dirty="0">
                <a:solidFill>
                  <a:schemeClr val="bg1"/>
                </a:solidFill>
                <a:latin typeface="Helvetica" pitchFamily="2" charset="0"/>
              </a:rPr>
              <a:t>Forschungsfragen 1 &amp; 2</a:t>
            </a:r>
          </a:p>
        </p:txBody>
      </p:sp>
      <p:sp>
        <p:nvSpPr>
          <p:cNvPr id="22" name="Titel 1">
            <a:extLst>
              <a:ext uri="{FF2B5EF4-FFF2-40B4-BE49-F238E27FC236}">
                <a16:creationId xmlns:a16="http://schemas.microsoft.com/office/drawing/2014/main" id="{9E3726C8-BB32-854D-BBF9-A520B2848D28}"/>
              </a:ext>
            </a:extLst>
          </p:cNvPr>
          <p:cNvSpPr txBox="1">
            <a:spLocks/>
          </p:cNvSpPr>
          <p:nvPr/>
        </p:nvSpPr>
        <p:spPr>
          <a:xfrm>
            <a:off x="2220548" y="3115843"/>
            <a:ext cx="2841783" cy="61556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000" dirty="0">
                <a:solidFill>
                  <a:schemeClr val="bg1"/>
                </a:solidFill>
                <a:latin typeface="Helvetica" pitchFamily="2" charset="0"/>
              </a:rPr>
              <a:t>Unstrukturierte Daten</a:t>
            </a:r>
          </a:p>
        </p:txBody>
      </p:sp>
      <p:sp>
        <p:nvSpPr>
          <p:cNvPr id="23" name="Titel 1">
            <a:extLst>
              <a:ext uri="{FF2B5EF4-FFF2-40B4-BE49-F238E27FC236}">
                <a16:creationId xmlns:a16="http://schemas.microsoft.com/office/drawing/2014/main" id="{09039290-5839-BD4C-A97E-907B68FCF688}"/>
              </a:ext>
            </a:extLst>
          </p:cNvPr>
          <p:cNvSpPr txBox="1">
            <a:spLocks/>
          </p:cNvSpPr>
          <p:nvPr/>
        </p:nvSpPr>
        <p:spPr>
          <a:xfrm>
            <a:off x="8067925" y="3091963"/>
            <a:ext cx="2539663" cy="61556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000" dirty="0">
                <a:solidFill>
                  <a:schemeClr val="bg1"/>
                </a:solidFill>
                <a:latin typeface="Helvetica" pitchFamily="2" charset="0"/>
              </a:rPr>
              <a:t>Strukturierte Daten</a:t>
            </a:r>
          </a:p>
        </p:txBody>
      </p:sp>
      <p:sp>
        <p:nvSpPr>
          <p:cNvPr id="26" name="Eckige Klammer rechts 25">
            <a:extLst>
              <a:ext uri="{FF2B5EF4-FFF2-40B4-BE49-F238E27FC236}">
                <a16:creationId xmlns:a16="http://schemas.microsoft.com/office/drawing/2014/main" id="{32903139-D47B-5249-ABBD-BEB6CD512ECD}"/>
              </a:ext>
            </a:extLst>
          </p:cNvPr>
          <p:cNvSpPr/>
          <p:nvPr/>
        </p:nvSpPr>
        <p:spPr>
          <a:xfrm rot="16200000">
            <a:off x="6083300" y="-880954"/>
            <a:ext cx="219757" cy="5313082"/>
          </a:xfrm>
          <a:prstGeom prst="rightBracket">
            <a:avLst>
              <a:gd name="adj" fmla="val 88889"/>
            </a:avLst>
          </a:prstGeom>
          <a:ln w="285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28" name="Gerade Verbindung 27">
            <a:extLst>
              <a:ext uri="{FF2B5EF4-FFF2-40B4-BE49-F238E27FC236}">
                <a16:creationId xmlns:a16="http://schemas.microsoft.com/office/drawing/2014/main" id="{7BFF695E-93BB-B945-98FD-893A4515D242}"/>
              </a:ext>
            </a:extLst>
          </p:cNvPr>
          <p:cNvCxnSpPr>
            <a:cxnSpLocks/>
          </p:cNvCxnSpPr>
          <p:nvPr/>
        </p:nvCxnSpPr>
        <p:spPr>
          <a:xfrm flipV="1">
            <a:off x="6288170" y="1267509"/>
            <a:ext cx="0" cy="39819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Eckige Klammer rechts 29">
            <a:extLst>
              <a:ext uri="{FF2B5EF4-FFF2-40B4-BE49-F238E27FC236}">
                <a16:creationId xmlns:a16="http://schemas.microsoft.com/office/drawing/2014/main" id="{E04AA5F7-6219-C648-B91B-384D2AA944AB}"/>
              </a:ext>
            </a:extLst>
          </p:cNvPr>
          <p:cNvSpPr/>
          <p:nvPr/>
        </p:nvSpPr>
        <p:spPr>
          <a:xfrm rot="5400000">
            <a:off x="6066574" y="1269021"/>
            <a:ext cx="219757" cy="5313082"/>
          </a:xfrm>
          <a:prstGeom prst="rightBracket">
            <a:avLst>
              <a:gd name="adj" fmla="val 88889"/>
            </a:avLst>
          </a:prstGeom>
          <a:ln w="285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31" name="Gerade Verbindung 30">
            <a:extLst>
              <a:ext uri="{FF2B5EF4-FFF2-40B4-BE49-F238E27FC236}">
                <a16:creationId xmlns:a16="http://schemas.microsoft.com/office/drawing/2014/main" id="{E8D46A4E-1457-8E4E-950B-74EBD8BD2E5A}"/>
              </a:ext>
            </a:extLst>
          </p:cNvPr>
          <p:cNvCxnSpPr>
            <a:cxnSpLocks/>
          </p:cNvCxnSpPr>
          <p:nvPr/>
        </p:nvCxnSpPr>
        <p:spPr>
          <a:xfrm flipV="1">
            <a:off x="6265947" y="4035441"/>
            <a:ext cx="0" cy="39819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Abgerundetes Rechteck 31">
            <a:extLst>
              <a:ext uri="{FF2B5EF4-FFF2-40B4-BE49-F238E27FC236}">
                <a16:creationId xmlns:a16="http://schemas.microsoft.com/office/drawing/2014/main" id="{1C14F204-3074-9741-8379-85C7D2FCF23F}"/>
              </a:ext>
            </a:extLst>
          </p:cNvPr>
          <p:cNvSpPr/>
          <p:nvPr/>
        </p:nvSpPr>
        <p:spPr>
          <a:xfrm>
            <a:off x="4128365" y="4444502"/>
            <a:ext cx="4601408" cy="726009"/>
          </a:xfrm>
          <a:prstGeom prst="roundRect">
            <a:avLst/>
          </a:prstGeom>
          <a:noFill/>
          <a:ln w="222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ln>
                <a:solidFill>
                  <a:schemeClr val="bg1"/>
                </a:solidFill>
              </a:ln>
              <a:solidFill>
                <a:schemeClr val="bg1"/>
              </a:solidFill>
            </a:endParaRPr>
          </a:p>
        </p:txBody>
      </p:sp>
      <p:sp>
        <p:nvSpPr>
          <p:cNvPr id="33" name="Titel 1">
            <a:extLst>
              <a:ext uri="{FF2B5EF4-FFF2-40B4-BE49-F238E27FC236}">
                <a16:creationId xmlns:a16="http://schemas.microsoft.com/office/drawing/2014/main" id="{B7ACFF7A-26DC-084D-B18E-DA7DFFA58BCB}"/>
              </a:ext>
            </a:extLst>
          </p:cNvPr>
          <p:cNvSpPr txBox="1">
            <a:spLocks/>
          </p:cNvSpPr>
          <p:nvPr/>
        </p:nvSpPr>
        <p:spPr>
          <a:xfrm>
            <a:off x="4623211" y="4516265"/>
            <a:ext cx="3593138" cy="61556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400" dirty="0">
                <a:solidFill>
                  <a:schemeClr val="bg1"/>
                </a:solidFill>
                <a:latin typeface="Helvetica" pitchFamily="2" charset="0"/>
              </a:rPr>
              <a:t>GenAI-basierte Modelle</a:t>
            </a:r>
          </a:p>
        </p:txBody>
      </p:sp>
      <p:cxnSp>
        <p:nvCxnSpPr>
          <p:cNvPr id="34" name="Gerade Verbindung 33">
            <a:extLst>
              <a:ext uri="{FF2B5EF4-FFF2-40B4-BE49-F238E27FC236}">
                <a16:creationId xmlns:a16="http://schemas.microsoft.com/office/drawing/2014/main" id="{EE805344-7C32-BB40-958D-C8D0CF0974BF}"/>
              </a:ext>
            </a:extLst>
          </p:cNvPr>
          <p:cNvCxnSpPr>
            <a:cxnSpLocks/>
          </p:cNvCxnSpPr>
          <p:nvPr/>
        </p:nvCxnSpPr>
        <p:spPr>
          <a:xfrm flipV="1">
            <a:off x="6266321" y="5189173"/>
            <a:ext cx="0" cy="39819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1676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0C63F5B-F075-084B-A509-3D28DD49742F}"/>
              </a:ext>
            </a:extLst>
          </p:cNvPr>
          <p:cNvSpPr/>
          <p:nvPr/>
        </p:nvSpPr>
        <p:spPr>
          <a:xfrm>
            <a:off x="574963" y="5767433"/>
            <a:ext cx="10716315" cy="433050"/>
          </a:xfrm>
          <a:prstGeom prst="rect">
            <a:avLst/>
          </a:prstGeom>
          <a:solidFill>
            <a:srgbClr val="009997">
              <a:alpha val="25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p>
        </p:txBody>
      </p:sp>
      <p:sp useBgFill="1">
        <p:nvSpPr>
          <p:cNvPr id="30" name="Rectangle 13">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liennummernplatzhalter 7">
            <a:extLst>
              <a:ext uri="{FF2B5EF4-FFF2-40B4-BE49-F238E27FC236}">
                <a16:creationId xmlns:a16="http://schemas.microsoft.com/office/drawing/2014/main" id="{AB407B03-690E-9C41-B4D2-7C71556A3E3A}"/>
              </a:ext>
            </a:extLst>
          </p:cNvPr>
          <p:cNvSpPr>
            <a:spLocks noGrp="1"/>
          </p:cNvSpPr>
          <p:nvPr>
            <p:ph type="sldNum" sz="quarter" idx="12"/>
          </p:nvPr>
        </p:nvSpPr>
        <p:spPr>
          <a:xfrm>
            <a:off x="8610600" y="6365070"/>
            <a:ext cx="2743200" cy="365125"/>
          </a:xfrm>
        </p:spPr>
        <p:txBody>
          <a:bodyPr>
            <a:normAutofit/>
          </a:bodyPr>
          <a:lstStyle/>
          <a:p>
            <a:pPr>
              <a:spcAft>
                <a:spcPts val="600"/>
              </a:spcAft>
            </a:pPr>
            <a:fld id="{5CC06646-EDF2-2341-B148-FF1B4C173C76}" type="slidenum">
              <a:rPr lang="en-GB" sz="1400" smtClean="0">
                <a:solidFill>
                  <a:schemeClr val="tx1"/>
                </a:solidFill>
                <a:latin typeface="Helvetica" pitchFamily="2" charset="0"/>
              </a:rPr>
              <a:pPr>
                <a:spcAft>
                  <a:spcPts val="600"/>
                </a:spcAft>
              </a:pPr>
              <a:t>4</a:t>
            </a:fld>
            <a:endParaRPr lang="en-GB" sz="1400" dirty="0">
              <a:solidFill>
                <a:schemeClr val="tx1"/>
              </a:solidFill>
              <a:latin typeface="Helvetica" pitchFamily="2" charset="0"/>
            </a:endParaRPr>
          </a:p>
        </p:txBody>
      </p:sp>
      <p:graphicFrame>
        <p:nvGraphicFramePr>
          <p:cNvPr id="9" name="Inhaltsplatzhalter 8">
            <a:extLst>
              <a:ext uri="{FF2B5EF4-FFF2-40B4-BE49-F238E27FC236}">
                <a16:creationId xmlns:a16="http://schemas.microsoft.com/office/drawing/2014/main" id="{F300520E-82C4-384E-82AA-618EFAAF2535}"/>
              </a:ext>
            </a:extLst>
          </p:cNvPr>
          <p:cNvGraphicFramePr>
            <a:graphicFrameLocks noGrp="1"/>
          </p:cNvGraphicFramePr>
          <p:nvPr>
            <p:ph idx="1"/>
            <p:extLst>
              <p:ext uri="{D42A27DB-BD31-4B8C-83A1-F6EECF244321}">
                <p14:modId xmlns:p14="http://schemas.microsoft.com/office/powerpoint/2010/main" val="290001663"/>
              </p:ext>
            </p:extLst>
          </p:nvPr>
        </p:nvGraphicFramePr>
        <p:xfrm>
          <a:off x="574962" y="2796508"/>
          <a:ext cx="10778837" cy="3568562"/>
        </p:xfrm>
        <a:graphic>
          <a:graphicData uri="http://schemas.openxmlformats.org/drawingml/2006/table">
            <a:tbl>
              <a:tblPr firstRow="1" firstCol="1" bandRow="1"/>
              <a:tblGrid>
                <a:gridCol w="1139021">
                  <a:extLst>
                    <a:ext uri="{9D8B030D-6E8A-4147-A177-3AD203B41FA5}">
                      <a16:colId xmlns:a16="http://schemas.microsoft.com/office/drawing/2014/main" val="3017606733"/>
                    </a:ext>
                  </a:extLst>
                </a:gridCol>
                <a:gridCol w="3131298">
                  <a:extLst>
                    <a:ext uri="{9D8B030D-6E8A-4147-A177-3AD203B41FA5}">
                      <a16:colId xmlns:a16="http://schemas.microsoft.com/office/drawing/2014/main" val="1337469475"/>
                    </a:ext>
                  </a:extLst>
                </a:gridCol>
                <a:gridCol w="3254259">
                  <a:extLst>
                    <a:ext uri="{9D8B030D-6E8A-4147-A177-3AD203B41FA5}">
                      <a16:colId xmlns:a16="http://schemas.microsoft.com/office/drawing/2014/main" val="457587611"/>
                    </a:ext>
                  </a:extLst>
                </a:gridCol>
                <a:gridCol w="3254259">
                  <a:extLst>
                    <a:ext uri="{9D8B030D-6E8A-4147-A177-3AD203B41FA5}">
                      <a16:colId xmlns:a16="http://schemas.microsoft.com/office/drawing/2014/main" val="2512288974"/>
                    </a:ext>
                  </a:extLst>
                </a:gridCol>
              </a:tblGrid>
              <a:tr h="443792">
                <a:tc gridSpan="4">
                  <a:txBody>
                    <a:bodyPr/>
                    <a:lstStyle/>
                    <a:p>
                      <a:pPr algn="ctr" fontAlgn="ctr">
                        <a:buNone/>
                      </a:pPr>
                      <a:r>
                        <a:rPr lang="en-US" sz="1700" b="0" i="0" u="none" strike="noStrike" dirty="0">
                          <a:solidFill>
                            <a:srgbClr val="000000"/>
                          </a:solidFill>
                          <a:effectLst/>
                          <a:latin typeface="Helvetica" panose="020B0604020202020204" pitchFamily="34" charset="0"/>
                          <a:ea typeface="Times New Roman" panose="02020603050405020304" pitchFamily="18" charset="0"/>
                          <a:cs typeface="Helvetica" panose="020B0604020202020204" pitchFamily="34" charset="0"/>
                        </a:rPr>
                        <a:t>GenAI Models</a:t>
                      </a:r>
                      <a:endParaRPr lang="en-US" sz="2500" b="0" i="0" u="none" strike="noStrike" dirty="0">
                        <a:effectLst/>
                        <a:latin typeface="Arial" panose="020B0604020202020204" pitchFamily="34" charset="0"/>
                      </a:endParaRPr>
                    </a:p>
                  </a:txBody>
                  <a:tcPr marL="126599" marR="126599" marT="63299" marB="6329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pPr algn="ctr" fontAlgn="ctr">
                        <a:buNone/>
                      </a:pPr>
                      <a:endParaRPr lang="en-US" sz="2500" b="0" i="0" u="none" strike="noStrike" dirty="0">
                        <a:effectLst/>
                        <a:latin typeface="Arial" panose="020B0604020202020204" pitchFamily="34" charset="0"/>
                      </a:endParaRPr>
                    </a:p>
                  </a:txBody>
                  <a:tcPr marL="126599" marR="126599" marT="63299" marB="632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pPr algn="ctr" fontAlgn="ctr">
                        <a:buNone/>
                      </a:pPr>
                      <a:endParaRPr lang="en-US" sz="2500" b="0" i="0" u="none" strike="noStrike" dirty="0">
                        <a:effectLst/>
                        <a:latin typeface="Arial" panose="020B0604020202020204" pitchFamily="34" charset="0"/>
                      </a:endParaRPr>
                    </a:p>
                  </a:txBody>
                  <a:tcPr marL="126599" marR="126599" marT="63299" marB="63299">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kumimoji="0" lang="en-US" sz="25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397195251"/>
                  </a:ext>
                </a:extLst>
              </a:tr>
              <a:tr h="340399">
                <a:tc>
                  <a:txBody>
                    <a:bodyPr/>
                    <a:lstStyle/>
                    <a:p>
                      <a:pPr algn="ctr" fontAlgn="ctr">
                        <a:buNone/>
                      </a:pPr>
                      <a:r>
                        <a:rPr lang="en-US" sz="1400" b="0" i="0" u="none" strike="noStrike" dirty="0">
                          <a:solidFill>
                            <a:srgbClr val="000000"/>
                          </a:solidFill>
                          <a:effectLst/>
                          <a:latin typeface="Helvetica" panose="020B0604020202020204" pitchFamily="34" charset="0"/>
                          <a:ea typeface="Times New Roman" panose="02020603050405020304" pitchFamily="18" charset="0"/>
                          <a:cs typeface="Helvetica" panose="020B0604020202020204" pitchFamily="34" charset="0"/>
                        </a:rPr>
                        <a:t>Model</a:t>
                      </a:r>
                      <a:endParaRPr lang="en-US" sz="2500" b="0" i="0" u="none" strike="noStrike"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400" b="0" i="0" u="none" strike="noStrike">
                          <a:solidFill>
                            <a:srgbClr val="000000"/>
                          </a:solidFill>
                          <a:effectLst/>
                          <a:latin typeface="Helvetica" panose="020B0604020202020204" pitchFamily="34" charset="0"/>
                          <a:ea typeface="Times New Roman" panose="02020603050405020304" pitchFamily="18" charset="0"/>
                          <a:cs typeface="Helvetica" panose="020B0604020202020204" pitchFamily="34" charset="0"/>
                        </a:rPr>
                        <a:t>Alpha Version</a:t>
                      </a:r>
                      <a:endParaRPr lang="en-US" sz="2500" b="0" i="0" u="none" strike="noStrike">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400" b="0" i="0" u="none" strike="noStrike" dirty="0">
                          <a:solidFill>
                            <a:srgbClr val="000000"/>
                          </a:solidFill>
                          <a:effectLst/>
                          <a:latin typeface="Helvetica" panose="020B0604020202020204" pitchFamily="34" charset="0"/>
                          <a:ea typeface="Times New Roman" panose="02020603050405020304" pitchFamily="18" charset="0"/>
                          <a:cs typeface="Helvetica" panose="020B0604020202020204" pitchFamily="34" charset="0"/>
                        </a:rPr>
                        <a:t>Open Beta</a:t>
                      </a:r>
                      <a:endParaRPr lang="en-US" sz="2500" b="0" i="0" u="none" strike="noStrike"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algn="ctr" fontAlgn="ctr">
                        <a:buNone/>
                      </a:pPr>
                      <a:r>
                        <a:rPr lang="en-US" sz="1400" b="0" i="0" u="none" strike="noStrike" dirty="0">
                          <a:solidFill>
                            <a:srgbClr val="000000"/>
                          </a:solidFill>
                          <a:effectLst/>
                          <a:latin typeface="Helvetica" panose="020B0604020202020204" pitchFamily="34" charset="0"/>
                          <a:ea typeface="Times New Roman" panose="02020603050405020304" pitchFamily="18" charset="0"/>
                          <a:cs typeface="Helvetica" panose="020B0604020202020204" pitchFamily="34" charset="0"/>
                        </a:rPr>
                        <a:t>Insight Retriever</a:t>
                      </a:r>
                      <a:endParaRPr lang="en-US" sz="2500" b="0" i="0" u="none" strike="noStrike"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924849673"/>
                  </a:ext>
                </a:extLst>
              </a:tr>
              <a:tr h="568156">
                <a:tc>
                  <a:txBody>
                    <a:bodyPr/>
                    <a:lstStyle/>
                    <a:p>
                      <a:pPr algn="ctr" fontAlgn="ctr">
                        <a:buNone/>
                      </a:pPr>
                      <a:r>
                        <a:rPr lang="de-DE" sz="1400" b="0" i="0" u="none" strike="noStrike" noProof="0" dirty="0">
                          <a:effectLst/>
                          <a:latin typeface="Helvetica" panose="020B0604020202020204" pitchFamily="34" charset="0"/>
                          <a:ea typeface="Times New Roman" panose="02020603050405020304" pitchFamily="18" charset="0"/>
                          <a:cs typeface="Helvetica" panose="020B0604020202020204" pitchFamily="34" charset="0"/>
                        </a:rPr>
                        <a:t>Datentypen</a:t>
                      </a:r>
                      <a:endParaRPr lang="de-DE" sz="2500" b="0" i="0" u="none" strike="noStrike" noProof="0"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a:t>
                      </a:r>
                      <a:r>
                        <a:rPr lang="de-DE" sz="1400" b="0" i="0" u="none" strike="noStrike" noProof="0" dirty="0">
                          <a:effectLst/>
                          <a:latin typeface="Helvetica" panose="020B0604020202020204" pitchFamily="34" charset="0"/>
                          <a:ea typeface="Times New Roman" panose="02020603050405020304" pitchFamily="18" charset="0"/>
                          <a:cs typeface="Helvetica" panose="020B0604020202020204" pitchFamily="34" charset="0"/>
                        </a:rPr>
                        <a:t>Unstrukturierte Daten</a:t>
                      </a:r>
                      <a:endParaRPr lang="de-DE" sz="2500" b="0" i="0" u="none" strike="noStrike" noProof="0"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a:t>
                      </a:r>
                      <a:r>
                        <a:rPr lang="de-DE" sz="1400" b="0" i="0" u="none" strike="noStrike" noProof="0" dirty="0">
                          <a:effectLst/>
                          <a:latin typeface="Helvetica" panose="020B0604020202020204" pitchFamily="34" charset="0"/>
                          <a:ea typeface="Times New Roman" panose="02020603050405020304" pitchFamily="18" charset="0"/>
                          <a:cs typeface="Helvetica" panose="020B0604020202020204" pitchFamily="34" charset="0"/>
                        </a:rPr>
                        <a:t>Unstrukturierte Daten</a:t>
                      </a:r>
                      <a:b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b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a:t>
                      </a:r>
                      <a:r>
                        <a:rPr lang="en-US" sz="1400" b="0" i="0" u="none" strike="noStrike" noProof="1">
                          <a:effectLst/>
                          <a:latin typeface="Helvetica" panose="020B0604020202020204" pitchFamily="34" charset="0"/>
                          <a:ea typeface="Times New Roman" panose="02020603050405020304" pitchFamily="18" charset="0"/>
                          <a:cs typeface="Helvetica" panose="020B0604020202020204" pitchFamily="34" charset="0"/>
                        </a:rPr>
                        <a:t>Simulierte</a:t>
                      </a: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a:t>
                      </a:r>
                      <a:r>
                        <a:rPr lang="de-DE" sz="1400" b="0" i="0" u="none" strike="noStrike" noProof="0" dirty="0">
                          <a:effectLst/>
                          <a:latin typeface="Helvetica" panose="020B0604020202020204" pitchFamily="34" charset="0"/>
                          <a:ea typeface="Times New Roman" panose="02020603050405020304" pitchFamily="18" charset="0"/>
                          <a:cs typeface="Helvetica" panose="020B0604020202020204" pitchFamily="34" charset="0"/>
                        </a:rPr>
                        <a:t>Strukturierte Daten)</a:t>
                      </a:r>
                      <a:endParaRPr lang="de-DE" sz="2500" b="0" i="0" u="none" strike="noStrike" noProof="0"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a:t>
                      </a:r>
                      <a:r>
                        <a:rPr lang="de-DE" sz="1400" b="0" i="0" u="none" strike="noStrike" noProof="0" dirty="0">
                          <a:effectLst/>
                          <a:latin typeface="Helvetica" panose="020B0604020202020204" pitchFamily="34" charset="0"/>
                          <a:ea typeface="Times New Roman" panose="02020603050405020304" pitchFamily="18" charset="0"/>
                          <a:cs typeface="Helvetica" panose="020B0604020202020204" pitchFamily="34" charset="0"/>
                        </a:rPr>
                        <a:t>Unstrukturierte Daten</a:t>
                      </a:r>
                      <a:b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b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Strukturierte Daten</a:t>
                      </a:r>
                      <a:endParaRPr lang="en-US" sz="2500" b="0" i="0" u="none" strike="noStrike"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0884083"/>
                  </a:ext>
                </a:extLst>
              </a:tr>
              <a:tr h="774949">
                <a:tc>
                  <a:txBody>
                    <a:bodyPr/>
                    <a:lstStyle/>
                    <a:p>
                      <a:pPr algn="ctr" fontAlgn="ctr">
                        <a:buNone/>
                      </a:pPr>
                      <a:r>
                        <a:rPr lang="de-DE"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Te</a:t>
                      </a:r>
                      <a:r>
                        <a:rPr lang="de-DE" sz="1400" b="0" i="0" u="none" strike="noStrike" noProof="0" dirty="0">
                          <a:effectLst/>
                          <a:latin typeface="Helvetica" panose="020B0604020202020204" pitchFamily="34" charset="0"/>
                          <a:ea typeface="Times New Roman" panose="02020603050405020304" pitchFamily="18" charset="0"/>
                          <a:cs typeface="Helvetica" panose="020B0604020202020204" pitchFamily="34" charset="0"/>
                        </a:rPr>
                        <a:t>ilprojek</a:t>
                      </a:r>
                      <a:r>
                        <a:rPr lang="de-DE"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t</a:t>
                      </a:r>
                      <a:endParaRPr lang="de-DE" sz="2500" b="0" i="0" u="none" strike="noStrike"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Knowledge Management System         </a:t>
                      </a:r>
                      <a:endParaRPr lang="en-US" sz="2500" b="0" i="0" u="none" strike="noStrike"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Knowledge Management System</a:t>
                      </a:r>
                      <a:endParaRPr lang="en-US" sz="2500" b="0" i="0" u="none" strike="noStrike"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Knowledge Management</a:t>
                      </a:r>
                      <a:b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b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Data GPTeal</a:t>
                      </a:r>
                      <a:endParaRPr lang="en-US" sz="2500" b="0" i="0" u="none" strike="noStrike"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6529764"/>
                  </a:ext>
                </a:extLst>
              </a:tr>
              <a:tr h="954799">
                <a:tc>
                  <a:txBody>
                    <a:bodyPr/>
                    <a:lstStyle/>
                    <a:p>
                      <a:pPr algn="ctr" fontAlgn="ctr">
                        <a:buNone/>
                      </a:pPr>
                      <a:r>
                        <a:rPr lang="de-DE" sz="1400" b="0" i="0" u="none" strike="noStrike" noProof="0" dirty="0">
                          <a:effectLst/>
                          <a:latin typeface="Helvetica" panose="020B0604020202020204" pitchFamily="34" charset="0"/>
                          <a:ea typeface="Times New Roman" panose="02020603050405020304" pitchFamily="18" charset="0"/>
                          <a:cs typeface="Helvetica" panose="020B0604020202020204" pitchFamily="34" charset="0"/>
                        </a:rPr>
                        <a:t>Inhaltlicher Umfang</a:t>
                      </a:r>
                      <a:endParaRPr lang="de-DE" sz="2500" b="0" i="0" u="none" strike="noStrike" noProof="0"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Quality Documents (QDocs)  </a:t>
                      </a:r>
                      <a:r>
                        <a:rPr lang="en-US" sz="1400" b="1" i="0" u="none" strike="noStrike" dirty="0">
                          <a:effectLst/>
                          <a:latin typeface="Helvetica" panose="020B0604020202020204" pitchFamily="34" charset="0"/>
                          <a:ea typeface="Times New Roman" panose="02020603050405020304" pitchFamily="18" charset="0"/>
                          <a:cs typeface="Helvetica" panose="020B0604020202020204" pitchFamily="34" charset="0"/>
                        </a:rPr>
                        <a:t>(1 K)</a:t>
                      </a:r>
                      <a:endParaRPr lang="en-US" sz="2500" b="0" i="0" u="none" strike="noStrike"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Quality Documents (QDocs) </a:t>
                      </a:r>
                      <a:r>
                        <a:rPr lang="en-US" sz="1400" b="1" i="0" u="none" strike="noStrike" dirty="0">
                          <a:effectLst/>
                          <a:latin typeface="Helvetica" panose="020B0604020202020204" pitchFamily="34" charset="0"/>
                          <a:ea typeface="Times New Roman" panose="02020603050405020304" pitchFamily="18" charset="0"/>
                          <a:cs typeface="Helvetica" panose="020B0604020202020204" pitchFamily="34" charset="0"/>
                        </a:rPr>
                        <a:t>(3 K)</a:t>
                      </a:r>
                      <a:endParaRPr lang="en-US" sz="2500" b="0" i="0" u="none" strike="noStrike" dirty="0">
                        <a:effectLst/>
                        <a:latin typeface="Arial" panose="020B0604020202020204" pitchFamily="34" charset="0"/>
                      </a:endParaRPr>
                    </a:p>
                    <a:p>
                      <a:pPr algn="l" fontAlgn="ctr">
                        <a:buNone/>
                      </a:pP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 (</a:t>
                      </a:r>
                      <a:r>
                        <a:rPr lang="en-US" sz="1400" b="0" i="0" u="none" strike="noStrike" noProof="1">
                          <a:effectLst/>
                          <a:latin typeface="Helvetica" panose="020B0604020202020204" pitchFamily="34" charset="0"/>
                          <a:ea typeface="Times New Roman" panose="02020603050405020304" pitchFamily="18" charset="0"/>
                          <a:cs typeface="Helvetica" panose="020B0604020202020204" pitchFamily="34" charset="0"/>
                        </a:rPr>
                        <a:t>Simulierte Strukturierte Daten</a:t>
                      </a:r>
                      <a:r>
                        <a:rPr lang="en-US" sz="1400" b="0" i="0" u="none" strike="noStrike" dirty="0">
                          <a:effectLst/>
                          <a:latin typeface="Helvetica" panose="020B0604020202020204" pitchFamily="34" charset="0"/>
                          <a:ea typeface="Times New Roman" panose="02020603050405020304" pitchFamily="18" charset="0"/>
                          <a:cs typeface="Helvetica" panose="020B0604020202020204" pitchFamily="34" charset="0"/>
                        </a:rPr>
                        <a:t>)</a:t>
                      </a:r>
                      <a:endParaRPr lang="en-US" sz="2500" b="0" i="0" u="none" strike="noStrike"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ctr">
                        <a:buNone/>
                      </a:pPr>
                      <a:r>
                        <a:rPr lang="de-DE" sz="1400" b="0" i="0" u="none" strike="noStrike" noProof="0" dirty="0">
                          <a:effectLst/>
                          <a:latin typeface="Helvetica" panose="020B0604020202020204" pitchFamily="34" charset="0"/>
                          <a:ea typeface="Times New Roman" panose="02020603050405020304" pitchFamily="18" charset="0"/>
                          <a:cs typeface="Helvetica" panose="020B0604020202020204" pitchFamily="34" charset="0"/>
                        </a:rPr>
                        <a:t>- Quality Documents (QDocs) </a:t>
                      </a:r>
                      <a:r>
                        <a:rPr lang="de-DE" sz="1400" b="1" i="0" u="none" strike="noStrike" noProof="0" dirty="0">
                          <a:effectLst/>
                          <a:latin typeface="Helvetica" panose="020B0604020202020204" pitchFamily="34" charset="0"/>
                          <a:ea typeface="Times New Roman" panose="02020603050405020304" pitchFamily="18" charset="0"/>
                          <a:cs typeface="Helvetica" panose="020B0604020202020204" pitchFamily="34" charset="0"/>
                        </a:rPr>
                        <a:t>(5 K)</a:t>
                      </a:r>
                      <a:br>
                        <a:rPr lang="de-DE" sz="1400" b="1" i="0" u="none" strike="noStrike" noProof="0" dirty="0">
                          <a:effectLst/>
                          <a:latin typeface="Helvetica" panose="020B0604020202020204" pitchFamily="34" charset="0"/>
                          <a:ea typeface="Times New Roman" panose="02020603050405020304" pitchFamily="18" charset="0"/>
                          <a:cs typeface="Helvetica" panose="020B0604020202020204" pitchFamily="34" charset="0"/>
                        </a:rPr>
                      </a:br>
                      <a:r>
                        <a:rPr lang="de-DE" sz="1400" b="0" i="0" u="none" strike="noStrike" noProof="0" dirty="0">
                          <a:effectLst/>
                          <a:latin typeface="Helvetica" panose="020B0604020202020204" pitchFamily="34" charset="0"/>
                          <a:ea typeface="Times New Roman" panose="02020603050405020304" pitchFamily="18" charset="0"/>
                          <a:cs typeface="Helvetica" panose="020B0604020202020204" pitchFamily="34" charset="0"/>
                        </a:rPr>
                        <a:t>- Strukturierte Daten aus SAP-Tabellen</a:t>
                      </a:r>
                      <a:endParaRPr lang="de-DE" sz="2500" b="0" i="0" u="none" strike="noStrike" noProof="0"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3573641"/>
                  </a:ext>
                </a:extLst>
              </a:tr>
              <a:tr h="486467">
                <a:tc>
                  <a:txBody>
                    <a:bodyPr/>
                    <a:lstStyle/>
                    <a:p>
                      <a:pPr algn="ctr" fontAlgn="ctr">
                        <a:buNone/>
                      </a:pPr>
                      <a:r>
                        <a:rPr lang="de-DE" sz="1400" b="0" i="0" u="none" strike="noStrike" noProof="0" dirty="0">
                          <a:effectLst/>
                          <a:latin typeface="Helvetica" panose="020B0604020202020204" pitchFamily="34" charset="0"/>
                        </a:rPr>
                        <a:t>Forschungsfragen</a:t>
                      </a:r>
                      <a:endParaRPr lang="de-DE" sz="2500" b="0" i="0" u="none" strike="noStrike" noProof="0"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de-DE" sz="1400" b="0" i="0" u="none" strike="noStrike" noProof="0" dirty="0">
                          <a:effectLst/>
                          <a:latin typeface="Helvetica" panose="020B0604020202020204" pitchFamily="34" charset="0"/>
                        </a:rPr>
                        <a:t>Forschungsfrage 1 &amp; 2</a:t>
                      </a:r>
                      <a:endParaRPr lang="de-DE" sz="2500" b="0" i="0" u="none" strike="noStrike" noProof="0" dirty="0">
                        <a:effectLst/>
                        <a:latin typeface="Arial" panose="020B0604020202020204" pitchFamily="34" charset="0"/>
                      </a:endParaRP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de-DE" sz="1400" b="0" i="0" u="none" strike="noStrike" noProof="0" dirty="0">
                          <a:effectLst/>
                          <a:latin typeface="Arial" panose="020B0604020202020204" pitchFamily="34" charset="0"/>
                        </a:rPr>
                        <a:t>Forschungsfrage 1 &amp; 2</a:t>
                      </a: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de-DE" sz="1400" b="0" i="0" u="none" strike="noStrike" noProof="0" dirty="0">
                          <a:effectLst/>
                          <a:latin typeface="Arial" panose="020B0604020202020204" pitchFamily="34" charset="0"/>
                        </a:rPr>
                        <a:t>Forschungsfrage 2</a:t>
                      </a:r>
                    </a:p>
                  </a:txBody>
                  <a:tcPr marL="94949" marR="94949" marT="13187"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8995913"/>
                  </a:ext>
                </a:extLst>
              </a:tr>
            </a:tbl>
          </a:graphicData>
        </a:graphic>
      </p:graphicFrame>
      <p:pic>
        <p:nvPicPr>
          <p:cNvPr id="44" name="Graphic 50" descr="Database with solid fill">
            <a:extLst>
              <a:ext uri="{FF2B5EF4-FFF2-40B4-BE49-F238E27FC236}">
                <a16:creationId xmlns:a16="http://schemas.microsoft.com/office/drawing/2014/main" id="{46B99D9A-332A-A0DC-1C6F-9F4830A2E849}"/>
              </a:ext>
            </a:extLst>
          </p:cNvPr>
          <p:cNvPicPr/>
          <p:nvPr/>
        </p:nvPicPr>
        <p:blipFill>
          <a:blip r:embed="rId3">
            <a:extLst>
              <a:ext uri="{96DAC541-7B7A-43D3-8B79-37D633B846F1}">
                <asvg:svgBlip xmlns:asvg="http://schemas.microsoft.com/office/drawing/2016/SVG/main" r:embed="rId4"/>
              </a:ext>
            </a:extLst>
          </a:blip>
          <a:stretch>
            <a:fillRect/>
          </a:stretch>
        </p:blipFill>
        <p:spPr>
          <a:xfrm>
            <a:off x="10180440" y="1877616"/>
            <a:ext cx="636666" cy="622275"/>
          </a:xfrm>
          <a:prstGeom prst="rect">
            <a:avLst/>
          </a:prstGeom>
        </p:spPr>
      </p:pic>
      <p:pic>
        <p:nvPicPr>
          <p:cNvPr id="47" name="Graphic 9" descr="Document with solid fill">
            <a:extLst>
              <a:ext uri="{FF2B5EF4-FFF2-40B4-BE49-F238E27FC236}">
                <a16:creationId xmlns:a16="http://schemas.microsoft.com/office/drawing/2014/main" id="{70CF3273-3CFD-533D-9AD3-9FA996B565A7}"/>
              </a:ext>
            </a:extLst>
          </p:cNvPr>
          <p:cNvPicPr/>
          <p:nvPr/>
        </p:nvPicPr>
        <p:blipFill>
          <a:blip r:embed="rId5">
            <a:extLst>
              <a:ext uri="{96DAC541-7B7A-43D3-8B79-37D633B846F1}">
                <asvg:svgBlip xmlns:asvg="http://schemas.microsoft.com/office/drawing/2016/SVG/main" r:embed="rId6"/>
              </a:ext>
            </a:extLst>
          </a:blip>
          <a:stretch>
            <a:fillRect/>
          </a:stretch>
        </p:blipFill>
        <p:spPr>
          <a:xfrm>
            <a:off x="2696291" y="2140255"/>
            <a:ext cx="635742" cy="570408"/>
          </a:xfrm>
          <a:prstGeom prst="rect">
            <a:avLst/>
          </a:prstGeom>
        </p:spPr>
      </p:pic>
      <p:pic>
        <p:nvPicPr>
          <p:cNvPr id="23" name="Graphic 41" descr="Document with solid fill">
            <a:extLst>
              <a:ext uri="{FF2B5EF4-FFF2-40B4-BE49-F238E27FC236}">
                <a16:creationId xmlns:a16="http://schemas.microsoft.com/office/drawing/2014/main" id="{4786C4C8-0C22-0C42-AB75-EF48CA83B1BD}"/>
              </a:ext>
            </a:extLst>
          </p:cNvPr>
          <p:cNvPicPr/>
          <p:nvPr/>
        </p:nvPicPr>
        <p:blipFill>
          <a:blip r:embed="rId7">
            <a:extLst>
              <a:ext uri="{96DAC541-7B7A-43D3-8B79-37D633B846F1}">
                <asvg:svgBlip xmlns:asvg="http://schemas.microsoft.com/office/drawing/2016/SVG/main" r:embed="rId8"/>
              </a:ext>
            </a:extLst>
          </a:blip>
          <a:stretch>
            <a:fillRect/>
          </a:stretch>
        </p:blipFill>
        <p:spPr>
          <a:xfrm>
            <a:off x="9532446" y="1567335"/>
            <a:ext cx="657536" cy="570408"/>
          </a:xfrm>
          <a:prstGeom prst="rect">
            <a:avLst/>
          </a:prstGeom>
        </p:spPr>
      </p:pic>
      <p:pic>
        <p:nvPicPr>
          <p:cNvPr id="26" name="Graphic 9" descr="Document with solid fill">
            <a:extLst>
              <a:ext uri="{FF2B5EF4-FFF2-40B4-BE49-F238E27FC236}">
                <a16:creationId xmlns:a16="http://schemas.microsoft.com/office/drawing/2014/main" id="{ECE23F98-9403-3C40-A155-33857103FA79}"/>
              </a:ext>
            </a:extLst>
          </p:cNvPr>
          <p:cNvPicPr/>
          <p:nvPr/>
        </p:nvPicPr>
        <p:blipFill>
          <a:blip r:embed="rId5">
            <a:extLst>
              <a:ext uri="{96DAC541-7B7A-43D3-8B79-37D633B846F1}">
                <asvg:svgBlip xmlns:asvg="http://schemas.microsoft.com/office/drawing/2016/SVG/main" r:embed="rId6"/>
              </a:ext>
            </a:extLst>
          </a:blip>
          <a:stretch>
            <a:fillRect/>
          </a:stretch>
        </p:blipFill>
        <p:spPr>
          <a:xfrm>
            <a:off x="3276921" y="2145279"/>
            <a:ext cx="635742" cy="570408"/>
          </a:xfrm>
          <a:prstGeom prst="rect">
            <a:avLst/>
          </a:prstGeom>
        </p:spPr>
      </p:pic>
      <p:pic>
        <p:nvPicPr>
          <p:cNvPr id="27" name="Graphic 9" descr="Document with solid fill">
            <a:extLst>
              <a:ext uri="{FF2B5EF4-FFF2-40B4-BE49-F238E27FC236}">
                <a16:creationId xmlns:a16="http://schemas.microsoft.com/office/drawing/2014/main" id="{5D74931F-31FF-D14D-9ADA-04C86AE44478}"/>
              </a:ext>
            </a:extLst>
          </p:cNvPr>
          <p:cNvPicPr/>
          <p:nvPr/>
        </p:nvPicPr>
        <p:blipFill>
          <a:blip r:embed="rId5">
            <a:extLst>
              <a:ext uri="{96DAC541-7B7A-43D3-8B79-37D633B846F1}">
                <asvg:svgBlip xmlns:asvg="http://schemas.microsoft.com/office/drawing/2016/SVG/main" r:embed="rId6"/>
              </a:ext>
            </a:extLst>
          </a:blip>
          <a:stretch>
            <a:fillRect/>
          </a:stretch>
        </p:blipFill>
        <p:spPr>
          <a:xfrm>
            <a:off x="2685207" y="1567335"/>
            <a:ext cx="625582" cy="570408"/>
          </a:xfrm>
          <a:prstGeom prst="rect">
            <a:avLst/>
          </a:prstGeom>
        </p:spPr>
      </p:pic>
      <p:sp>
        <p:nvSpPr>
          <p:cNvPr id="40" name="Rechteck 39">
            <a:extLst>
              <a:ext uri="{FF2B5EF4-FFF2-40B4-BE49-F238E27FC236}">
                <a16:creationId xmlns:a16="http://schemas.microsoft.com/office/drawing/2014/main" id="{B3C6EB2E-3DD8-6B4B-BAD7-CC392C2AF853}"/>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39" name="Titel 1">
            <a:extLst>
              <a:ext uri="{FF2B5EF4-FFF2-40B4-BE49-F238E27FC236}">
                <a16:creationId xmlns:a16="http://schemas.microsoft.com/office/drawing/2014/main" id="{1CC9F3C8-6B18-D244-A83E-FA2C2104A933}"/>
              </a:ext>
            </a:extLst>
          </p:cNvPr>
          <p:cNvSpPr>
            <a:spLocks noGrp="1"/>
          </p:cNvSpPr>
          <p:nvPr>
            <p:ph type="title"/>
          </p:nvPr>
        </p:nvSpPr>
        <p:spPr>
          <a:xfrm>
            <a:off x="574963" y="444610"/>
            <a:ext cx="10515600" cy="943127"/>
          </a:xfrm>
        </p:spPr>
        <p:txBody>
          <a:bodyPr>
            <a:normAutofit fontScale="90000"/>
          </a:bodyPr>
          <a:lstStyle/>
          <a:p>
            <a:r>
              <a:rPr lang="de-DE" sz="2700" dirty="0">
                <a:latin typeface="Helvetica" pitchFamily="2" charset="0"/>
              </a:rPr>
              <a:t>Hintergrund und Motivation</a:t>
            </a:r>
            <a:br>
              <a:rPr lang="de-DE" sz="2400" dirty="0">
                <a:latin typeface="Helvetica" pitchFamily="2" charset="0"/>
              </a:rPr>
            </a:br>
            <a:r>
              <a:rPr lang="de-DE" sz="2200" dirty="0">
                <a:latin typeface="Helvetica Light" panose="020B0403020202020204" pitchFamily="34" charset="0"/>
              </a:rPr>
              <a:t>Modellversionen und Unterscheidungsmerkmale</a:t>
            </a:r>
            <a:br>
              <a:rPr lang="de-DE" sz="2400" dirty="0">
                <a:latin typeface="Helvetica" pitchFamily="2" charset="0"/>
              </a:rPr>
            </a:br>
            <a:endParaRPr lang="de-DE" sz="2400" dirty="0">
              <a:latin typeface="Helvetica" pitchFamily="2" charset="0"/>
            </a:endParaRPr>
          </a:p>
        </p:txBody>
      </p:sp>
      <p:pic>
        <p:nvPicPr>
          <p:cNvPr id="53" name="Graphic 9" descr="Document with solid fill">
            <a:extLst>
              <a:ext uri="{FF2B5EF4-FFF2-40B4-BE49-F238E27FC236}">
                <a16:creationId xmlns:a16="http://schemas.microsoft.com/office/drawing/2014/main" id="{0D03933A-BDF4-6744-BC1F-867CC4A50796}"/>
              </a:ext>
            </a:extLst>
          </p:cNvPr>
          <p:cNvPicPr/>
          <p:nvPr/>
        </p:nvPicPr>
        <p:blipFill>
          <a:blip r:embed="rId5">
            <a:extLst>
              <a:ext uri="{96DAC541-7B7A-43D3-8B79-37D633B846F1}">
                <asvg:svgBlip xmlns:asvg="http://schemas.microsoft.com/office/drawing/2016/SVG/main" r:embed="rId6"/>
              </a:ext>
            </a:extLst>
          </a:blip>
          <a:stretch>
            <a:fillRect/>
          </a:stretch>
        </p:blipFill>
        <p:spPr>
          <a:xfrm>
            <a:off x="5926584" y="2147791"/>
            <a:ext cx="635742" cy="570408"/>
          </a:xfrm>
          <a:prstGeom prst="rect">
            <a:avLst/>
          </a:prstGeom>
        </p:spPr>
      </p:pic>
      <p:pic>
        <p:nvPicPr>
          <p:cNvPr id="54" name="Graphic 9" descr="Document with solid fill">
            <a:extLst>
              <a:ext uri="{FF2B5EF4-FFF2-40B4-BE49-F238E27FC236}">
                <a16:creationId xmlns:a16="http://schemas.microsoft.com/office/drawing/2014/main" id="{83285BB0-0A95-BC4C-B8E4-FB3D0E3A51A1}"/>
              </a:ext>
            </a:extLst>
          </p:cNvPr>
          <p:cNvPicPr/>
          <p:nvPr/>
        </p:nvPicPr>
        <p:blipFill>
          <a:blip r:embed="rId5">
            <a:extLst>
              <a:ext uri="{96DAC541-7B7A-43D3-8B79-37D633B846F1}">
                <asvg:svgBlip xmlns:asvg="http://schemas.microsoft.com/office/drawing/2016/SVG/main" r:embed="rId6"/>
              </a:ext>
            </a:extLst>
          </a:blip>
          <a:stretch>
            <a:fillRect/>
          </a:stretch>
        </p:blipFill>
        <p:spPr>
          <a:xfrm>
            <a:off x="6476218" y="2152815"/>
            <a:ext cx="635742" cy="570408"/>
          </a:xfrm>
          <a:prstGeom prst="rect">
            <a:avLst/>
          </a:prstGeom>
        </p:spPr>
      </p:pic>
      <p:pic>
        <p:nvPicPr>
          <p:cNvPr id="55" name="Graphic 9" descr="Document with solid fill">
            <a:extLst>
              <a:ext uri="{FF2B5EF4-FFF2-40B4-BE49-F238E27FC236}">
                <a16:creationId xmlns:a16="http://schemas.microsoft.com/office/drawing/2014/main" id="{E47C49EF-BADC-4A49-BE20-D82E70BE42C3}"/>
              </a:ext>
            </a:extLst>
          </p:cNvPr>
          <p:cNvPicPr/>
          <p:nvPr/>
        </p:nvPicPr>
        <p:blipFill>
          <a:blip r:embed="rId5">
            <a:extLst>
              <a:ext uri="{96DAC541-7B7A-43D3-8B79-37D633B846F1}">
                <asvg:svgBlip xmlns:asvg="http://schemas.microsoft.com/office/drawing/2016/SVG/main" r:embed="rId6"/>
              </a:ext>
            </a:extLst>
          </a:blip>
          <a:stretch>
            <a:fillRect/>
          </a:stretch>
        </p:blipFill>
        <p:spPr>
          <a:xfrm>
            <a:off x="5915500" y="1574871"/>
            <a:ext cx="625582" cy="570408"/>
          </a:xfrm>
          <a:prstGeom prst="rect">
            <a:avLst/>
          </a:prstGeom>
        </p:spPr>
      </p:pic>
      <p:pic>
        <p:nvPicPr>
          <p:cNvPr id="56" name="Graphic 9" descr="Document with solid fill">
            <a:extLst>
              <a:ext uri="{FF2B5EF4-FFF2-40B4-BE49-F238E27FC236}">
                <a16:creationId xmlns:a16="http://schemas.microsoft.com/office/drawing/2014/main" id="{77DBA2D1-2738-454F-ABA9-7C964021C476}"/>
              </a:ext>
            </a:extLst>
          </p:cNvPr>
          <p:cNvPicPr/>
          <p:nvPr/>
        </p:nvPicPr>
        <p:blipFill>
          <a:blip r:embed="rId5">
            <a:extLst>
              <a:ext uri="{96DAC541-7B7A-43D3-8B79-37D633B846F1}">
                <asvg:svgBlip xmlns:asvg="http://schemas.microsoft.com/office/drawing/2016/SVG/main" r:embed="rId6"/>
              </a:ext>
            </a:extLst>
          </a:blip>
          <a:stretch>
            <a:fillRect/>
          </a:stretch>
        </p:blipFill>
        <p:spPr>
          <a:xfrm>
            <a:off x="9028121" y="2140255"/>
            <a:ext cx="635742" cy="570408"/>
          </a:xfrm>
          <a:prstGeom prst="rect">
            <a:avLst/>
          </a:prstGeom>
        </p:spPr>
      </p:pic>
      <p:pic>
        <p:nvPicPr>
          <p:cNvPr id="57" name="Graphic 9" descr="Document with solid fill">
            <a:extLst>
              <a:ext uri="{FF2B5EF4-FFF2-40B4-BE49-F238E27FC236}">
                <a16:creationId xmlns:a16="http://schemas.microsoft.com/office/drawing/2014/main" id="{EFFDD64F-14FD-D44C-B2B0-ED38A9A538F2}"/>
              </a:ext>
            </a:extLst>
          </p:cNvPr>
          <p:cNvPicPr/>
          <p:nvPr/>
        </p:nvPicPr>
        <p:blipFill>
          <a:blip r:embed="rId5">
            <a:extLst>
              <a:ext uri="{96DAC541-7B7A-43D3-8B79-37D633B846F1}">
                <asvg:svgBlip xmlns:asvg="http://schemas.microsoft.com/office/drawing/2016/SVG/main" r:embed="rId6"/>
              </a:ext>
            </a:extLst>
          </a:blip>
          <a:stretch>
            <a:fillRect/>
          </a:stretch>
        </p:blipFill>
        <p:spPr>
          <a:xfrm>
            <a:off x="9578771" y="2160269"/>
            <a:ext cx="635742" cy="570408"/>
          </a:xfrm>
          <a:prstGeom prst="rect">
            <a:avLst/>
          </a:prstGeom>
        </p:spPr>
      </p:pic>
      <p:pic>
        <p:nvPicPr>
          <p:cNvPr id="58" name="Graphic 9" descr="Document with solid fill">
            <a:extLst>
              <a:ext uri="{FF2B5EF4-FFF2-40B4-BE49-F238E27FC236}">
                <a16:creationId xmlns:a16="http://schemas.microsoft.com/office/drawing/2014/main" id="{B206FFD7-75C7-5441-9AD5-8F010FAA8FB7}"/>
              </a:ext>
            </a:extLst>
          </p:cNvPr>
          <p:cNvPicPr/>
          <p:nvPr/>
        </p:nvPicPr>
        <p:blipFill>
          <a:blip r:embed="rId5">
            <a:extLst>
              <a:ext uri="{96DAC541-7B7A-43D3-8B79-37D633B846F1}">
                <asvg:svgBlip xmlns:asvg="http://schemas.microsoft.com/office/drawing/2016/SVG/main" r:embed="rId6"/>
              </a:ext>
            </a:extLst>
          </a:blip>
          <a:stretch>
            <a:fillRect/>
          </a:stretch>
        </p:blipFill>
        <p:spPr>
          <a:xfrm>
            <a:off x="9017037" y="1567335"/>
            <a:ext cx="625582" cy="570408"/>
          </a:xfrm>
          <a:prstGeom prst="rect">
            <a:avLst/>
          </a:prstGeom>
        </p:spPr>
      </p:pic>
      <p:sp>
        <p:nvSpPr>
          <p:cNvPr id="7" name="Rechteck 6">
            <a:extLst>
              <a:ext uri="{FF2B5EF4-FFF2-40B4-BE49-F238E27FC236}">
                <a16:creationId xmlns:a16="http://schemas.microsoft.com/office/drawing/2014/main" id="{D61435C4-BFF6-6E46-8BA8-768445ACA366}"/>
              </a:ext>
            </a:extLst>
          </p:cNvPr>
          <p:cNvSpPr/>
          <p:nvPr/>
        </p:nvSpPr>
        <p:spPr>
          <a:xfrm>
            <a:off x="1725769" y="5883387"/>
            <a:ext cx="9640909" cy="485965"/>
          </a:xfrm>
          <a:prstGeom prst="rect">
            <a:avLst/>
          </a:prstGeom>
          <a:solidFill>
            <a:srgbClr val="009997">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4733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B0CCD76F-EACA-0949-8ADB-5D8945A5A5C4}"/>
              </a:ext>
            </a:extLst>
          </p:cNvPr>
          <p:cNvSpPr>
            <a:spLocks noGrp="1"/>
          </p:cNvSpPr>
          <p:nvPr>
            <p:ph type="sldNum" sz="quarter" idx="12"/>
          </p:nvPr>
        </p:nvSpPr>
        <p:spPr>
          <a:xfrm>
            <a:off x="8610600" y="6356350"/>
            <a:ext cx="2743200" cy="365125"/>
          </a:xfrm>
        </p:spPr>
        <p:txBody>
          <a:bodyPr/>
          <a:lstStyle/>
          <a:p>
            <a:fld id="{5CC06646-EDF2-2341-B148-FF1B4C173C76}" type="slidenum">
              <a:rPr lang="en-GB" sz="1400" smtClean="0">
                <a:solidFill>
                  <a:schemeClr val="tx1"/>
                </a:solidFill>
                <a:latin typeface="Helvetica" pitchFamily="2" charset="0"/>
              </a:rPr>
              <a:t>5</a:t>
            </a:fld>
            <a:endParaRPr lang="en-GB" sz="1400" dirty="0">
              <a:solidFill>
                <a:schemeClr val="tx1"/>
              </a:solidFill>
              <a:latin typeface="Helvetica" pitchFamily="2" charset="0"/>
            </a:endParaRPr>
          </a:p>
        </p:txBody>
      </p:sp>
      <p:sp>
        <p:nvSpPr>
          <p:cNvPr id="13" name="Rechteck 12">
            <a:extLst>
              <a:ext uri="{FF2B5EF4-FFF2-40B4-BE49-F238E27FC236}">
                <a16:creationId xmlns:a16="http://schemas.microsoft.com/office/drawing/2014/main" id="{8F80198B-82BC-504E-96D9-7434819D48D0}"/>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14" name="Titel 1">
            <a:extLst>
              <a:ext uri="{FF2B5EF4-FFF2-40B4-BE49-F238E27FC236}">
                <a16:creationId xmlns:a16="http://schemas.microsoft.com/office/drawing/2014/main" id="{E8A605D2-1800-BE4B-9499-E92F55794FA3}"/>
              </a:ext>
            </a:extLst>
          </p:cNvPr>
          <p:cNvSpPr>
            <a:spLocks noGrp="1"/>
          </p:cNvSpPr>
          <p:nvPr>
            <p:ph type="title"/>
          </p:nvPr>
        </p:nvSpPr>
        <p:spPr>
          <a:xfrm>
            <a:off x="574963" y="444610"/>
            <a:ext cx="10515600" cy="943127"/>
          </a:xfrm>
        </p:spPr>
        <p:txBody>
          <a:bodyPr>
            <a:normAutofit fontScale="90000"/>
          </a:bodyPr>
          <a:lstStyle/>
          <a:p>
            <a:r>
              <a:rPr lang="de-DE" sz="2700" dirty="0">
                <a:latin typeface="Helvetica" pitchFamily="2" charset="0"/>
              </a:rPr>
              <a:t>Methodik</a:t>
            </a:r>
            <a:br>
              <a:rPr lang="de-DE" sz="2400" dirty="0">
                <a:latin typeface="Helvetica" pitchFamily="2" charset="0"/>
              </a:rPr>
            </a:br>
            <a:r>
              <a:rPr lang="de-DE" sz="2200" dirty="0">
                <a:latin typeface="Helvetica Light" panose="020B0403020202020204" pitchFamily="34" charset="0"/>
              </a:rPr>
              <a:t>Iterative Modell Entwicklung | Qualitative Modell Evaluation</a:t>
            </a:r>
            <a:br>
              <a:rPr lang="de-DE" sz="2400" dirty="0">
                <a:latin typeface="Helvetica" pitchFamily="2" charset="0"/>
              </a:rPr>
            </a:br>
            <a:endParaRPr lang="de-DE" sz="2400" dirty="0">
              <a:latin typeface="Helvetica" pitchFamily="2" charset="0"/>
            </a:endParaRPr>
          </a:p>
        </p:txBody>
      </p:sp>
      <p:sp>
        <p:nvSpPr>
          <p:cNvPr id="17" name="Rechteck 16">
            <a:extLst>
              <a:ext uri="{FF2B5EF4-FFF2-40B4-BE49-F238E27FC236}">
                <a16:creationId xmlns:a16="http://schemas.microsoft.com/office/drawing/2014/main" id="{0B38AD28-6A97-AD47-8570-740FF2044B91}"/>
              </a:ext>
            </a:extLst>
          </p:cNvPr>
          <p:cNvSpPr/>
          <p:nvPr/>
        </p:nvSpPr>
        <p:spPr>
          <a:xfrm>
            <a:off x="591294" y="1408044"/>
            <a:ext cx="6780387" cy="609402"/>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GB" sz="1600" dirty="0">
                <a:solidFill>
                  <a:schemeClr val="bg1"/>
                </a:solidFill>
                <a:latin typeface="Helvetica" pitchFamily="2" charset="0"/>
              </a:rPr>
              <a:t>Iterative Modell Entwicklung</a:t>
            </a:r>
          </a:p>
        </p:txBody>
      </p:sp>
      <p:sp>
        <p:nvSpPr>
          <p:cNvPr id="18" name="Rechteck 17">
            <a:extLst>
              <a:ext uri="{FF2B5EF4-FFF2-40B4-BE49-F238E27FC236}">
                <a16:creationId xmlns:a16="http://schemas.microsoft.com/office/drawing/2014/main" id="{E0B4D9DE-3EF8-3C42-8ED1-EA53FEA7BDBB}"/>
              </a:ext>
            </a:extLst>
          </p:cNvPr>
          <p:cNvSpPr/>
          <p:nvPr/>
        </p:nvSpPr>
        <p:spPr>
          <a:xfrm>
            <a:off x="7679953" y="1408044"/>
            <a:ext cx="4167490" cy="609402"/>
          </a:xfrm>
          <a:prstGeom prst="rect">
            <a:avLst/>
          </a:prstGeom>
          <a:solidFill>
            <a:srgbClr val="02877B"/>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sz="1600" dirty="0">
                <a:solidFill>
                  <a:schemeClr val="bg1"/>
                </a:solidFill>
                <a:latin typeface="Helvetica" pitchFamily="2" charset="0"/>
              </a:rPr>
              <a:t>Qualitative Modell Evaluation</a:t>
            </a:r>
          </a:p>
        </p:txBody>
      </p:sp>
      <p:sp>
        <p:nvSpPr>
          <p:cNvPr id="23" name="Richtungspfeil 22">
            <a:extLst>
              <a:ext uri="{FF2B5EF4-FFF2-40B4-BE49-F238E27FC236}">
                <a16:creationId xmlns:a16="http://schemas.microsoft.com/office/drawing/2014/main" id="{EEF415FE-B138-514F-AF35-F46CBCB4D8A5}"/>
              </a:ext>
            </a:extLst>
          </p:cNvPr>
          <p:cNvSpPr/>
          <p:nvPr/>
        </p:nvSpPr>
        <p:spPr>
          <a:xfrm>
            <a:off x="662512" y="5522070"/>
            <a:ext cx="377158" cy="276999"/>
          </a:xfrm>
          <a:prstGeom prst="homePlate">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24" name="Textfeld 23">
            <a:extLst>
              <a:ext uri="{FF2B5EF4-FFF2-40B4-BE49-F238E27FC236}">
                <a16:creationId xmlns:a16="http://schemas.microsoft.com/office/drawing/2014/main" id="{5543CA5E-BCC1-2841-97D1-06FDFDF53114}"/>
              </a:ext>
            </a:extLst>
          </p:cNvPr>
          <p:cNvSpPr txBox="1"/>
          <p:nvPr/>
        </p:nvSpPr>
        <p:spPr>
          <a:xfrm>
            <a:off x="1142506" y="5550394"/>
            <a:ext cx="3404433" cy="276999"/>
          </a:xfrm>
          <a:prstGeom prst="rect">
            <a:avLst/>
          </a:prstGeom>
          <a:noFill/>
        </p:spPr>
        <p:txBody>
          <a:bodyPr wrap="square" rtlCol="0">
            <a:spAutoFit/>
          </a:bodyPr>
          <a:lstStyle/>
          <a:p>
            <a:r>
              <a:rPr lang="en-GB" sz="1200" dirty="0">
                <a:latin typeface="Helvetica" pitchFamily="2" charset="0"/>
              </a:rPr>
              <a:t>Sub-Process 1: Data Connection &amp; Preparation</a:t>
            </a:r>
          </a:p>
        </p:txBody>
      </p:sp>
      <p:sp>
        <p:nvSpPr>
          <p:cNvPr id="25" name="Eingebuchteter Richtungspfeil 24">
            <a:extLst>
              <a:ext uri="{FF2B5EF4-FFF2-40B4-BE49-F238E27FC236}">
                <a16:creationId xmlns:a16="http://schemas.microsoft.com/office/drawing/2014/main" id="{5133C17B-77D3-D04D-9931-CE512A8E5AD7}"/>
              </a:ext>
            </a:extLst>
          </p:cNvPr>
          <p:cNvSpPr/>
          <p:nvPr/>
        </p:nvSpPr>
        <p:spPr>
          <a:xfrm>
            <a:off x="670704" y="5876996"/>
            <a:ext cx="441544" cy="276999"/>
          </a:xfrm>
          <a:prstGeom prst="chevron">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p:sp>
        <p:nvSpPr>
          <p:cNvPr id="26" name="Textfeld 25">
            <a:extLst>
              <a:ext uri="{FF2B5EF4-FFF2-40B4-BE49-F238E27FC236}">
                <a16:creationId xmlns:a16="http://schemas.microsoft.com/office/drawing/2014/main" id="{386DE683-77E5-EF43-9B9A-603D737A0EDF}"/>
              </a:ext>
            </a:extLst>
          </p:cNvPr>
          <p:cNvSpPr txBox="1"/>
          <p:nvPr/>
        </p:nvSpPr>
        <p:spPr>
          <a:xfrm>
            <a:off x="1167464" y="5915866"/>
            <a:ext cx="3314980" cy="276999"/>
          </a:xfrm>
          <a:prstGeom prst="rect">
            <a:avLst/>
          </a:prstGeom>
          <a:noFill/>
        </p:spPr>
        <p:txBody>
          <a:bodyPr wrap="square" rtlCol="0">
            <a:spAutoFit/>
          </a:bodyPr>
          <a:lstStyle/>
          <a:p>
            <a:r>
              <a:rPr lang="en-GB" sz="1200" dirty="0">
                <a:latin typeface="Helvetica" pitchFamily="2" charset="0"/>
              </a:rPr>
              <a:t>Sub-Process 2: Model Development</a:t>
            </a:r>
          </a:p>
        </p:txBody>
      </p:sp>
      <p:sp>
        <p:nvSpPr>
          <p:cNvPr id="27" name="Eingebuchteter Richtungspfeil 26">
            <a:extLst>
              <a:ext uri="{FF2B5EF4-FFF2-40B4-BE49-F238E27FC236}">
                <a16:creationId xmlns:a16="http://schemas.microsoft.com/office/drawing/2014/main" id="{8F4A1E9F-79BF-B24F-847E-670AC3D43AAE}"/>
              </a:ext>
            </a:extLst>
          </p:cNvPr>
          <p:cNvSpPr/>
          <p:nvPr/>
        </p:nvSpPr>
        <p:spPr>
          <a:xfrm>
            <a:off x="670704" y="6231922"/>
            <a:ext cx="441543" cy="311479"/>
          </a:xfrm>
          <a:prstGeom prst="chevron">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GB">
              <a:solidFill>
                <a:schemeClr val="tx1"/>
              </a:solidFill>
            </a:endParaRPr>
          </a:p>
        </p:txBody>
      </p:sp>
      <p:sp>
        <p:nvSpPr>
          <p:cNvPr id="28" name="Textfeld 27">
            <a:extLst>
              <a:ext uri="{FF2B5EF4-FFF2-40B4-BE49-F238E27FC236}">
                <a16:creationId xmlns:a16="http://schemas.microsoft.com/office/drawing/2014/main" id="{1466524F-A538-214C-B58C-8963892A7DF2}"/>
              </a:ext>
            </a:extLst>
          </p:cNvPr>
          <p:cNvSpPr txBox="1"/>
          <p:nvPr/>
        </p:nvSpPr>
        <p:spPr>
          <a:xfrm>
            <a:off x="1167464" y="6281338"/>
            <a:ext cx="3583128" cy="276999"/>
          </a:xfrm>
          <a:prstGeom prst="rect">
            <a:avLst/>
          </a:prstGeom>
          <a:noFill/>
        </p:spPr>
        <p:txBody>
          <a:bodyPr wrap="square" rtlCol="0">
            <a:spAutoFit/>
          </a:bodyPr>
          <a:lstStyle/>
          <a:p>
            <a:r>
              <a:rPr lang="en-GB" sz="1200" dirty="0">
                <a:latin typeface="Helvetica" pitchFamily="2" charset="0"/>
              </a:rPr>
              <a:t>Sub-Process 3: Model Enhancement</a:t>
            </a:r>
          </a:p>
        </p:txBody>
      </p:sp>
      <p:sp>
        <p:nvSpPr>
          <p:cNvPr id="29" name="Textfeld 28">
            <a:extLst>
              <a:ext uri="{FF2B5EF4-FFF2-40B4-BE49-F238E27FC236}">
                <a16:creationId xmlns:a16="http://schemas.microsoft.com/office/drawing/2014/main" id="{7AF61A30-7199-8441-81BA-1DCE5A50D185}"/>
              </a:ext>
            </a:extLst>
          </p:cNvPr>
          <p:cNvSpPr txBox="1"/>
          <p:nvPr/>
        </p:nvSpPr>
        <p:spPr>
          <a:xfrm>
            <a:off x="7645063" y="2192030"/>
            <a:ext cx="4345033" cy="4465325"/>
          </a:xfrm>
          <a:prstGeom prst="rect">
            <a:avLst/>
          </a:prstGeom>
          <a:noFill/>
        </p:spPr>
        <p:txBody>
          <a:bodyPr wrap="square" rtlCol="0">
            <a:spAutoFit/>
          </a:bodyPr>
          <a:lstStyle/>
          <a:p>
            <a:pPr marL="171450" lvl="0" indent="-171450">
              <a:buFont typeface="Arial" panose="020B0604020202020204" pitchFamily="34" charset="0"/>
              <a:buChar char="•"/>
            </a:pPr>
            <a:r>
              <a:rPr lang="de-DE" sz="1400" b="1" dirty="0">
                <a:solidFill>
                  <a:prstClr val="black"/>
                </a:solidFill>
                <a:latin typeface="Helvetica" pitchFamily="2" charset="0"/>
              </a:rPr>
              <a:t>Strukturierten Fragebogen:                                   </a:t>
            </a:r>
            <a:r>
              <a:rPr lang="de-DE" sz="1400" dirty="0">
                <a:solidFill>
                  <a:prstClr val="black"/>
                </a:solidFill>
                <a:latin typeface="Helvetica" pitchFamily="2" charset="0"/>
              </a:rPr>
              <a:t>Kombination aus Ratings und offenenen </a:t>
            </a:r>
            <a:r>
              <a:rPr lang="de-DE" sz="1400" b="1" dirty="0">
                <a:solidFill>
                  <a:prstClr val="black"/>
                </a:solidFill>
                <a:latin typeface="Helvetica" pitchFamily="2" charset="0"/>
              </a:rPr>
              <a:t>Kommentaren</a:t>
            </a:r>
            <a:r>
              <a:rPr lang="de-DE" sz="1400" dirty="0">
                <a:solidFill>
                  <a:prstClr val="black"/>
                </a:solidFill>
                <a:latin typeface="Helvetica" pitchFamily="2" charset="0"/>
              </a:rPr>
              <a:t> zur Modellbewertung</a:t>
            </a:r>
          </a:p>
          <a:p>
            <a:pPr>
              <a:spcAft>
                <a:spcPts val="500"/>
              </a:spcAft>
            </a:pPr>
            <a:endParaRPr lang="de-DE" sz="1400" dirty="0">
              <a:latin typeface="Helvetica" pitchFamily="2" charset="0"/>
            </a:endParaRPr>
          </a:p>
          <a:p>
            <a:pPr marL="171450" indent="-171450">
              <a:buFont typeface="Arial" panose="020B0604020202020204" pitchFamily="34" charset="0"/>
              <a:buChar char="•"/>
            </a:pPr>
            <a:r>
              <a:rPr lang="de-DE" sz="1400" b="1" dirty="0">
                <a:latin typeface="Helvetica" pitchFamily="2" charset="0"/>
              </a:rPr>
              <a:t>Fachexperten als Teilnehmenden:         </a:t>
            </a:r>
            <a:r>
              <a:rPr lang="de-DE" sz="1400" dirty="0">
                <a:latin typeface="Helvetica" pitchFamily="2" charset="0"/>
              </a:rPr>
              <a:t>Praxisnahe, selbst formulierte Fragen durch Supply Chain Experten</a:t>
            </a:r>
            <a:endParaRPr lang="de-DE" sz="1400" b="1" dirty="0">
              <a:latin typeface="Helvetica" pitchFamily="2" charset="0"/>
            </a:endParaRPr>
          </a:p>
          <a:p>
            <a:pPr marL="171450" indent="-171450">
              <a:buFont typeface="Arial" panose="020B0604020202020204" pitchFamily="34" charset="0"/>
              <a:buChar char="•"/>
            </a:pPr>
            <a:endParaRPr lang="de-DE" sz="1400" b="1" dirty="0">
              <a:latin typeface="Helvetica" pitchFamily="2" charset="0"/>
            </a:endParaRPr>
          </a:p>
          <a:p>
            <a:pPr marL="171450" indent="-171450">
              <a:buFont typeface="Arial" panose="020B0604020202020204" pitchFamily="34" charset="0"/>
              <a:buChar char="•"/>
            </a:pPr>
            <a:r>
              <a:rPr lang="de-DE" sz="1400" b="1" dirty="0">
                <a:latin typeface="Helvetica" pitchFamily="2" charset="0"/>
              </a:rPr>
              <a:t>Definierte Bewertungskriterien:          </a:t>
            </a:r>
            <a:r>
              <a:rPr lang="de-DE" sz="1400" dirty="0">
                <a:latin typeface="Helvetica" pitchFamily="2" charset="0"/>
              </a:rPr>
              <a:t>Verfügbarkeit, Reaktionszeit, Genauigkeit (</a:t>
            </a:r>
            <a:r>
              <a:rPr lang="en-US" sz="1400" dirty="0">
                <a:latin typeface="Helvetica" pitchFamily="2" charset="0"/>
              </a:rPr>
              <a:t>Accuracy</a:t>
            </a:r>
            <a:r>
              <a:rPr lang="de-DE" sz="1400" dirty="0">
                <a:latin typeface="Helvetica" pitchFamily="2" charset="0"/>
              </a:rPr>
              <a:t>) und Zufriedenheit (</a:t>
            </a:r>
            <a:r>
              <a:rPr lang="en-US" sz="1400" dirty="0">
                <a:latin typeface="Helvetica" pitchFamily="2" charset="0"/>
              </a:rPr>
              <a:t>Satisfaction)</a:t>
            </a:r>
          </a:p>
          <a:p>
            <a:pPr marL="171450" indent="-171450">
              <a:buFont typeface="Arial" panose="020B0604020202020204" pitchFamily="34" charset="0"/>
              <a:buChar char="•"/>
            </a:pPr>
            <a:endParaRPr lang="de-DE" sz="1400" b="1" dirty="0">
              <a:latin typeface="Helvetica" pitchFamily="2" charset="0"/>
            </a:endParaRPr>
          </a:p>
          <a:p>
            <a:pPr marL="171450" indent="-171450">
              <a:buFont typeface="Arial" panose="020B0604020202020204" pitchFamily="34" charset="0"/>
              <a:buChar char="•"/>
            </a:pPr>
            <a:r>
              <a:rPr lang="de-DE" sz="1400" b="1" dirty="0">
                <a:latin typeface="Helvetica" pitchFamily="2" charset="0"/>
              </a:rPr>
              <a:t>Konsolidierte Zusammenfassung:                         Quantifizierung</a:t>
            </a:r>
            <a:r>
              <a:rPr lang="de-DE" sz="1400" dirty="0">
                <a:latin typeface="Helvetica" pitchFamily="2" charset="0"/>
              </a:rPr>
              <a:t> und </a:t>
            </a:r>
            <a:r>
              <a:rPr lang="de-DE" sz="1400" b="1" dirty="0">
                <a:latin typeface="Helvetica" pitchFamily="2" charset="0"/>
              </a:rPr>
              <a:t>Analyse </a:t>
            </a:r>
            <a:r>
              <a:rPr lang="de-DE" sz="1400" dirty="0">
                <a:latin typeface="Helvetica" pitchFamily="2" charset="0"/>
              </a:rPr>
              <a:t>der Ergebnisse in einer konsolidierten Excel Datei</a:t>
            </a:r>
          </a:p>
          <a:p>
            <a:pPr marL="171450" indent="-171450">
              <a:buFont typeface="Arial" panose="020B0604020202020204" pitchFamily="34" charset="0"/>
              <a:buChar char="•"/>
            </a:pPr>
            <a:endParaRPr lang="de-DE" sz="1400" b="1" dirty="0">
              <a:latin typeface="Helvetica" pitchFamily="2" charset="0"/>
            </a:endParaRPr>
          </a:p>
          <a:p>
            <a:pPr marL="171450" indent="-171450">
              <a:buFont typeface="Arial" panose="020B0604020202020204" pitchFamily="34" charset="0"/>
              <a:buChar char="•"/>
            </a:pPr>
            <a:r>
              <a:rPr lang="de-DE" sz="1400" b="1" dirty="0">
                <a:latin typeface="Helvetica" pitchFamily="2" charset="0"/>
              </a:rPr>
              <a:t>Universal Einsetzbar:                                            </a:t>
            </a:r>
            <a:r>
              <a:rPr lang="de-DE" sz="1400" dirty="0">
                <a:latin typeface="Helvetica" pitchFamily="2" charset="0"/>
              </a:rPr>
              <a:t>Am </a:t>
            </a:r>
            <a:r>
              <a:rPr lang="de-DE" sz="1400" b="1" dirty="0">
                <a:latin typeface="Helvetica" pitchFamily="2" charset="0"/>
              </a:rPr>
              <a:t>Open Beta Model </a:t>
            </a:r>
            <a:r>
              <a:rPr lang="de-DE" sz="1400" dirty="0">
                <a:latin typeface="Helvetica" pitchFamily="2" charset="0"/>
              </a:rPr>
              <a:t>durchgeführt, Methodik jedoch grundsätzlich auf andere Modelle anwendbar</a:t>
            </a:r>
            <a:endParaRPr lang="de-DE" sz="1400" b="1" dirty="0">
              <a:latin typeface="Helvetica" pitchFamily="2" charset="0"/>
            </a:endParaRPr>
          </a:p>
        </p:txBody>
      </p:sp>
      <p:sp>
        <p:nvSpPr>
          <p:cNvPr id="31" name="Textfeld 30">
            <a:extLst>
              <a:ext uri="{FF2B5EF4-FFF2-40B4-BE49-F238E27FC236}">
                <a16:creationId xmlns:a16="http://schemas.microsoft.com/office/drawing/2014/main" id="{039FA6C8-9C8A-764B-8C2B-724A8B76D3D7}"/>
              </a:ext>
            </a:extLst>
          </p:cNvPr>
          <p:cNvSpPr txBox="1"/>
          <p:nvPr/>
        </p:nvSpPr>
        <p:spPr>
          <a:xfrm>
            <a:off x="662512" y="1494402"/>
            <a:ext cx="297813" cy="400110"/>
          </a:xfrm>
          <a:prstGeom prst="rect">
            <a:avLst/>
          </a:prstGeom>
          <a:noFill/>
        </p:spPr>
        <p:txBody>
          <a:bodyPr wrap="square" rtlCol="0">
            <a:spAutoFit/>
          </a:bodyPr>
          <a:lstStyle/>
          <a:p>
            <a:r>
              <a:rPr lang="en-GB" sz="2000" b="1" dirty="0">
                <a:solidFill>
                  <a:schemeClr val="bg1"/>
                </a:solidFill>
                <a:latin typeface="Helvetica" pitchFamily="2" charset="0"/>
              </a:rPr>
              <a:t>1</a:t>
            </a:r>
          </a:p>
        </p:txBody>
      </p:sp>
      <p:sp>
        <p:nvSpPr>
          <p:cNvPr id="32" name="Textfeld 31">
            <a:extLst>
              <a:ext uri="{FF2B5EF4-FFF2-40B4-BE49-F238E27FC236}">
                <a16:creationId xmlns:a16="http://schemas.microsoft.com/office/drawing/2014/main" id="{F2AB23D7-D4F5-C74A-98E9-C9C0FCE75BDB}"/>
              </a:ext>
            </a:extLst>
          </p:cNvPr>
          <p:cNvSpPr txBox="1"/>
          <p:nvPr/>
        </p:nvSpPr>
        <p:spPr>
          <a:xfrm>
            <a:off x="7784009" y="1503732"/>
            <a:ext cx="297813" cy="400110"/>
          </a:xfrm>
          <a:prstGeom prst="rect">
            <a:avLst/>
          </a:prstGeom>
          <a:noFill/>
        </p:spPr>
        <p:txBody>
          <a:bodyPr wrap="square" rtlCol="0">
            <a:spAutoFit/>
          </a:bodyPr>
          <a:lstStyle/>
          <a:p>
            <a:r>
              <a:rPr lang="en-GB" sz="2000" b="1" dirty="0">
                <a:solidFill>
                  <a:schemeClr val="bg1"/>
                </a:solidFill>
                <a:latin typeface="Helvetica" pitchFamily="2" charset="0"/>
              </a:rPr>
              <a:t>2</a:t>
            </a:r>
          </a:p>
        </p:txBody>
      </p:sp>
      <p:pic>
        <p:nvPicPr>
          <p:cNvPr id="34" name="Grafik 33">
            <a:extLst>
              <a:ext uri="{FF2B5EF4-FFF2-40B4-BE49-F238E27FC236}">
                <a16:creationId xmlns:a16="http://schemas.microsoft.com/office/drawing/2014/main" id="{68B4F3EC-5BD6-F449-B0BF-7088E0929C07}"/>
              </a:ext>
            </a:extLst>
          </p:cNvPr>
          <p:cNvPicPr>
            <a:picLocks noChangeAspect="1"/>
          </p:cNvPicPr>
          <p:nvPr/>
        </p:nvPicPr>
        <p:blipFill>
          <a:blip r:embed="rId3"/>
          <a:stretch>
            <a:fillRect/>
          </a:stretch>
        </p:blipFill>
        <p:spPr>
          <a:xfrm>
            <a:off x="458835" y="2471391"/>
            <a:ext cx="6997316" cy="2862778"/>
          </a:xfrm>
          <a:prstGeom prst="rect">
            <a:avLst/>
          </a:prstGeom>
        </p:spPr>
      </p:pic>
    </p:spTree>
    <p:extLst>
      <p:ext uri="{BB962C8B-B14F-4D97-AF65-F5344CB8AC3E}">
        <p14:creationId xmlns:p14="http://schemas.microsoft.com/office/powerpoint/2010/main" val="2098747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877B"/>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6DCB1E-DAA1-9646-A44C-D42250D5EE09}"/>
              </a:ext>
            </a:extLst>
          </p:cNvPr>
          <p:cNvSpPr>
            <a:spLocks noGrp="1"/>
          </p:cNvSpPr>
          <p:nvPr>
            <p:ph type="title"/>
          </p:nvPr>
        </p:nvSpPr>
        <p:spPr>
          <a:xfrm>
            <a:off x="838200" y="2318249"/>
            <a:ext cx="10515600" cy="1325563"/>
          </a:xfrm>
        </p:spPr>
        <p:txBody>
          <a:bodyPr/>
          <a:lstStyle/>
          <a:p>
            <a:r>
              <a:rPr lang="de-DE" b="1" dirty="0">
                <a:solidFill>
                  <a:schemeClr val="bg1"/>
                </a:solidFill>
                <a:latin typeface="Helvetica" pitchFamily="2" charset="0"/>
              </a:rPr>
              <a:t>Forschungsfrage </a:t>
            </a:r>
            <a:r>
              <a:rPr lang="en-GB" b="1" dirty="0">
                <a:solidFill>
                  <a:schemeClr val="bg1"/>
                </a:solidFill>
                <a:latin typeface="Helvetica" pitchFamily="2" charset="0"/>
              </a:rPr>
              <a:t>1</a:t>
            </a:r>
          </a:p>
        </p:txBody>
      </p:sp>
      <p:pic>
        <p:nvPicPr>
          <p:cNvPr id="4" name="Grafik 3">
            <a:extLst>
              <a:ext uri="{FF2B5EF4-FFF2-40B4-BE49-F238E27FC236}">
                <a16:creationId xmlns:a16="http://schemas.microsoft.com/office/drawing/2014/main" id="{CFC31579-BBA7-5248-B57E-8FC2B4BCDE13}"/>
              </a:ext>
            </a:extLst>
          </p:cNvPr>
          <p:cNvPicPr>
            <a:picLocks noChangeAspect="1"/>
          </p:cNvPicPr>
          <p:nvPr/>
        </p:nvPicPr>
        <p:blipFill>
          <a:blip r:embed="rId2"/>
          <a:stretch>
            <a:fillRect/>
          </a:stretch>
        </p:blipFill>
        <p:spPr>
          <a:xfrm>
            <a:off x="8814829" y="578600"/>
            <a:ext cx="2425148" cy="943383"/>
          </a:xfrm>
          <a:prstGeom prst="rect">
            <a:avLst/>
          </a:prstGeom>
        </p:spPr>
      </p:pic>
    </p:spTree>
    <p:extLst>
      <p:ext uri="{BB962C8B-B14F-4D97-AF65-F5344CB8AC3E}">
        <p14:creationId xmlns:p14="http://schemas.microsoft.com/office/powerpoint/2010/main" val="2272434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hteck 16">
            <a:extLst>
              <a:ext uri="{FF2B5EF4-FFF2-40B4-BE49-F238E27FC236}">
                <a16:creationId xmlns:a16="http://schemas.microsoft.com/office/drawing/2014/main" id="{FC10A214-6B4D-5F46-98B7-1A983D127E4A}"/>
              </a:ext>
            </a:extLst>
          </p:cNvPr>
          <p:cNvSpPr/>
          <p:nvPr/>
        </p:nvSpPr>
        <p:spPr>
          <a:xfrm>
            <a:off x="653144" y="3007601"/>
            <a:ext cx="2879766"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13" name="Rechteck 12">
            <a:extLst>
              <a:ext uri="{FF2B5EF4-FFF2-40B4-BE49-F238E27FC236}">
                <a16:creationId xmlns:a16="http://schemas.microsoft.com/office/drawing/2014/main" id="{3901BAA5-75BC-514F-8E06-167F44EE616E}"/>
              </a:ext>
            </a:extLst>
          </p:cNvPr>
          <p:cNvSpPr/>
          <p:nvPr/>
        </p:nvSpPr>
        <p:spPr>
          <a:xfrm>
            <a:off x="653143" y="2430501"/>
            <a:ext cx="8636772"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6" name="Foliennummernplatzhalter 5">
            <a:extLst>
              <a:ext uri="{FF2B5EF4-FFF2-40B4-BE49-F238E27FC236}">
                <a16:creationId xmlns:a16="http://schemas.microsoft.com/office/drawing/2014/main" id="{13D5178D-04E1-B84E-8689-0F060F51D77D}"/>
              </a:ext>
            </a:extLst>
          </p:cNvPr>
          <p:cNvSpPr>
            <a:spLocks noGrp="1"/>
          </p:cNvSpPr>
          <p:nvPr>
            <p:ph type="sldNum" sz="quarter" idx="12"/>
          </p:nvPr>
        </p:nvSpPr>
        <p:spPr/>
        <p:txBody>
          <a:bodyPr/>
          <a:lstStyle/>
          <a:p>
            <a:fld id="{5CC06646-EDF2-2341-B148-FF1B4C173C76}" type="slidenum">
              <a:rPr lang="en-GB" sz="1400" smtClean="0">
                <a:solidFill>
                  <a:schemeClr val="tx1"/>
                </a:solidFill>
                <a:latin typeface="Helvetica" pitchFamily="2" charset="0"/>
              </a:rPr>
              <a:t>7</a:t>
            </a:fld>
            <a:endParaRPr lang="en-GB" sz="1400" dirty="0">
              <a:solidFill>
                <a:schemeClr val="tx1"/>
              </a:solidFill>
              <a:latin typeface="Helvetica" pitchFamily="2" charset="0"/>
            </a:endParaRPr>
          </a:p>
        </p:txBody>
      </p:sp>
      <p:sp>
        <p:nvSpPr>
          <p:cNvPr id="7" name="Rechteck 6">
            <a:extLst>
              <a:ext uri="{FF2B5EF4-FFF2-40B4-BE49-F238E27FC236}">
                <a16:creationId xmlns:a16="http://schemas.microsoft.com/office/drawing/2014/main" id="{B836736C-0E91-7B49-9CB1-5987C0D9462C}"/>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8" name="Titel 1">
            <a:extLst>
              <a:ext uri="{FF2B5EF4-FFF2-40B4-BE49-F238E27FC236}">
                <a16:creationId xmlns:a16="http://schemas.microsoft.com/office/drawing/2014/main" id="{6C826AA2-0585-1E43-826C-0E81FC803834}"/>
              </a:ext>
            </a:extLst>
          </p:cNvPr>
          <p:cNvSpPr txBox="1">
            <a:spLocks/>
          </p:cNvSpPr>
          <p:nvPr/>
        </p:nvSpPr>
        <p:spPr>
          <a:xfrm>
            <a:off x="574963" y="444610"/>
            <a:ext cx="10515600" cy="94312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700" dirty="0">
                <a:latin typeface="Helvetica" pitchFamily="2" charset="0"/>
              </a:rPr>
              <a:t>Forschungsfrage 1</a:t>
            </a:r>
            <a:br>
              <a:rPr lang="de-DE" sz="2400" dirty="0">
                <a:latin typeface="Helvetica" pitchFamily="2" charset="0"/>
              </a:rPr>
            </a:br>
            <a:r>
              <a:rPr lang="de-DE" sz="2200" dirty="0">
                <a:latin typeface="Helvetica Light" panose="020B0403020202020204" pitchFamily="34" charset="0"/>
              </a:rPr>
              <a:t>Analyse Forschungsfrage</a:t>
            </a:r>
            <a:br>
              <a:rPr lang="de-DE" sz="2400" dirty="0">
                <a:latin typeface="Helvetica" pitchFamily="2" charset="0"/>
              </a:rPr>
            </a:br>
            <a:endParaRPr lang="de-DE" sz="2400" dirty="0">
              <a:latin typeface="Helvetica" pitchFamily="2" charset="0"/>
            </a:endParaRPr>
          </a:p>
        </p:txBody>
      </p:sp>
      <p:sp>
        <p:nvSpPr>
          <p:cNvPr id="14" name="Rechteck 13">
            <a:extLst>
              <a:ext uri="{FF2B5EF4-FFF2-40B4-BE49-F238E27FC236}">
                <a16:creationId xmlns:a16="http://schemas.microsoft.com/office/drawing/2014/main" id="{864C8BF2-123B-8B4A-8437-524D4E55F26D}"/>
              </a:ext>
            </a:extLst>
          </p:cNvPr>
          <p:cNvSpPr/>
          <p:nvPr/>
        </p:nvSpPr>
        <p:spPr>
          <a:xfrm>
            <a:off x="653143" y="2736637"/>
            <a:ext cx="3718135" cy="290833"/>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15" name="Rechteck 14">
            <a:extLst>
              <a:ext uri="{FF2B5EF4-FFF2-40B4-BE49-F238E27FC236}">
                <a16:creationId xmlns:a16="http://schemas.microsoft.com/office/drawing/2014/main" id="{23504E0E-841E-0D49-8730-891055EA17E4}"/>
              </a:ext>
            </a:extLst>
          </p:cNvPr>
          <p:cNvSpPr/>
          <p:nvPr/>
        </p:nvSpPr>
        <p:spPr>
          <a:xfrm>
            <a:off x="10507104" y="2430501"/>
            <a:ext cx="1109933"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16" name="Rechteck 15">
            <a:extLst>
              <a:ext uri="{FF2B5EF4-FFF2-40B4-BE49-F238E27FC236}">
                <a16:creationId xmlns:a16="http://schemas.microsoft.com/office/drawing/2014/main" id="{A81D7139-457F-F14F-BFD8-17D9E45A9BDD}"/>
              </a:ext>
            </a:extLst>
          </p:cNvPr>
          <p:cNvSpPr/>
          <p:nvPr/>
        </p:nvSpPr>
        <p:spPr>
          <a:xfrm>
            <a:off x="5277796" y="2705440"/>
            <a:ext cx="5812767"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3" name="Inhaltsplatzhalter 2">
            <a:extLst>
              <a:ext uri="{FF2B5EF4-FFF2-40B4-BE49-F238E27FC236}">
                <a16:creationId xmlns:a16="http://schemas.microsoft.com/office/drawing/2014/main" id="{17C49656-AD4E-4540-8F6D-F2D98A844059}"/>
              </a:ext>
            </a:extLst>
          </p:cNvPr>
          <p:cNvSpPr>
            <a:spLocks noGrp="1"/>
          </p:cNvSpPr>
          <p:nvPr>
            <p:ph idx="1"/>
          </p:nvPr>
        </p:nvSpPr>
        <p:spPr>
          <a:xfrm>
            <a:off x="574963" y="1853401"/>
            <a:ext cx="11090563" cy="3731146"/>
          </a:xfrm>
        </p:spPr>
        <p:txBody>
          <a:bodyPr>
            <a:normAutofit/>
          </a:bodyPr>
          <a:lstStyle/>
          <a:p>
            <a:pPr marL="0" indent="0" algn="just">
              <a:buNone/>
            </a:pPr>
            <a:r>
              <a:rPr lang="en-US" sz="2000" dirty="0">
                <a:latin typeface="Helvetica Light" panose="020B0403020202020204" pitchFamily="34" charset="0"/>
              </a:rPr>
              <a:t>How can a GenAI- and RAG-based Knowledge Management System, built on a vector-based embedding approach within a development and collaboration platform like Dataiku, be optimized to integrate heterogeneous unstructured supply chain data, address graphical content interpretation limitations, and be evaluated through quantitative accuracy measures and qualitative user feedback to ensure context-aware decision support?</a:t>
            </a:r>
          </a:p>
          <a:p>
            <a:pPr marL="0" indent="0" algn="just">
              <a:buNone/>
            </a:pPr>
            <a:endParaRPr lang="en-US" sz="2000" dirty="0">
              <a:latin typeface="Helvetica" pitchFamily="2" charset="0"/>
            </a:endParaRPr>
          </a:p>
          <a:p>
            <a:pPr algn="just"/>
            <a:r>
              <a:rPr lang="de-DE" sz="2000" dirty="0">
                <a:latin typeface="Helvetica" pitchFamily="2" charset="0"/>
              </a:rPr>
              <a:t>Integration und Optimierung heterogener, unstrukturierter Supply Chain Daten (1)</a:t>
            </a:r>
          </a:p>
          <a:p>
            <a:pPr algn="just"/>
            <a:r>
              <a:rPr lang="de-CH" sz="2000" dirty="0">
                <a:solidFill>
                  <a:srgbClr val="000000"/>
                </a:solidFill>
                <a:latin typeface="Helvetica" pitchFamily="2" charset="0"/>
              </a:rPr>
              <a:t>Umgang mit Einschränkungen bei der Interpretation grafischer Inhalte (2)</a:t>
            </a:r>
            <a:endParaRPr lang="de-DE" sz="2000" dirty="0">
              <a:latin typeface="Helvetica" pitchFamily="2" charset="0"/>
            </a:endParaRPr>
          </a:p>
          <a:p>
            <a:pPr algn="just"/>
            <a:r>
              <a:rPr lang="de-CH" sz="2000" dirty="0">
                <a:solidFill>
                  <a:srgbClr val="000000"/>
                </a:solidFill>
                <a:latin typeface="Helvetica" pitchFamily="2" charset="0"/>
              </a:rPr>
              <a:t>Evaluation des Modeloutputs mittels quantitativer und qualitativer Methoden (3)</a:t>
            </a:r>
            <a:endParaRPr lang="de-DE" sz="2000" dirty="0">
              <a:latin typeface="Helvetica" pitchFamily="2" charset="0"/>
            </a:endParaRPr>
          </a:p>
        </p:txBody>
      </p:sp>
    </p:spTree>
    <p:extLst>
      <p:ext uri="{BB962C8B-B14F-4D97-AF65-F5344CB8AC3E}">
        <p14:creationId xmlns:p14="http://schemas.microsoft.com/office/powerpoint/2010/main" val="3544932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3" grpId="0" animBg="1"/>
      <p:bldP spid="14" grpId="0" animBg="1"/>
      <p:bldP spid="15"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hteck 16">
            <a:extLst>
              <a:ext uri="{FF2B5EF4-FFF2-40B4-BE49-F238E27FC236}">
                <a16:creationId xmlns:a16="http://schemas.microsoft.com/office/drawing/2014/main" id="{436A767E-FC10-4545-BE89-71B2CF819741}"/>
              </a:ext>
            </a:extLst>
          </p:cNvPr>
          <p:cNvSpPr/>
          <p:nvPr/>
        </p:nvSpPr>
        <p:spPr>
          <a:xfrm>
            <a:off x="3293356" y="2429386"/>
            <a:ext cx="415081"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13" name="Rechteck 12">
            <a:extLst>
              <a:ext uri="{FF2B5EF4-FFF2-40B4-BE49-F238E27FC236}">
                <a16:creationId xmlns:a16="http://schemas.microsoft.com/office/drawing/2014/main" id="{23B2EB44-6C54-D04A-A505-21E922734AEB}"/>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6" name="Foliennummernplatzhalter 5">
            <a:extLst>
              <a:ext uri="{FF2B5EF4-FFF2-40B4-BE49-F238E27FC236}">
                <a16:creationId xmlns:a16="http://schemas.microsoft.com/office/drawing/2014/main" id="{B0CCD76F-EACA-0949-8ADB-5D8945A5A5C4}"/>
              </a:ext>
            </a:extLst>
          </p:cNvPr>
          <p:cNvSpPr>
            <a:spLocks noGrp="1"/>
          </p:cNvSpPr>
          <p:nvPr>
            <p:ph type="sldNum" sz="quarter" idx="12"/>
          </p:nvPr>
        </p:nvSpPr>
        <p:spPr/>
        <p:txBody>
          <a:bodyPr/>
          <a:lstStyle/>
          <a:p>
            <a:fld id="{5CC06646-EDF2-2341-B148-FF1B4C173C76}" type="slidenum">
              <a:rPr lang="en-GB" sz="1400" smtClean="0">
                <a:solidFill>
                  <a:schemeClr val="tx1"/>
                </a:solidFill>
                <a:latin typeface="Helvetica" pitchFamily="2" charset="0"/>
              </a:rPr>
              <a:t>8</a:t>
            </a:fld>
            <a:endParaRPr lang="en-GB" sz="1400" dirty="0">
              <a:solidFill>
                <a:schemeClr val="tx1"/>
              </a:solidFill>
              <a:latin typeface="Helvetica" pitchFamily="2" charset="0"/>
            </a:endParaRPr>
          </a:p>
        </p:txBody>
      </p:sp>
      <p:graphicFrame>
        <p:nvGraphicFramePr>
          <p:cNvPr id="5" name="Diagramm 4">
            <a:extLst>
              <a:ext uri="{FF2B5EF4-FFF2-40B4-BE49-F238E27FC236}">
                <a16:creationId xmlns:a16="http://schemas.microsoft.com/office/drawing/2014/main" id="{CEA2B0F5-1A54-9B43-9AF1-1371FF3A0875}"/>
              </a:ext>
            </a:extLst>
          </p:cNvPr>
          <p:cNvGraphicFramePr/>
          <p:nvPr>
            <p:extLst>
              <p:ext uri="{D42A27DB-BD31-4B8C-83A1-F6EECF244321}">
                <p14:modId xmlns:p14="http://schemas.microsoft.com/office/powerpoint/2010/main" val="2634595823"/>
              </p:ext>
            </p:extLst>
          </p:nvPr>
        </p:nvGraphicFramePr>
        <p:xfrm>
          <a:off x="586129" y="1441489"/>
          <a:ext cx="6244617" cy="4971901"/>
        </p:xfrm>
        <a:graphic>
          <a:graphicData uri="http://schemas.openxmlformats.org/drawingml/2006/chart">
            <c:chart xmlns:c="http://schemas.openxmlformats.org/drawingml/2006/chart" xmlns:r="http://schemas.openxmlformats.org/officeDocument/2006/relationships" r:id="rId3"/>
          </a:graphicData>
        </a:graphic>
      </p:graphicFrame>
      <p:sp>
        <p:nvSpPr>
          <p:cNvPr id="14" name="Titel 1">
            <a:extLst>
              <a:ext uri="{FF2B5EF4-FFF2-40B4-BE49-F238E27FC236}">
                <a16:creationId xmlns:a16="http://schemas.microsoft.com/office/drawing/2014/main" id="{9232A557-05BF-4F46-9A6C-0E5E7BE2C56D}"/>
              </a:ext>
            </a:extLst>
          </p:cNvPr>
          <p:cNvSpPr>
            <a:spLocks noGrp="1"/>
          </p:cNvSpPr>
          <p:nvPr>
            <p:ph type="title"/>
          </p:nvPr>
        </p:nvSpPr>
        <p:spPr>
          <a:xfrm>
            <a:off x="574963" y="444610"/>
            <a:ext cx="10515600" cy="943127"/>
          </a:xfrm>
        </p:spPr>
        <p:txBody>
          <a:bodyPr>
            <a:normAutofit fontScale="90000"/>
          </a:bodyPr>
          <a:lstStyle/>
          <a:p>
            <a:r>
              <a:rPr lang="de-DE" sz="2700" dirty="0">
                <a:latin typeface="Helvetica" pitchFamily="2" charset="0"/>
              </a:rPr>
              <a:t>Integration unstrukturierter Supply Chain Daten (1/3)</a:t>
            </a:r>
            <a:br>
              <a:rPr lang="de-DE" sz="2400" dirty="0">
                <a:latin typeface="Helvetica" pitchFamily="2" charset="0"/>
              </a:rPr>
            </a:br>
            <a:r>
              <a:rPr lang="de-DE" sz="2200" dirty="0">
                <a:latin typeface="Helvetica Light" panose="020B0403020202020204" pitchFamily="34" charset="0"/>
              </a:rPr>
              <a:t>Threading</a:t>
            </a:r>
            <a:br>
              <a:rPr lang="de-DE" sz="2400" dirty="0">
                <a:latin typeface="Helvetica" pitchFamily="2" charset="0"/>
              </a:rPr>
            </a:br>
            <a:endParaRPr lang="de-DE" sz="2400" dirty="0">
              <a:latin typeface="Helvetica" pitchFamily="2" charset="0"/>
            </a:endParaRPr>
          </a:p>
        </p:txBody>
      </p:sp>
      <p:sp>
        <p:nvSpPr>
          <p:cNvPr id="15" name="Textfeld 14">
            <a:extLst>
              <a:ext uri="{FF2B5EF4-FFF2-40B4-BE49-F238E27FC236}">
                <a16:creationId xmlns:a16="http://schemas.microsoft.com/office/drawing/2014/main" id="{93D8C40D-9D12-2D46-AF3F-2089128E9C33}"/>
              </a:ext>
            </a:extLst>
          </p:cNvPr>
          <p:cNvSpPr txBox="1"/>
          <p:nvPr/>
        </p:nvSpPr>
        <p:spPr>
          <a:xfrm>
            <a:off x="7346389" y="1501057"/>
            <a:ext cx="4512741" cy="4978286"/>
          </a:xfrm>
          <a:prstGeom prst="rect">
            <a:avLst/>
          </a:prstGeom>
          <a:noFill/>
        </p:spPr>
        <p:txBody>
          <a:bodyPr wrap="square" rtlCol="0">
            <a:spAutoFit/>
          </a:bodyPr>
          <a:lstStyle/>
          <a:p>
            <a:endParaRPr lang="de-DE" sz="1400" dirty="0">
              <a:highlight>
                <a:srgbClr val="FFFF00"/>
              </a:highlight>
              <a:latin typeface="Helvetica" pitchFamily="2" charset="0"/>
            </a:endParaRPr>
          </a:p>
          <a:p>
            <a:pPr>
              <a:spcAft>
                <a:spcPts val="500"/>
              </a:spcAft>
            </a:pPr>
            <a:r>
              <a:rPr lang="de-DE" sz="1400" b="1" dirty="0">
                <a:latin typeface="Helvetica" pitchFamily="2" charset="0"/>
              </a:rPr>
              <a:t>Identifikation eines Performance-Engpass:    </a:t>
            </a:r>
          </a:p>
          <a:p>
            <a:pPr marL="285750" indent="-285750">
              <a:spcAft>
                <a:spcPts val="500"/>
              </a:spcAft>
              <a:buFont typeface="Symbol" pitchFamily="2" charset="2"/>
              <a:buChar char="-"/>
            </a:pPr>
            <a:r>
              <a:rPr lang="de-DE" sz="1400" dirty="0">
                <a:latin typeface="Helvetica" pitchFamily="2" charset="0"/>
              </a:rPr>
              <a:t>Sehr lange </a:t>
            </a:r>
            <a:r>
              <a:rPr lang="de-DE" sz="1400" b="1" dirty="0">
                <a:latin typeface="Helvetica" pitchFamily="2" charset="0"/>
              </a:rPr>
              <a:t>Verarbeitungszeiten</a:t>
            </a:r>
            <a:r>
              <a:rPr lang="de-DE" sz="1400" dirty="0">
                <a:latin typeface="Helvetica" pitchFamily="2" charset="0"/>
              </a:rPr>
              <a:t> bei umfangreichen QDocs-Dokumenten, aufgrund hoher Seitenzahlen</a:t>
            </a:r>
          </a:p>
          <a:p>
            <a:pPr marL="285750" indent="-285750">
              <a:buFont typeface="Wingdings" pitchFamily="2" charset="2"/>
              <a:buChar char="§"/>
            </a:pPr>
            <a:r>
              <a:rPr lang="de-DE" sz="1400" b="1" dirty="0">
                <a:latin typeface="Helvetica" pitchFamily="2" charset="0"/>
              </a:rPr>
              <a:t>   </a:t>
            </a:r>
            <a:r>
              <a:rPr lang="de-DE" sz="1400" dirty="0">
                <a:latin typeface="Helvetica" pitchFamily="2" charset="0"/>
              </a:rPr>
              <a:t>QDocs Datenquellen:     ~  48 min / Datei</a:t>
            </a:r>
          </a:p>
          <a:p>
            <a:pPr marL="285750" indent="-285750">
              <a:buFont typeface="Wingdings" pitchFamily="2" charset="2"/>
              <a:buChar char="§"/>
            </a:pPr>
            <a:r>
              <a:rPr lang="de-DE" sz="1400" dirty="0">
                <a:latin typeface="Helvetica" pitchFamily="2" charset="0"/>
              </a:rPr>
              <a:t>   Restliche Datenquellen: ~  3 min / Datei</a:t>
            </a:r>
          </a:p>
          <a:p>
            <a:endParaRPr lang="de-DE" sz="1400" dirty="0">
              <a:latin typeface="Helvetica" pitchFamily="2" charset="0"/>
            </a:endParaRPr>
          </a:p>
          <a:p>
            <a:pPr>
              <a:spcBef>
                <a:spcPts val="500"/>
              </a:spcBef>
            </a:pPr>
            <a:r>
              <a:rPr lang="de-DE" sz="1400" b="1" dirty="0">
                <a:latin typeface="Helvetica" pitchFamily="2" charset="0"/>
              </a:rPr>
              <a:t>Parallelisierung des Prozesses: </a:t>
            </a:r>
          </a:p>
          <a:p>
            <a:pPr marL="285750" indent="-285750">
              <a:spcBef>
                <a:spcPts val="500"/>
              </a:spcBef>
              <a:buFont typeface="Symbol" pitchFamily="2" charset="2"/>
              <a:buChar char="-"/>
            </a:pPr>
            <a:r>
              <a:rPr lang="de-DE" sz="1400" dirty="0">
                <a:latin typeface="Helvetica" pitchFamily="2" charset="0"/>
              </a:rPr>
              <a:t>Reduktion der Verarbeitungszeiten, mithilfe Prozess Parallisierung, durch Einsatz von </a:t>
            </a:r>
            <a:r>
              <a:rPr lang="de-DE" sz="1400" b="1" dirty="0">
                <a:latin typeface="Helvetica" pitchFamily="2" charset="0"/>
              </a:rPr>
              <a:t>Python Threading</a:t>
            </a:r>
          </a:p>
          <a:p>
            <a:pPr>
              <a:spcBef>
                <a:spcPts val="500"/>
              </a:spcBef>
              <a:spcAft>
                <a:spcPts val="500"/>
              </a:spcAft>
            </a:pPr>
            <a:endParaRPr lang="de-DE" sz="1400" b="1" dirty="0">
              <a:latin typeface="Helvetica" pitchFamily="2" charset="0"/>
            </a:endParaRPr>
          </a:p>
          <a:p>
            <a:pPr>
              <a:spcAft>
                <a:spcPts val="500"/>
              </a:spcAft>
            </a:pPr>
            <a:r>
              <a:rPr lang="de-DE" sz="1400" b="1" dirty="0">
                <a:latin typeface="Helvetica" pitchFamily="2" charset="0"/>
              </a:rPr>
              <a:t>Optimale Thread-Konfiguration: </a:t>
            </a:r>
          </a:p>
          <a:p>
            <a:pPr marL="285750" indent="-285750">
              <a:buFont typeface="Symbol" pitchFamily="2" charset="2"/>
              <a:buChar char="-"/>
            </a:pPr>
            <a:r>
              <a:rPr lang="de-DE" sz="1400" dirty="0">
                <a:latin typeface="Helvetica" pitchFamily="2" charset="0"/>
              </a:rPr>
              <a:t>Empirische Bestimmung von </a:t>
            </a:r>
            <a:r>
              <a:rPr lang="de-DE" sz="1400" b="1" dirty="0">
                <a:latin typeface="Helvetica" pitchFamily="2" charset="0"/>
              </a:rPr>
              <a:t>50 Threads </a:t>
            </a:r>
            <a:r>
              <a:rPr lang="de-DE" sz="1400" dirty="0">
                <a:latin typeface="Helvetica" pitchFamily="2" charset="0"/>
              </a:rPr>
              <a:t>als effizientester Konfiguration im Test Datensatz</a:t>
            </a:r>
          </a:p>
          <a:p>
            <a:pPr marL="171450" indent="-171450">
              <a:buFont typeface="Arial" panose="020B0604020202020204" pitchFamily="34" charset="0"/>
              <a:buChar char="•"/>
            </a:pPr>
            <a:endParaRPr lang="de-DE" sz="1400" b="1" dirty="0">
              <a:latin typeface="Helvetica" pitchFamily="2" charset="0"/>
            </a:endParaRPr>
          </a:p>
          <a:p>
            <a:pPr>
              <a:spcAft>
                <a:spcPts val="500"/>
              </a:spcAft>
            </a:pPr>
            <a:r>
              <a:rPr lang="de-DE" sz="1400" b="1" dirty="0">
                <a:latin typeface="Helvetica" pitchFamily="2" charset="0"/>
              </a:rPr>
              <a:t>Skalierbare Integration:   </a:t>
            </a:r>
          </a:p>
          <a:p>
            <a:pPr marL="285750" indent="-285750">
              <a:spcAft>
                <a:spcPts val="500"/>
              </a:spcAft>
              <a:buFont typeface="Symbol" pitchFamily="2" charset="2"/>
              <a:buChar char="-"/>
            </a:pPr>
            <a:r>
              <a:rPr lang="de-DE" sz="1400" dirty="0">
                <a:latin typeface="Helvetica" pitchFamily="2" charset="0"/>
              </a:rPr>
              <a:t>Erfolgreiche </a:t>
            </a:r>
            <a:r>
              <a:rPr lang="de-DE" sz="1400" b="1" dirty="0">
                <a:latin typeface="Helvetica" pitchFamily="2" charset="0"/>
              </a:rPr>
              <a:t>Weiterverarbeitung</a:t>
            </a:r>
            <a:r>
              <a:rPr lang="de-DE" sz="1400" dirty="0">
                <a:latin typeface="Helvetica" pitchFamily="2" charset="0"/>
              </a:rPr>
              <a:t> grosser QDocs-Datenmengen durch </a:t>
            </a:r>
            <a:r>
              <a:rPr lang="de-DE" sz="1400" b="1" dirty="0">
                <a:latin typeface="Helvetica" pitchFamily="2" charset="0"/>
              </a:rPr>
              <a:t>Batch-Verarbeitung</a:t>
            </a:r>
          </a:p>
        </p:txBody>
      </p:sp>
      <p:sp>
        <p:nvSpPr>
          <p:cNvPr id="16" name="Rechteck 15">
            <a:extLst>
              <a:ext uri="{FF2B5EF4-FFF2-40B4-BE49-F238E27FC236}">
                <a16:creationId xmlns:a16="http://schemas.microsoft.com/office/drawing/2014/main" id="{24FD2BB8-BFC2-DC4F-A2D7-C76BDC06FBBC}"/>
              </a:ext>
            </a:extLst>
          </p:cNvPr>
          <p:cNvSpPr/>
          <p:nvPr/>
        </p:nvSpPr>
        <p:spPr>
          <a:xfrm>
            <a:off x="3167743" y="2351313"/>
            <a:ext cx="1224643" cy="209822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1719293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B0CCD76F-EACA-0949-8ADB-5D8945A5A5C4}"/>
              </a:ext>
            </a:extLst>
          </p:cNvPr>
          <p:cNvSpPr>
            <a:spLocks noGrp="1"/>
          </p:cNvSpPr>
          <p:nvPr>
            <p:ph type="sldNum" sz="quarter" idx="12"/>
          </p:nvPr>
        </p:nvSpPr>
        <p:spPr/>
        <p:txBody>
          <a:bodyPr/>
          <a:lstStyle/>
          <a:p>
            <a:fld id="{5CC06646-EDF2-2341-B148-FF1B4C173C76}" type="slidenum">
              <a:rPr lang="en-GB" sz="1400" smtClean="0">
                <a:solidFill>
                  <a:schemeClr val="tx1"/>
                </a:solidFill>
                <a:latin typeface="Helvetica" pitchFamily="2" charset="0"/>
              </a:rPr>
              <a:t>9</a:t>
            </a:fld>
            <a:endParaRPr lang="en-GB" dirty="0">
              <a:solidFill>
                <a:schemeClr val="tx1"/>
              </a:solidFill>
              <a:latin typeface="Helvetica" pitchFamily="2" charset="0"/>
            </a:endParaRPr>
          </a:p>
        </p:txBody>
      </p:sp>
      <p:sp>
        <p:nvSpPr>
          <p:cNvPr id="8" name="Rechteck 7">
            <a:extLst>
              <a:ext uri="{FF2B5EF4-FFF2-40B4-BE49-F238E27FC236}">
                <a16:creationId xmlns:a16="http://schemas.microsoft.com/office/drawing/2014/main" id="{B0CF2ED8-1578-9A43-A258-A568B8F591DF}"/>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9" name="Titel 1">
            <a:extLst>
              <a:ext uri="{FF2B5EF4-FFF2-40B4-BE49-F238E27FC236}">
                <a16:creationId xmlns:a16="http://schemas.microsoft.com/office/drawing/2014/main" id="{C1505443-FD7B-614B-8CFC-AF7162403F13}"/>
              </a:ext>
            </a:extLst>
          </p:cNvPr>
          <p:cNvSpPr txBox="1">
            <a:spLocks/>
          </p:cNvSpPr>
          <p:nvPr/>
        </p:nvSpPr>
        <p:spPr>
          <a:xfrm>
            <a:off x="574963" y="444610"/>
            <a:ext cx="10515600" cy="94312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700" dirty="0">
                <a:latin typeface="Helvetica" pitchFamily="2" charset="0"/>
              </a:rPr>
              <a:t>Einschränkungen bei der Interpretation grafischer Inhalte (2/3)</a:t>
            </a:r>
            <a:br>
              <a:rPr lang="de-DE" sz="2400" dirty="0">
                <a:latin typeface="Helvetica" pitchFamily="2" charset="0"/>
              </a:rPr>
            </a:br>
            <a:r>
              <a:rPr lang="de-DE" sz="2200" dirty="0">
                <a:latin typeface="Helvetica Light" panose="020B0403020202020204" pitchFamily="34" charset="0"/>
              </a:rPr>
              <a:t>Lösungsansätze</a:t>
            </a:r>
            <a:br>
              <a:rPr lang="de-DE" sz="2400" dirty="0">
                <a:latin typeface="Helvetica" pitchFamily="2" charset="0"/>
              </a:rPr>
            </a:br>
            <a:endParaRPr lang="de-DE" sz="2400" dirty="0">
              <a:latin typeface="Helvetica" pitchFamily="2" charset="0"/>
            </a:endParaRPr>
          </a:p>
        </p:txBody>
      </p:sp>
      <p:sp>
        <p:nvSpPr>
          <p:cNvPr id="11" name="Rechteck 10">
            <a:extLst>
              <a:ext uri="{FF2B5EF4-FFF2-40B4-BE49-F238E27FC236}">
                <a16:creationId xmlns:a16="http://schemas.microsoft.com/office/drawing/2014/main" id="{A713CA39-A853-494B-A6D3-562E4FFB5CF6}"/>
              </a:ext>
            </a:extLst>
          </p:cNvPr>
          <p:cNvSpPr/>
          <p:nvPr/>
        </p:nvSpPr>
        <p:spPr>
          <a:xfrm>
            <a:off x="574964" y="1518576"/>
            <a:ext cx="3336638" cy="701124"/>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Einsatz alternativer LLMs</a:t>
            </a:r>
          </a:p>
        </p:txBody>
      </p:sp>
      <p:sp>
        <p:nvSpPr>
          <p:cNvPr id="12" name="Rechteck 11">
            <a:extLst>
              <a:ext uri="{FF2B5EF4-FFF2-40B4-BE49-F238E27FC236}">
                <a16:creationId xmlns:a16="http://schemas.microsoft.com/office/drawing/2014/main" id="{BEAB596B-BF34-D640-A131-F8F5C82BF50F}"/>
              </a:ext>
            </a:extLst>
          </p:cNvPr>
          <p:cNvSpPr/>
          <p:nvPr/>
        </p:nvSpPr>
        <p:spPr>
          <a:xfrm>
            <a:off x="574963" y="2429653"/>
            <a:ext cx="3383262" cy="2744772"/>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3" name="Rechteck 12">
            <a:extLst>
              <a:ext uri="{FF2B5EF4-FFF2-40B4-BE49-F238E27FC236}">
                <a16:creationId xmlns:a16="http://schemas.microsoft.com/office/drawing/2014/main" id="{E076745A-49E0-8E43-BD37-EADE478B1BA1}"/>
              </a:ext>
            </a:extLst>
          </p:cNvPr>
          <p:cNvSpPr/>
          <p:nvPr/>
        </p:nvSpPr>
        <p:spPr>
          <a:xfrm>
            <a:off x="4057081" y="2412572"/>
            <a:ext cx="3690434" cy="2761853"/>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4" name="Rechteck 13">
            <a:extLst>
              <a:ext uri="{FF2B5EF4-FFF2-40B4-BE49-F238E27FC236}">
                <a16:creationId xmlns:a16="http://schemas.microsoft.com/office/drawing/2014/main" id="{512B8795-FE39-3C43-9701-3A8AC03207F8}"/>
              </a:ext>
            </a:extLst>
          </p:cNvPr>
          <p:cNvSpPr/>
          <p:nvPr/>
        </p:nvSpPr>
        <p:spPr>
          <a:xfrm>
            <a:off x="7857840" y="2426062"/>
            <a:ext cx="3584860" cy="2761853"/>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5" name="Rechteck 14">
            <a:extLst>
              <a:ext uri="{FF2B5EF4-FFF2-40B4-BE49-F238E27FC236}">
                <a16:creationId xmlns:a16="http://schemas.microsoft.com/office/drawing/2014/main" id="{11A89538-5D17-9D42-8F2A-B1E3BFF3900A}"/>
              </a:ext>
            </a:extLst>
          </p:cNvPr>
          <p:cNvSpPr/>
          <p:nvPr/>
        </p:nvSpPr>
        <p:spPr>
          <a:xfrm>
            <a:off x="4057080" y="1501496"/>
            <a:ext cx="3690434" cy="701124"/>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Segmentierung grafischer Inhalte</a:t>
            </a:r>
          </a:p>
        </p:txBody>
      </p:sp>
      <p:sp>
        <p:nvSpPr>
          <p:cNvPr id="16" name="Rechteck 15">
            <a:extLst>
              <a:ext uri="{FF2B5EF4-FFF2-40B4-BE49-F238E27FC236}">
                <a16:creationId xmlns:a16="http://schemas.microsoft.com/office/drawing/2014/main" id="{6DEC1A6A-1341-BC43-A227-4449B6CB4C5C}"/>
              </a:ext>
            </a:extLst>
          </p:cNvPr>
          <p:cNvSpPr/>
          <p:nvPr/>
        </p:nvSpPr>
        <p:spPr>
          <a:xfrm>
            <a:off x="7888505" y="1501496"/>
            <a:ext cx="3584860" cy="701124"/>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Manuelle Daten Integration</a:t>
            </a:r>
          </a:p>
        </p:txBody>
      </p:sp>
      <p:sp>
        <p:nvSpPr>
          <p:cNvPr id="17" name="Dreieck 16">
            <a:extLst>
              <a:ext uri="{FF2B5EF4-FFF2-40B4-BE49-F238E27FC236}">
                <a16:creationId xmlns:a16="http://schemas.microsoft.com/office/drawing/2014/main" id="{5AC1F329-ED71-9D45-AA06-650152C5B6B8}"/>
              </a:ext>
            </a:extLst>
          </p:cNvPr>
          <p:cNvSpPr/>
          <p:nvPr/>
        </p:nvSpPr>
        <p:spPr>
          <a:xfrm>
            <a:off x="574963" y="5563621"/>
            <a:ext cx="10867737" cy="678970"/>
          </a:xfrm>
          <a:prstGeom prst="triangle">
            <a:avLst>
              <a:gd name="adj" fmla="val 100000"/>
            </a:avLst>
          </a:prstGeom>
          <a:solidFill>
            <a:srgbClr val="008E87">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latin typeface="Helvetica" pitchFamily="2" charset="0"/>
              </a:rPr>
              <a:t>Implementierungs Aufwand</a:t>
            </a:r>
          </a:p>
        </p:txBody>
      </p:sp>
      <p:sp>
        <p:nvSpPr>
          <p:cNvPr id="18" name="Textfeld 17">
            <a:extLst>
              <a:ext uri="{FF2B5EF4-FFF2-40B4-BE49-F238E27FC236}">
                <a16:creationId xmlns:a16="http://schemas.microsoft.com/office/drawing/2014/main" id="{7F069DB2-59BF-B14E-B667-FB585B02E11E}"/>
              </a:ext>
            </a:extLst>
          </p:cNvPr>
          <p:cNvSpPr txBox="1"/>
          <p:nvPr/>
        </p:nvSpPr>
        <p:spPr>
          <a:xfrm>
            <a:off x="626835" y="2480886"/>
            <a:ext cx="3232895" cy="2375009"/>
          </a:xfrm>
          <a:prstGeom prst="rect">
            <a:avLst/>
          </a:prstGeom>
          <a:noFill/>
        </p:spPr>
        <p:txBody>
          <a:bodyPr wrap="square" rtlCol="0">
            <a:spAutoFit/>
          </a:bodyPr>
          <a:lstStyle/>
          <a:p>
            <a:endParaRPr lang="de-DE" sz="1400" dirty="0">
              <a:highlight>
                <a:srgbClr val="FFFF00"/>
              </a:highlight>
              <a:latin typeface="Helvetica" pitchFamily="2" charset="0"/>
            </a:endParaRPr>
          </a:p>
          <a:p>
            <a:pPr>
              <a:spcAft>
                <a:spcPts val="500"/>
              </a:spcAft>
            </a:pPr>
            <a:r>
              <a:rPr lang="de-DE" sz="1400" b="1" dirty="0">
                <a:latin typeface="Helvetica" pitchFamily="2" charset="0"/>
              </a:rPr>
              <a:t>LLM-Auswahl:</a:t>
            </a:r>
          </a:p>
          <a:p>
            <a:pPr marL="285750" indent="-285750">
              <a:buFont typeface="Symbol" pitchFamily="2" charset="2"/>
              <a:buChar char="-"/>
            </a:pPr>
            <a:r>
              <a:rPr lang="de-DE" sz="1400" dirty="0">
                <a:latin typeface="Helvetica" pitchFamily="2" charset="0"/>
              </a:rPr>
              <a:t>Einsatz leistungsstärkeren LLMs desselben Anbieters mit besseren Fähigkeiten zur Extraktion</a:t>
            </a:r>
          </a:p>
          <a:p>
            <a:endParaRPr lang="de-DE" sz="1400" dirty="0">
              <a:latin typeface="Helvetica" pitchFamily="2" charset="0"/>
            </a:endParaRPr>
          </a:p>
          <a:p>
            <a:pPr>
              <a:spcAft>
                <a:spcPts val="500"/>
              </a:spcAft>
            </a:pPr>
            <a:r>
              <a:rPr lang="de-DE" sz="1400" b="1" dirty="0">
                <a:latin typeface="Helvetica" pitchFamily="2" charset="0"/>
              </a:rPr>
              <a:t>Grafikspezialisierte LLMs:</a:t>
            </a:r>
          </a:p>
          <a:p>
            <a:pPr marL="285750" indent="-285750">
              <a:spcAft>
                <a:spcPts val="500"/>
              </a:spcAft>
              <a:buFont typeface="Symbol" pitchFamily="2" charset="2"/>
              <a:buChar char="-"/>
            </a:pPr>
            <a:r>
              <a:rPr lang="de-CH" sz="1400" dirty="0">
                <a:solidFill>
                  <a:srgbClr val="000000"/>
                </a:solidFill>
                <a:latin typeface="Helvetica" pitchFamily="2" charset="0"/>
              </a:rPr>
              <a:t>Einsatz von LLMs verschiedener Anbieter, die auf grafische Inhalte spezialisiert sind</a:t>
            </a:r>
            <a:endParaRPr lang="de-DE" sz="1400" dirty="0">
              <a:latin typeface="Helvetica" pitchFamily="2" charset="0"/>
            </a:endParaRPr>
          </a:p>
        </p:txBody>
      </p:sp>
      <p:sp>
        <p:nvSpPr>
          <p:cNvPr id="19" name="Textfeld 18">
            <a:extLst>
              <a:ext uri="{FF2B5EF4-FFF2-40B4-BE49-F238E27FC236}">
                <a16:creationId xmlns:a16="http://schemas.microsoft.com/office/drawing/2014/main" id="{89DBFD45-F364-084C-B0FB-6522837EF5D9}"/>
              </a:ext>
            </a:extLst>
          </p:cNvPr>
          <p:cNvSpPr txBox="1"/>
          <p:nvPr/>
        </p:nvSpPr>
        <p:spPr>
          <a:xfrm>
            <a:off x="4170655" y="2464962"/>
            <a:ext cx="3463283" cy="2375009"/>
          </a:xfrm>
          <a:prstGeom prst="rect">
            <a:avLst/>
          </a:prstGeom>
          <a:noFill/>
        </p:spPr>
        <p:txBody>
          <a:bodyPr wrap="square" rtlCol="0">
            <a:spAutoFit/>
          </a:bodyPr>
          <a:lstStyle/>
          <a:p>
            <a:endParaRPr lang="de-DE" sz="1400" dirty="0">
              <a:highlight>
                <a:srgbClr val="FFFF00"/>
              </a:highlight>
              <a:latin typeface="Helvetica" pitchFamily="2" charset="0"/>
            </a:endParaRPr>
          </a:p>
          <a:p>
            <a:pPr>
              <a:spcAft>
                <a:spcPts val="500"/>
              </a:spcAft>
            </a:pPr>
            <a:r>
              <a:rPr lang="de-DE" sz="1400" b="1" dirty="0">
                <a:latin typeface="Helvetica" pitchFamily="2" charset="0"/>
              </a:rPr>
              <a:t>Segmentierung komplexer Grafiken:</a:t>
            </a:r>
          </a:p>
          <a:p>
            <a:pPr marL="285750" indent="-285750">
              <a:buFont typeface="Symbol" pitchFamily="2" charset="2"/>
              <a:buChar char="-"/>
            </a:pPr>
            <a:r>
              <a:rPr lang="de-DE" sz="1400" dirty="0">
                <a:latin typeface="Helvetica" pitchFamily="2" charset="0"/>
              </a:rPr>
              <a:t>Zerlegung umfangreicher und detailreicher Abbildungen in kleinere, </a:t>
            </a:r>
            <a:r>
              <a:rPr lang="de-DE" sz="1400" b="1" dirty="0">
                <a:latin typeface="Helvetica" pitchFamily="2" charset="0"/>
              </a:rPr>
              <a:t>weniger komplexe </a:t>
            </a:r>
            <a:r>
              <a:rPr lang="de-DE" sz="1400" dirty="0">
                <a:latin typeface="Helvetica" pitchFamily="2" charset="0"/>
              </a:rPr>
              <a:t>Einheiten</a:t>
            </a:r>
          </a:p>
          <a:p>
            <a:endParaRPr lang="de-DE" sz="1400" dirty="0">
              <a:latin typeface="Helvetica" pitchFamily="2" charset="0"/>
            </a:endParaRPr>
          </a:p>
          <a:p>
            <a:pPr>
              <a:spcAft>
                <a:spcPts val="500"/>
              </a:spcAft>
            </a:pPr>
            <a:r>
              <a:rPr lang="de-DE" sz="1400" b="1" dirty="0">
                <a:latin typeface="Helvetica" pitchFamily="2" charset="0"/>
              </a:rPr>
              <a:t>Verbesserte Interpretierbarkeit:</a:t>
            </a:r>
          </a:p>
          <a:p>
            <a:pPr marL="285750" indent="-285750">
              <a:buFont typeface="Symbol" pitchFamily="2" charset="2"/>
              <a:buChar char="-"/>
            </a:pPr>
            <a:r>
              <a:rPr lang="de-DE" sz="1400" dirty="0">
                <a:latin typeface="Helvetica" pitchFamily="2" charset="0"/>
              </a:rPr>
              <a:t>Erhöhung der Output Qualität durch vereinfachten </a:t>
            </a:r>
            <a:r>
              <a:rPr lang="de-DE" sz="1400" b="1" dirty="0">
                <a:latin typeface="Helvetica" pitchFamily="2" charset="0"/>
              </a:rPr>
              <a:t>Extraktionsprozess</a:t>
            </a:r>
            <a:r>
              <a:rPr lang="de-DE" sz="1400" dirty="0">
                <a:latin typeface="Helvetica" pitchFamily="2" charset="0"/>
              </a:rPr>
              <a:t> für das </a:t>
            </a:r>
            <a:r>
              <a:rPr lang="de-DE" sz="1400" b="1" dirty="0">
                <a:latin typeface="Helvetica" pitchFamily="2" charset="0"/>
              </a:rPr>
              <a:t>LLM</a:t>
            </a:r>
          </a:p>
        </p:txBody>
      </p:sp>
      <p:sp>
        <p:nvSpPr>
          <p:cNvPr id="20" name="Textfeld 19">
            <a:extLst>
              <a:ext uri="{FF2B5EF4-FFF2-40B4-BE49-F238E27FC236}">
                <a16:creationId xmlns:a16="http://schemas.microsoft.com/office/drawing/2014/main" id="{E6AC6C21-1E76-E847-8F74-A0821BE1E750}"/>
              </a:ext>
            </a:extLst>
          </p:cNvPr>
          <p:cNvSpPr txBox="1"/>
          <p:nvPr/>
        </p:nvSpPr>
        <p:spPr>
          <a:xfrm>
            <a:off x="8004359" y="2484072"/>
            <a:ext cx="3395162" cy="2375009"/>
          </a:xfrm>
          <a:prstGeom prst="rect">
            <a:avLst/>
          </a:prstGeom>
          <a:noFill/>
        </p:spPr>
        <p:txBody>
          <a:bodyPr wrap="square" rtlCol="0">
            <a:spAutoFit/>
          </a:bodyPr>
          <a:lstStyle/>
          <a:p>
            <a:endParaRPr lang="de-DE" sz="1400" dirty="0">
              <a:highlight>
                <a:srgbClr val="FFFF00"/>
              </a:highlight>
              <a:latin typeface="Helvetica" pitchFamily="2" charset="0"/>
            </a:endParaRPr>
          </a:p>
          <a:p>
            <a:pPr>
              <a:spcAft>
                <a:spcPts val="500"/>
              </a:spcAft>
            </a:pPr>
            <a:r>
              <a:rPr lang="de-DE" sz="1400" b="1" dirty="0">
                <a:latin typeface="Helvetica" pitchFamily="2" charset="0"/>
              </a:rPr>
              <a:t>Integration zusätzlicher Daten: </a:t>
            </a:r>
          </a:p>
          <a:p>
            <a:pPr marL="285750" indent="-285750">
              <a:buFont typeface="Symbol" pitchFamily="2" charset="2"/>
              <a:buChar char="-"/>
            </a:pPr>
            <a:r>
              <a:rPr lang="de-DE" sz="1400" dirty="0">
                <a:latin typeface="Helvetica" pitchFamily="2" charset="0"/>
              </a:rPr>
              <a:t>Einbindung zusätzlicher relevanter </a:t>
            </a:r>
            <a:r>
              <a:rPr lang="de-DE" sz="1400" b="1" dirty="0">
                <a:latin typeface="Helvetica" pitchFamily="2" charset="0"/>
              </a:rPr>
              <a:t>Daten</a:t>
            </a:r>
            <a:r>
              <a:rPr lang="de-DE" sz="1400" dirty="0">
                <a:latin typeface="Helvetica" pitchFamily="2" charset="0"/>
              </a:rPr>
              <a:t> in Form eines </a:t>
            </a:r>
            <a:r>
              <a:rPr lang="de-DE" sz="1400" b="1" dirty="0">
                <a:latin typeface="Helvetica" pitchFamily="2" charset="0"/>
              </a:rPr>
              <a:t>Textdokumentes</a:t>
            </a:r>
          </a:p>
          <a:p>
            <a:endParaRPr lang="de-DE" sz="1400" dirty="0">
              <a:latin typeface="Helvetica" pitchFamily="2" charset="0"/>
            </a:endParaRPr>
          </a:p>
          <a:p>
            <a:pPr>
              <a:spcAft>
                <a:spcPts val="500"/>
              </a:spcAft>
            </a:pPr>
            <a:r>
              <a:rPr lang="de-DE" sz="1400" b="1" dirty="0">
                <a:latin typeface="Helvetica" pitchFamily="2" charset="0"/>
              </a:rPr>
              <a:t>Nachträgliche Inhaltsergänzung:</a:t>
            </a:r>
          </a:p>
          <a:p>
            <a:pPr marL="285750" indent="-285750">
              <a:buFont typeface="Symbol" pitchFamily="2" charset="2"/>
              <a:buChar char="-"/>
            </a:pPr>
            <a:r>
              <a:rPr lang="de-DE" sz="1400" dirty="0">
                <a:latin typeface="Helvetica" pitchFamily="2" charset="0"/>
              </a:rPr>
              <a:t>Bereitstellung zuvor </a:t>
            </a:r>
            <a:r>
              <a:rPr lang="de-DE" sz="1400" b="1" dirty="0">
                <a:latin typeface="Helvetica" pitchFamily="2" charset="0"/>
              </a:rPr>
              <a:t>nicht</a:t>
            </a:r>
            <a:r>
              <a:rPr lang="de-DE" sz="1400" dirty="0">
                <a:latin typeface="Helvetica" pitchFamily="2" charset="0"/>
              </a:rPr>
              <a:t> oder nur </a:t>
            </a:r>
            <a:r>
              <a:rPr lang="de-DE" sz="1400" b="1" dirty="0">
                <a:latin typeface="Helvetica" pitchFamily="2" charset="0"/>
              </a:rPr>
              <a:t>unzureichend</a:t>
            </a:r>
            <a:r>
              <a:rPr lang="de-DE" sz="1400" dirty="0">
                <a:latin typeface="Helvetica" pitchFamily="2" charset="0"/>
              </a:rPr>
              <a:t> </a:t>
            </a:r>
            <a:r>
              <a:rPr lang="de-DE" sz="1400" b="1" dirty="0">
                <a:latin typeface="Helvetica" pitchFamily="2" charset="0"/>
              </a:rPr>
              <a:t>extrahierten</a:t>
            </a:r>
            <a:r>
              <a:rPr lang="de-DE" sz="1400" dirty="0">
                <a:latin typeface="Helvetica" pitchFamily="2" charset="0"/>
              </a:rPr>
              <a:t> Informationen</a:t>
            </a:r>
          </a:p>
        </p:txBody>
      </p:sp>
      <p:sp>
        <p:nvSpPr>
          <p:cNvPr id="24" name="Textfeld 23">
            <a:extLst>
              <a:ext uri="{FF2B5EF4-FFF2-40B4-BE49-F238E27FC236}">
                <a16:creationId xmlns:a16="http://schemas.microsoft.com/office/drawing/2014/main" id="{99283109-A857-5A49-B366-85B8397D3C56}"/>
              </a:ext>
            </a:extLst>
          </p:cNvPr>
          <p:cNvSpPr txBox="1"/>
          <p:nvPr/>
        </p:nvSpPr>
        <p:spPr>
          <a:xfrm>
            <a:off x="11134021" y="4765071"/>
            <a:ext cx="297813" cy="400110"/>
          </a:xfrm>
          <a:prstGeom prst="rect">
            <a:avLst/>
          </a:prstGeom>
          <a:noFill/>
        </p:spPr>
        <p:txBody>
          <a:bodyPr wrap="square" rtlCol="0">
            <a:spAutoFit/>
          </a:bodyPr>
          <a:lstStyle/>
          <a:p>
            <a:r>
              <a:rPr lang="en-GB" sz="2000" b="1" dirty="0">
                <a:solidFill>
                  <a:srgbClr val="009997"/>
                </a:solidFill>
                <a:latin typeface="Helvetica" pitchFamily="2" charset="0"/>
              </a:rPr>
              <a:t>3</a:t>
            </a:r>
          </a:p>
        </p:txBody>
      </p:sp>
      <p:sp>
        <p:nvSpPr>
          <p:cNvPr id="25" name="Textfeld 24">
            <a:extLst>
              <a:ext uri="{FF2B5EF4-FFF2-40B4-BE49-F238E27FC236}">
                <a16:creationId xmlns:a16="http://schemas.microsoft.com/office/drawing/2014/main" id="{4631EE1C-E9C7-9540-AC14-92212E759E1E}"/>
              </a:ext>
            </a:extLst>
          </p:cNvPr>
          <p:cNvSpPr txBox="1"/>
          <p:nvPr/>
        </p:nvSpPr>
        <p:spPr>
          <a:xfrm>
            <a:off x="3634794" y="4759123"/>
            <a:ext cx="297813" cy="400110"/>
          </a:xfrm>
          <a:prstGeom prst="rect">
            <a:avLst/>
          </a:prstGeom>
          <a:noFill/>
        </p:spPr>
        <p:txBody>
          <a:bodyPr wrap="square" rtlCol="0">
            <a:spAutoFit/>
          </a:bodyPr>
          <a:lstStyle/>
          <a:p>
            <a:r>
              <a:rPr lang="en-GB" sz="2000" b="1" dirty="0">
                <a:solidFill>
                  <a:srgbClr val="009997"/>
                </a:solidFill>
                <a:latin typeface="Helvetica" pitchFamily="2" charset="0"/>
              </a:rPr>
              <a:t>1</a:t>
            </a:r>
          </a:p>
        </p:txBody>
      </p:sp>
      <p:sp>
        <p:nvSpPr>
          <p:cNvPr id="26" name="Textfeld 25">
            <a:extLst>
              <a:ext uri="{FF2B5EF4-FFF2-40B4-BE49-F238E27FC236}">
                <a16:creationId xmlns:a16="http://schemas.microsoft.com/office/drawing/2014/main" id="{F669E471-2951-7341-B3A9-F0DF91B93D74}"/>
              </a:ext>
            </a:extLst>
          </p:cNvPr>
          <p:cNvSpPr txBox="1"/>
          <p:nvPr/>
        </p:nvSpPr>
        <p:spPr>
          <a:xfrm>
            <a:off x="7418008" y="4765073"/>
            <a:ext cx="297813" cy="400110"/>
          </a:xfrm>
          <a:prstGeom prst="rect">
            <a:avLst/>
          </a:prstGeom>
          <a:noFill/>
        </p:spPr>
        <p:txBody>
          <a:bodyPr wrap="square" rtlCol="0">
            <a:spAutoFit/>
          </a:bodyPr>
          <a:lstStyle/>
          <a:p>
            <a:r>
              <a:rPr lang="en-GB" sz="2000" b="1" dirty="0">
                <a:solidFill>
                  <a:srgbClr val="009997"/>
                </a:solidFill>
                <a:latin typeface="Helvetica" pitchFamily="2" charset="0"/>
              </a:rPr>
              <a:t>2</a:t>
            </a:r>
          </a:p>
        </p:txBody>
      </p:sp>
      <p:sp>
        <p:nvSpPr>
          <p:cNvPr id="2" name="Textfeld 1">
            <a:extLst>
              <a:ext uri="{FF2B5EF4-FFF2-40B4-BE49-F238E27FC236}">
                <a16:creationId xmlns:a16="http://schemas.microsoft.com/office/drawing/2014/main" id="{BA62DADF-C8B3-1942-BCF7-B1EF3CFB0D37}"/>
              </a:ext>
            </a:extLst>
          </p:cNvPr>
          <p:cNvSpPr txBox="1"/>
          <p:nvPr/>
        </p:nvSpPr>
        <p:spPr>
          <a:xfrm>
            <a:off x="2228045" y="5628068"/>
            <a:ext cx="184731" cy="369332"/>
          </a:xfrm>
          <a:prstGeom prst="rect">
            <a:avLst/>
          </a:prstGeom>
          <a:noFill/>
        </p:spPr>
        <p:txBody>
          <a:bodyPr wrap="none" rtlCol="0">
            <a:spAutoFit/>
          </a:bodyPr>
          <a:lstStyle/>
          <a:p>
            <a:endParaRPr lang="en-GB"/>
          </a:p>
        </p:txBody>
      </p:sp>
    </p:spTree>
    <p:extLst>
      <p:ext uri="{BB962C8B-B14F-4D97-AF65-F5344CB8AC3E}">
        <p14:creationId xmlns:p14="http://schemas.microsoft.com/office/powerpoint/2010/main" val="4172709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9" grpId="0"/>
      <p:bldP spid="20" grpId="0"/>
      <p:bldP spid="24"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9E5C9641-06C6-4B41-A280-FA00103AB3C6}"/>
              </a:ext>
            </a:extLst>
          </p:cNvPr>
          <p:cNvSpPr/>
          <p:nvPr/>
        </p:nvSpPr>
        <p:spPr>
          <a:xfrm>
            <a:off x="5122255" y="2073786"/>
            <a:ext cx="415081"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19" name="Rechteck 18">
            <a:extLst>
              <a:ext uri="{FF2B5EF4-FFF2-40B4-BE49-F238E27FC236}">
                <a16:creationId xmlns:a16="http://schemas.microsoft.com/office/drawing/2014/main" id="{40AB0E2F-C648-F64A-A754-D180DACB5150}"/>
              </a:ext>
            </a:extLst>
          </p:cNvPr>
          <p:cNvSpPr/>
          <p:nvPr/>
        </p:nvSpPr>
        <p:spPr>
          <a:xfrm>
            <a:off x="4791345" y="2252652"/>
            <a:ext cx="415081"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14" name="Rechteck 13">
            <a:extLst>
              <a:ext uri="{FF2B5EF4-FFF2-40B4-BE49-F238E27FC236}">
                <a16:creationId xmlns:a16="http://schemas.microsoft.com/office/drawing/2014/main" id="{722E3E00-19AE-574F-B342-4E49B3E293DA}"/>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6" name="Foliennummernplatzhalter 5">
            <a:extLst>
              <a:ext uri="{FF2B5EF4-FFF2-40B4-BE49-F238E27FC236}">
                <a16:creationId xmlns:a16="http://schemas.microsoft.com/office/drawing/2014/main" id="{B0CCD76F-EACA-0949-8ADB-5D8945A5A5C4}"/>
              </a:ext>
            </a:extLst>
          </p:cNvPr>
          <p:cNvSpPr>
            <a:spLocks noGrp="1"/>
          </p:cNvSpPr>
          <p:nvPr>
            <p:ph type="sldNum" sz="quarter" idx="12"/>
          </p:nvPr>
        </p:nvSpPr>
        <p:spPr/>
        <p:txBody>
          <a:bodyPr/>
          <a:lstStyle/>
          <a:p>
            <a:fld id="{5CC06646-EDF2-2341-B148-FF1B4C173C76}" type="slidenum">
              <a:rPr lang="en-GB" sz="1400" smtClean="0">
                <a:solidFill>
                  <a:schemeClr val="tx1"/>
                </a:solidFill>
                <a:latin typeface="Helvetica" pitchFamily="2" charset="0"/>
              </a:rPr>
              <a:t>10</a:t>
            </a:fld>
            <a:endParaRPr lang="en-GB" dirty="0">
              <a:solidFill>
                <a:schemeClr val="tx1"/>
              </a:solidFill>
              <a:latin typeface="Helvetica" pitchFamily="2" charset="0"/>
            </a:endParaRPr>
          </a:p>
        </p:txBody>
      </p:sp>
      <p:sp>
        <p:nvSpPr>
          <p:cNvPr id="15" name="Titel 1">
            <a:extLst>
              <a:ext uri="{FF2B5EF4-FFF2-40B4-BE49-F238E27FC236}">
                <a16:creationId xmlns:a16="http://schemas.microsoft.com/office/drawing/2014/main" id="{0B59D897-5911-D242-A3F2-D43F0CDDC0BF}"/>
              </a:ext>
            </a:extLst>
          </p:cNvPr>
          <p:cNvSpPr>
            <a:spLocks noGrp="1"/>
          </p:cNvSpPr>
          <p:nvPr>
            <p:ph type="title"/>
          </p:nvPr>
        </p:nvSpPr>
        <p:spPr>
          <a:xfrm>
            <a:off x="574963" y="444610"/>
            <a:ext cx="10515600" cy="943127"/>
          </a:xfrm>
        </p:spPr>
        <p:txBody>
          <a:bodyPr>
            <a:normAutofit fontScale="90000"/>
          </a:bodyPr>
          <a:lstStyle/>
          <a:p>
            <a:r>
              <a:rPr lang="de-DE" sz="2700" dirty="0">
                <a:latin typeface="Helvetica" pitchFamily="2" charset="0"/>
              </a:rPr>
              <a:t>Einschränkungen bei der Interpretation grafischer Inhalte (2/3)</a:t>
            </a:r>
            <a:br>
              <a:rPr lang="de-DE" sz="2400" dirty="0">
                <a:latin typeface="Helvetica" pitchFamily="2" charset="0"/>
              </a:rPr>
            </a:br>
            <a:r>
              <a:rPr lang="de-DE" sz="2200" dirty="0">
                <a:latin typeface="Helvetica Light" panose="020B0403020202020204" pitchFamily="34" charset="0"/>
              </a:rPr>
              <a:t>Ergebnis: Einsatz alternativer LLMs</a:t>
            </a:r>
            <a:br>
              <a:rPr lang="de-DE" sz="2400" dirty="0">
                <a:latin typeface="Helvetica" pitchFamily="2" charset="0"/>
              </a:rPr>
            </a:br>
            <a:endParaRPr lang="de-DE" sz="2400" dirty="0">
              <a:latin typeface="Helvetica" pitchFamily="2" charset="0"/>
            </a:endParaRPr>
          </a:p>
        </p:txBody>
      </p:sp>
      <p:sp>
        <p:nvSpPr>
          <p:cNvPr id="17" name="Textfeld 16">
            <a:extLst>
              <a:ext uri="{FF2B5EF4-FFF2-40B4-BE49-F238E27FC236}">
                <a16:creationId xmlns:a16="http://schemas.microsoft.com/office/drawing/2014/main" id="{DA83ABB5-9E94-BE45-8EDA-C76D52E1E387}"/>
              </a:ext>
            </a:extLst>
          </p:cNvPr>
          <p:cNvSpPr txBox="1"/>
          <p:nvPr/>
        </p:nvSpPr>
        <p:spPr>
          <a:xfrm>
            <a:off x="7270710" y="1740396"/>
            <a:ext cx="4770662" cy="4101123"/>
          </a:xfrm>
          <a:prstGeom prst="rect">
            <a:avLst/>
          </a:prstGeom>
          <a:noFill/>
        </p:spPr>
        <p:txBody>
          <a:bodyPr wrap="square" rtlCol="0">
            <a:spAutoFit/>
          </a:bodyPr>
          <a:lstStyle/>
          <a:p>
            <a:endParaRPr lang="de-DE" sz="1400" dirty="0">
              <a:latin typeface="Helvetica" pitchFamily="2" charset="0"/>
            </a:endParaRPr>
          </a:p>
          <a:p>
            <a:pPr>
              <a:spcAft>
                <a:spcPts val="500"/>
              </a:spcAft>
            </a:pPr>
            <a:r>
              <a:rPr lang="de-DE" sz="1400" b="1" dirty="0">
                <a:latin typeface="Helvetica" pitchFamily="2" charset="0"/>
              </a:rPr>
              <a:t>Vergleich unter identischen Rahmenbedingungen:</a:t>
            </a:r>
            <a:endParaRPr lang="de-DE" sz="1000" b="1" dirty="0">
              <a:latin typeface="Helvetica" pitchFamily="2" charset="0"/>
            </a:endParaRPr>
          </a:p>
          <a:p>
            <a:pPr marL="285750" indent="-285750">
              <a:buFont typeface="Symbol" pitchFamily="2" charset="2"/>
              <a:buChar char="-"/>
            </a:pPr>
            <a:r>
              <a:rPr lang="de-DE" sz="1400" dirty="0">
                <a:latin typeface="Helvetica" pitchFamily="2" charset="0"/>
              </a:rPr>
              <a:t>Alle </a:t>
            </a:r>
            <a:r>
              <a:rPr lang="de-DE" sz="1400" b="1" dirty="0">
                <a:latin typeface="Helvetica" pitchFamily="2" charset="0"/>
              </a:rPr>
              <a:t>LLMs</a:t>
            </a:r>
            <a:r>
              <a:rPr lang="de-DE" sz="1400" dirty="0">
                <a:latin typeface="Helvetica" pitchFamily="2" charset="0"/>
              </a:rPr>
              <a:t> wurden mit denselben Eingabedaten, Prompts und Bewertungskriterien evaluiert</a:t>
            </a:r>
          </a:p>
          <a:p>
            <a:endParaRPr lang="de-DE" sz="1400" dirty="0">
              <a:latin typeface="Helvetica" pitchFamily="2" charset="0"/>
            </a:endParaRPr>
          </a:p>
          <a:p>
            <a:pPr>
              <a:spcAft>
                <a:spcPts val="500"/>
              </a:spcAft>
            </a:pPr>
            <a:r>
              <a:rPr lang="de-DE" sz="1400" b="1" dirty="0">
                <a:latin typeface="Helvetica" pitchFamily="2" charset="0"/>
              </a:rPr>
              <a:t>Beste Gesamtperformance von Gemini 3 Pro:  </a:t>
            </a:r>
            <a:endParaRPr lang="de-DE" sz="1000" b="1" dirty="0">
              <a:latin typeface="Helvetica" pitchFamily="2" charset="0"/>
            </a:endParaRPr>
          </a:p>
          <a:p>
            <a:pPr marL="285750" indent="-285750">
              <a:buFont typeface="Symbol" pitchFamily="2" charset="2"/>
              <a:buChar char="-"/>
            </a:pPr>
            <a:r>
              <a:rPr lang="de-DE" sz="1400" b="1" dirty="0">
                <a:latin typeface="Helvetica" pitchFamily="2" charset="0"/>
              </a:rPr>
              <a:t>Gemini 3 Pro </a:t>
            </a:r>
            <a:r>
              <a:rPr lang="de-DE" sz="1400" dirty="0">
                <a:latin typeface="Helvetica" pitchFamily="2" charset="0"/>
              </a:rPr>
              <a:t>erzielt Bestwerte bei der </a:t>
            </a:r>
            <a:r>
              <a:rPr lang="de-DE" sz="1400" b="1" dirty="0">
                <a:latin typeface="Helvetica" pitchFamily="2" charset="0"/>
              </a:rPr>
              <a:t>Identifikation </a:t>
            </a:r>
            <a:r>
              <a:rPr lang="de-DE" sz="1400" dirty="0">
                <a:latin typeface="Helvetica" pitchFamily="2" charset="0"/>
              </a:rPr>
              <a:t>von Hauptprozessen und Unterkategorien</a:t>
            </a:r>
            <a:br>
              <a:rPr lang="de-DE" sz="1400" dirty="0">
                <a:latin typeface="Helvetica" pitchFamily="2" charset="0"/>
              </a:rPr>
            </a:br>
            <a:endParaRPr lang="de-DE" sz="1400" dirty="0">
              <a:latin typeface="Helvetica" pitchFamily="2" charset="0"/>
            </a:endParaRPr>
          </a:p>
          <a:p>
            <a:pPr>
              <a:spcAft>
                <a:spcPts val="500"/>
              </a:spcAft>
            </a:pPr>
            <a:r>
              <a:rPr lang="de-DE" sz="1400" b="1" dirty="0">
                <a:latin typeface="Helvetica" pitchFamily="2" charset="0"/>
              </a:rPr>
              <a:t>Leistungsunterschiede zwischen LLMs:  </a:t>
            </a:r>
            <a:endParaRPr lang="de-DE" sz="1000" b="1" dirty="0">
              <a:latin typeface="Helvetica" pitchFamily="2" charset="0"/>
            </a:endParaRPr>
          </a:p>
          <a:p>
            <a:pPr marL="285750" indent="-285750">
              <a:buFont typeface="Symbol" pitchFamily="2" charset="2"/>
              <a:buChar char="-"/>
            </a:pPr>
            <a:r>
              <a:rPr lang="de-CH" sz="1400" b="1" dirty="0">
                <a:solidFill>
                  <a:srgbClr val="000000"/>
                </a:solidFill>
                <a:latin typeface="Helvetica" pitchFamily="2" charset="0"/>
              </a:rPr>
              <a:t>Gemini 3 Pro </a:t>
            </a:r>
            <a:r>
              <a:rPr lang="de-CH" sz="1400" dirty="0">
                <a:solidFill>
                  <a:srgbClr val="000000"/>
                </a:solidFill>
                <a:latin typeface="Helvetica" pitchFamily="2" charset="0"/>
              </a:rPr>
              <a:t>insgesamt beste Performance</a:t>
            </a:r>
          </a:p>
          <a:p>
            <a:pPr marL="285750" indent="-285750">
              <a:buFont typeface="Symbol" pitchFamily="2" charset="2"/>
              <a:buChar char="-"/>
            </a:pPr>
            <a:r>
              <a:rPr lang="de-CH" sz="1400" b="1" dirty="0">
                <a:solidFill>
                  <a:srgbClr val="000000"/>
                </a:solidFill>
                <a:latin typeface="Helvetica" pitchFamily="2" charset="0"/>
              </a:rPr>
              <a:t>Gemini 2.3 Pro</a:t>
            </a:r>
            <a:r>
              <a:rPr lang="de-CH" sz="1400" dirty="0">
                <a:solidFill>
                  <a:srgbClr val="000000"/>
                </a:solidFill>
                <a:latin typeface="Helvetica" pitchFamily="2" charset="0"/>
              </a:rPr>
              <a:t>, </a:t>
            </a:r>
            <a:r>
              <a:rPr lang="de-CH" sz="1400" b="1" dirty="0">
                <a:solidFill>
                  <a:srgbClr val="000000"/>
                </a:solidFill>
                <a:latin typeface="Helvetica" pitchFamily="2" charset="0"/>
              </a:rPr>
              <a:t>Claude 4.5 </a:t>
            </a:r>
            <a:r>
              <a:rPr lang="de-CH" sz="1400" dirty="0">
                <a:solidFill>
                  <a:srgbClr val="000000"/>
                </a:solidFill>
                <a:latin typeface="Helvetica" pitchFamily="2" charset="0"/>
              </a:rPr>
              <a:t>und </a:t>
            </a:r>
            <a:r>
              <a:rPr lang="de-CH" sz="1400" b="1" dirty="0">
                <a:solidFill>
                  <a:srgbClr val="000000"/>
                </a:solidFill>
                <a:latin typeface="Helvetica" pitchFamily="2" charset="0"/>
              </a:rPr>
              <a:t>GPT-5 </a:t>
            </a:r>
            <a:r>
              <a:rPr lang="de-CH" sz="1400" dirty="0">
                <a:solidFill>
                  <a:srgbClr val="000000"/>
                </a:solidFill>
                <a:latin typeface="Helvetica" pitchFamily="2" charset="0"/>
              </a:rPr>
              <a:t>leicht darunter, in einzelnen Kategorien jedoch Gleichstand</a:t>
            </a:r>
          </a:p>
          <a:p>
            <a:endParaRPr lang="de-DE" sz="1400" dirty="0">
              <a:latin typeface="Helvetica" pitchFamily="2" charset="0"/>
            </a:endParaRPr>
          </a:p>
          <a:p>
            <a:pPr>
              <a:spcAft>
                <a:spcPts val="500"/>
              </a:spcAft>
            </a:pPr>
            <a:r>
              <a:rPr lang="de-DE" sz="1400" b="1" dirty="0">
                <a:latin typeface="Helvetica" pitchFamily="2" charset="0"/>
              </a:rPr>
              <a:t>Deutliche schwächere Performance von GPT-4: </a:t>
            </a:r>
            <a:endParaRPr lang="de-DE" sz="1000" b="1" dirty="0">
              <a:latin typeface="Helvetica" pitchFamily="2" charset="0"/>
            </a:endParaRPr>
          </a:p>
          <a:p>
            <a:pPr marL="285750" indent="-285750">
              <a:buFont typeface="Symbol" pitchFamily="2" charset="2"/>
              <a:buChar char="-"/>
            </a:pPr>
            <a:r>
              <a:rPr lang="de-DE" sz="1400" b="1" dirty="0">
                <a:latin typeface="Helvetica" pitchFamily="2" charset="0"/>
              </a:rPr>
              <a:t>GPT-4</a:t>
            </a:r>
            <a:r>
              <a:rPr lang="de-DE" sz="1400" dirty="0">
                <a:latin typeface="Helvetica" pitchFamily="2" charset="0"/>
              </a:rPr>
              <a:t> Performance liegt in beiden Bewertungskriterien klar unter den übrigen </a:t>
            </a:r>
            <a:r>
              <a:rPr lang="de-DE" sz="1400" b="1" dirty="0">
                <a:latin typeface="Helvetica" pitchFamily="2" charset="0"/>
              </a:rPr>
              <a:t>LLMs</a:t>
            </a:r>
          </a:p>
        </p:txBody>
      </p:sp>
      <p:graphicFrame>
        <p:nvGraphicFramePr>
          <p:cNvPr id="9" name="Diagramm 8">
            <a:extLst>
              <a:ext uri="{FF2B5EF4-FFF2-40B4-BE49-F238E27FC236}">
                <a16:creationId xmlns:a16="http://schemas.microsoft.com/office/drawing/2014/main" id="{6F57BB53-3BE6-0543-B0FD-53B322B1E42B}"/>
              </a:ext>
            </a:extLst>
          </p:cNvPr>
          <p:cNvGraphicFramePr>
            <a:graphicFrameLocks/>
          </p:cNvGraphicFramePr>
          <p:nvPr>
            <p:extLst>
              <p:ext uri="{D42A27DB-BD31-4B8C-83A1-F6EECF244321}">
                <p14:modId xmlns:p14="http://schemas.microsoft.com/office/powerpoint/2010/main" val="3656323261"/>
              </p:ext>
            </p:extLst>
          </p:nvPr>
        </p:nvGraphicFramePr>
        <p:xfrm>
          <a:off x="625068" y="1680998"/>
          <a:ext cx="6389343" cy="467535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9950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09DC7552-8379-8D4C-9F35-6CBF26EF69B0}"/>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6" name="Foliennummernplatzhalter 5">
            <a:extLst>
              <a:ext uri="{FF2B5EF4-FFF2-40B4-BE49-F238E27FC236}">
                <a16:creationId xmlns:a16="http://schemas.microsoft.com/office/drawing/2014/main" id="{B0CCD76F-EACA-0949-8ADB-5D8945A5A5C4}"/>
              </a:ext>
            </a:extLst>
          </p:cNvPr>
          <p:cNvSpPr>
            <a:spLocks noGrp="1"/>
          </p:cNvSpPr>
          <p:nvPr>
            <p:ph type="sldNum" sz="quarter" idx="12"/>
          </p:nvPr>
        </p:nvSpPr>
        <p:spPr>
          <a:xfrm>
            <a:off x="8610600" y="6356350"/>
            <a:ext cx="2743200" cy="365125"/>
          </a:xfrm>
        </p:spPr>
        <p:txBody>
          <a:bodyPr/>
          <a:lstStyle/>
          <a:p>
            <a:fld id="{5CC06646-EDF2-2341-B148-FF1B4C173C76}" type="slidenum">
              <a:rPr lang="en-GB" sz="1400" smtClean="0">
                <a:solidFill>
                  <a:schemeClr val="tx1"/>
                </a:solidFill>
                <a:latin typeface="Helvetica" pitchFamily="2" charset="0"/>
              </a:rPr>
              <a:t>11</a:t>
            </a:fld>
            <a:endParaRPr lang="en-GB" dirty="0">
              <a:solidFill>
                <a:schemeClr val="tx1"/>
              </a:solidFill>
              <a:latin typeface="Helvetica" pitchFamily="2" charset="0"/>
            </a:endParaRPr>
          </a:p>
        </p:txBody>
      </p:sp>
      <p:sp>
        <p:nvSpPr>
          <p:cNvPr id="7" name="Titel 1">
            <a:extLst>
              <a:ext uri="{FF2B5EF4-FFF2-40B4-BE49-F238E27FC236}">
                <a16:creationId xmlns:a16="http://schemas.microsoft.com/office/drawing/2014/main" id="{E11101BC-0B15-7E4E-A4DC-025613243E69}"/>
              </a:ext>
            </a:extLst>
          </p:cNvPr>
          <p:cNvSpPr>
            <a:spLocks noGrp="1"/>
          </p:cNvSpPr>
          <p:nvPr>
            <p:ph type="title"/>
          </p:nvPr>
        </p:nvSpPr>
        <p:spPr>
          <a:xfrm>
            <a:off x="574963" y="444610"/>
            <a:ext cx="10515600" cy="943127"/>
          </a:xfrm>
        </p:spPr>
        <p:txBody>
          <a:bodyPr>
            <a:normAutofit fontScale="90000"/>
          </a:bodyPr>
          <a:lstStyle/>
          <a:p>
            <a:r>
              <a:rPr lang="de-DE" sz="2400" dirty="0">
                <a:latin typeface="Helvetica" pitchFamily="2" charset="0"/>
              </a:rPr>
              <a:t>Einschränkungen bei der Interpretation grafischer Inhalte (2/3)</a:t>
            </a:r>
            <a:br>
              <a:rPr lang="de-DE" sz="2400" dirty="0">
                <a:latin typeface="Helvetica" pitchFamily="2" charset="0"/>
              </a:rPr>
            </a:br>
            <a:r>
              <a:rPr lang="de-DE" sz="2200" dirty="0">
                <a:latin typeface="Helvetica Light" panose="020B0403020202020204" pitchFamily="34" charset="0"/>
              </a:rPr>
              <a:t>Ergebnisse: Vorverarbeitung grafischer Inhalte | Manuelle Daten Integration </a:t>
            </a:r>
            <a:br>
              <a:rPr lang="de-DE" sz="2200" dirty="0">
                <a:latin typeface="Helvetica Light" panose="020B0403020202020204" pitchFamily="34" charset="0"/>
              </a:rPr>
            </a:br>
            <a:endParaRPr lang="de-DE" sz="2200" dirty="0">
              <a:latin typeface="Helvetica Light" panose="020B0403020202020204" pitchFamily="34" charset="0"/>
            </a:endParaRPr>
          </a:p>
        </p:txBody>
      </p:sp>
      <p:sp>
        <p:nvSpPr>
          <p:cNvPr id="9" name="Rechteck 8">
            <a:extLst>
              <a:ext uri="{FF2B5EF4-FFF2-40B4-BE49-F238E27FC236}">
                <a16:creationId xmlns:a16="http://schemas.microsoft.com/office/drawing/2014/main" id="{16323595-260B-1C46-878D-57BB9D3553C7}"/>
              </a:ext>
            </a:extLst>
          </p:cNvPr>
          <p:cNvSpPr/>
          <p:nvPr/>
        </p:nvSpPr>
        <p:spPr>
          <a:xfrm>
            <a:off x="574963" y="2355116"/>
            <a:ext cx="5144639" cy="4217961"/>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1" name="Rechteck 10">
            <a:extLst>
              <a:ext uri="{FF2B5EF4-FFF2-40B4-BE49-F238E27FC236}">
                <a16:creationId xmlns:a16="http://schemas.microsoft.com/office/drawing/2014/main" id="{1559EFBE-0A79-3640-8F4C-2B90F32BA642}"/>
              </a:ext>
            </a:extLst>
          </p:cNvPr>
          <p:cNvSpPr/>
          <p:nvPr/>
        </p:nvSpPr>
        <p:spPr>
          <a:xfrm>
            <a:off x="574963" y="1481785"/>
            <a:ext cx="5144638" cy="701124"/>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Segmentierung grafischer Inhalte</a:t>
            </a:r>
          </a:p>
        </p:txBody>
      </p:sp>
      <p:sp>
        <p:nvSpPr>
          <p:cNvPr id="13" name="Textfeld 12">
            <a:extLst>
              <a:ext uri="{FF2B5EF4-FFF2-40B4-BE49-F238E27FC236}">
                <a16:creationId xmlns:a16="http://schemas.microsoft.com/office/drawing/2014/main" id="{75CEF8B6-6132-2840-B9E3-760F03A44992}"/>
              </a:ext>
            </a:extLst>
          </p:cNvPr>
          <p:cNvSpPr txBox="1"/>
          <p:nvPr/>
        </p:nvSpPr>
        <p:spPr>
          <a:xfrm>
            <a:off x="735749" y="2355116"/>
            <a:ext cx="4808786" cy="4011355"/>
          </a:xfrm>
          <a:prstGeom prst="rect">
            <a:avLst/>
          </a:prstGeom>
          <a:noFill/>
        </p:spPr>
        <p:txBody>
          <a:bodyPr wrap="square" rtlCol="0">
            <a:spAutoFit/>
          </a:bodyPr>
          <a:lstStyle/>
          <a:p>
            <a:endParaRPr lang="de-DE" sz="1400" dirty="0">
              <a:highlight>
                <a:srgbClr val="FFFF00"/>
              </a:highlight>
              <a:latin typeface="Helvetica" pitchFamily="2" charset="0"/>
            </a:endParaRPr>
          </a:p>
          <a:p>
            <a:pPr>
              <a:spcAft>
                <a:spcPts val="500"/>
              </a:spcAft>
            </a:pPr>
            <a:r>
              <a:rPr lang="de-DE" sz="1400" b="1" dirty="0">
                <a:latin typeface="Helvetica" pitchFamily="2" charset="0"/>
              </a:rPr>
              <a:t>Verbesserte Interpretationsqualität: </a:t>
            </a:r>
          </a:p>
          <a:p>
            <a:pPr marL="285750" indent="-285750">
              <a:buFont typeface="Symbol" pitchFamily="2" charset="2"/>
              <a:buChar char="-"/>
            </a:pPr>
            <a:r>
              <a:rPr lang="de-DE" sz="1400" dirty="0">
                <a:latin typeface="Helvetica" pitchFamily="2" charset="0"/>
              </a:rPr>
              <a:t>Präzisere und vollständigere LLM-Outputs komplexer grafischer Inhalte durch Segmentierung</a:t>
            </a:r>
          </a:p>
          <a:p>
            <a:endParaRPr lang="de-DE" sz="1400" b="1" dirty="0">
              <a:latin typeface="Helvetica" pitchFamily="2" charset="0"/>
            </a:endParaRPr>
          </a:p>
          <a:p>
            <a:pPr>
              <a:spcAft>
                <a:spcPts val="500"/>
              </a:spcAft>
            </a:pPr>
            <a:r>
              <a:rPr lang="de-DE" sz="1400" b="1" dirty="0">
                <a:latin typeface="Helvetica" pitchFamily="2" charset="0"/>
              </a:rPr>
              <a:t>Modellunabhängiger Performancegewinn: </a:t>
            </a:r>
          </a:p>
          <a:p>
            <a:pPr marL="285750" indent="-285750">
              <a:buFont typeface="Symbol" pitchFamily="2" charset="2"/>
              <a:buChar char="-"/>
            </a:pPr>
            <a:r>
              <a:rPr lang="de-DE" sz="1400" dirty="0">
                <a:latin typeface="Helvetica" pitchFamily="2" charset="0"/>
              </a:rPr>
              <a:t>Auch </a:t>
            </a:r>
            <a:r>
              <a:rPr lang="de-DE" sz="1400" b="1" dirty="0">
                <a:latin typeface="Helvetica" pitchFamily="2" charset="0"/>
              </a:rPr>
              <a:t>leistungsschwächere LLMs </a:t>
            </a:r>
            <a:r>
              <a:rPr lang="de-DE" sz="1400" dirty="0">
                <a:latin typeface="Helvetica" pitchFamily="2" charset="0"/>
              </a:rPr>
              <a:t>erzielen durch Segmentierung bessere Ergebnisse als leistungsfähigere LLMs ohne Segmentierung</a:t>
            </a:r>
          </a:p>
          <a:p>
            <a:pPr marL="171450" indent="-171450">
              <a:buFont typeface="Arial" panose="020B0604020202020204" pitchFamily="34" charset="0"/>
              <a:buChar char="•"/>
            </a:pPr>
            <a:endParaRPr lang="de-DE" sz="1400" dirty="0">
              <a:latin typeface="Helvetica" pitchFamily="2" charset="0"/>
            </a:endParaRPr>
          </a:p>
          <a:p>
            <a:pPr>
              <a:spcAft>
                <a:spcPts val="500"/>
              </a:spcAft>
            </a:pPr>
            <a:r>
              <a:rPr lang="de-DE" sz="1400" b="1" dirty="0">
                <a:latin typeface="Helvetica" pitchFamily="2" charset="0"/>
              </a:rPr>
              <a:t>Reduzierte Halluzinationen: </a:t>
            </a:r>
          </a:p>
          <a:p>
            <a:pPr marL="285750" indent="-285750">
              <a:buFont typeface="Symbol" pitchFamily="2" charset="2"/>
              <a:buChar char="-"/>
            </a:pPr>
            <a:r>
              <a:rPr lang="de-DE" sz="1400" dirty="0">
                <a:latin typeface="Helvetica" pitchFamily="2" charset="0"/>
              </a:rPr>
              <a:t>Signifikante geringere Fehlinterpretation bei Beziehungen, Abkürzungen und Zeichen</a:t>
            </a:r>
          </a:p>
          <a:p>
            <a:endParaRPr lang="de-DE" sz="1400" dirty="0">
              <a:latin typeface="Helvetica" pitchFamily="2" charset="0"/>
            </a:endParaRPr>
          </a:p>
          <a:p>
            <a:pPr>
              <a:spcAft>
                <a:spcPts val="500"/>
              </a:spcAft>
            </a:pPr>
            <a:r>
              <a:rPr lang="de-DE" sz="1400" b="1" dirty="0">
                <a:latin typeface="Helvetica" pitchFamily="2" charset="0"/>
              </a:rPr>
              <a:t>Erhöhter Vorverarbeitungsaufwand: </a:t>
            </a:r>
          </a:p>
          <a:p>
            <a:pPr marL="285750" indent="-285750">
              <a:buFont typeface="Symbol" pitchFamily="2" charset="2"/>
              <a:buChar char="-"/>
            </a:pPr>
            <a:r>
              <a:rPr lang="de-DE" sz="1400" dirty="0">
                <a:latin typeface="Helvetica" pitchFamily="2" charset="0"/>
              </a:rPr>
              <a:t>Zusätzliche Schritte zur Segmentierung und gezielten Einspeisung der Grafiken in das Modell notwendig</a:t>
            </a:r>
          </a:p>
        </p:txBody>
      </p:sp>
      <p:sp>
        <p:nvSpPr>
          <p:cNvPr id="15" name="Rechteck 14">
            <a:extLst>
              <a:ext uri="{FF2B5EF4-FFF2-40B4-BE49-F238E27FC236}">
                <a16:creationId xmlns:a16="http://schemas.microsoft.com/office/drawing/2014/main" id="{7C455B7A-97A4-1248-A56E-5BF1A683A749}"/>
              </a:ext>
            </a:extLst>
          </p:cNvPr>
          <p:cNvSpPr/>
          <p:nvPr/>
        </p:nvSpPr>
        <p:spPr>
          <a:xfrm>
            <a:off x="6311613" y="2355115"/>
            <a:ext cx="5144638" cy="2955501"/>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6" name="Rechteck 15">
            <a:extLst>
              <a:ext uri="{FF2B5EF4-FFF2-40B4-BE49-F238E27FC236}">
                <a16:creationId xmlns:a16="http://schemas.microsoft.com/office/drawing/2014/main" id="{16AD48AC-E6DB-AC43-BBE9-AFBC2BC501D1}"/>
              </a:ext>
            </a:extLst>
          </p:cNvPr>
          <p:cNvSpPr/>
          <p:nvPr/>
        </p:nvSpPr>
        <p:spPr>
          <a:xfrm>
            <a:off x="6311613" y="1481785"/>
            <a:ext cx="5144638" cy="701124"/>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Manuelle Daten Integration</a:t>
            </a:r>
          </a:p>
        </p:txBody>
      </p:sp>
      <p:sp>
        <p:nvSpPr>
          <p:cNvPr id="17" name="Textfeld 16">
            <a:extLst>
              <a:ext uri="{FF2B5EF4-FFF2-40B4-BE49-F238E27FC236}">
                <a16:creationId xmlns:a16="http://schemas.microsoft.com/office/drawing/2014/main" id="{D60DECB2-4F41-0947-9CDE-0637ED25CC86}"/>
              </a:ext>
            </a:extLst>
          </p:cNvPr>
          <p:cNvSpPr txBox="1"/>
          <p:nvPr/>
        </p:nvSpPr>
        <p:spPr>
          <a:xfrm>
            <a:off x="6408387" y="2539306"/>
            <a:ext cx="5047864" cy="2559675"/>
          </a:xfrm>
          <a:prstGeom prst="rect">
            <a:avLst/>
          </a:prstGeom>
          <a:noFill/>
        </p:spPr>
        <p:txBody>
          <a:bodyPr wrap="square" rtlCol="0">
            <a:spAutoFit/>
          </a:bodyPr>
          <a:lstStyle/>
          <a:p>
            <a:pPr>
              <a:spcAft>
                <a:spcPts val="500"/>
              </a:spcAft>
            </a:pPr>
            <a:r>
              <a:rPr lang="de-DE" sz="1400" b="1" dirty="0">
                <a:latin typeface="Helvetica" pitchFamily="2" charset="0"/>
              </a:rPr>
              <a:t>Erweiterte Informationsabdeckung:                               </a:t>
            </a:r>
          </a:p>
          <a:p>
            <a:pPr marL="285750" indent="-285750">
              <a:buFont typeface="Symbol" pitchFamily="2" charset="2"/>
              <a:buChar char="-"/>
            </a:pPr>
            <a:r>
              <a:rPr lang="de-CH" sz="1400" dirty="0">
                <a:solidFill>
                  <a:srgbClr val="000000"/>
                </a:solidFill>
                <a:latin typeface="Helvetica" pitchFamily="2" charset="0"/>
              </a:rPr>
              <a:t>Die manuelle Integration</a:t>
            </a:r>
            <a:r>
              <a:rPr lang="de-CH" sz="1400" b="1" dirty="0">
                <a:solidFill>
                  <a:srgbClr val="000000"/>
                </a:solidFill>
                <a:latin typeface="Helvetica" pitchFamily="2" charset="0"/>
              </a:rPr>
              <a:t> </a:t>
            </a:r>
            <a:r>
              <a:rPr lang="de-CH" sz="1400" dirty="0">
                <a:solidFill>
                  <a:srgbClr val="000000"/>
                </a:solidFill>
                <a:latin typeface="Helvetica" pitchFamily="2" charset="0"/>
              </a:rPr>
              <a:t>von Daten </a:t>
            </a:r>
            <a:r>
              <a:rPr lang="de-CH" sz="1400" b="1" dirty="0">
                <a:solidFill>
                  <a:srgbClr val="000000"/>
                </a:solidFill>
                <a:latin typeface="Helvetica" pitchFamily="2" charset="0"/>
              </a:rPr>
              <a:t>führte </a:t>
            </a:r>
            <a:r>
              <a:rPr lang="de-CH" sz="1400" dirty="0">
                <a:solidFill>
                  <a:srgbClr val="000000"/>
                </a:solidFill>
                <a:latin typeface="Helvetica" pitchFamily="2" charset="0"/>
              </a:rPr>
              <a:t>zu einer signifikanten </a:t>
            </a:r>
            <a:r>
              <a:rPr lang="de-CH" sz="1400" b="1" dirty="0">
                <a:solidFill>
                  <a:srgbClr val="000000"/>
                </a:solidFill>
                <a:latin typeface="Helvetica" pitchFamily="2" charset="0"/>
              </a:rPr>
              <a:t>Erweiterung der Wissensbasis</a:t>
            </a:r>
            <a:r>
              <a:rPr lang="de-CH" sz="1400" dirty="0">
                <a:solidFill>
                  <a:srgbClr val="000000"/>
                </a:solidFill>
                <a:latin typeface="Helvetica" pitchFamily="2" charset="0"/>
              </a:rPr>
              <a:t> des Modells</a:t>
            </a:r>
          </a:p>
          <a:p>
            <a:pPr marL="285750" indent="-285750">
              <a:buFont typeface="Arial" panose="020B0604020202020204" pitchFamily="34" charset="0"/>
              <a:buChar char="•"/>
            </a:pPr>
            <a:endParaRPr lang="de-CH" sz="1400" dirty="0">
              <a:solidFill>
                <a:srgbClr val="000000"/>
              </a:solidFill>
              <a:latin typeface="Helvetica" pitchFamily="2" charset="0"/>
            </a:endParaRPr>
          </a:p>
          <a:p>
            <a:pPr marL="285750" indent="-285750">
              <a:buFont typeface="Wingdings" pitchFamily="2" charset="2"/>
              <a:buChar char="§"/>
            </a:pPr>
            <a:r>
              <a:rPr lang="de-CH" sz="1400" dirty="0">
                <a:solidFill>
                  <a:srgbClr val="000000"/>
                </a:solidFill>
                <a:latin typeface="Helvetica" pitchFamily="2" charset="0"/>
              </a:rPr>
              <a:t>unstrukturierte Daten</a:t>
            </a:r>
          </a:p>
          <a:p>
            <a:pPr marL="285750" indent="-285750">
              <a:buFont typeface="Wingdings" pitchFamily="2" charset="2"/>
              <a:buChar char="§"/>
            </a:pPr>
            <a:r>
              <a:rPr lang="de-CH" sz="1400" dirty="0">
                <a:solidFill>
                  <a:srgbClr val="000000"/>
                </a:solidFill>
                <a:latin typeface="Helvetica" pitchFamily="2" charset="0"/>
              </a:rPr>
              <a:t>simulierte strukturierten Daten</a:t>
            </a:r>
          </a:p>
          <a:p>
            <a:endParaRPr lang="de-DE" sz="1200" dirty="0">
              <a:latin typeface="Helvetica" pitchFamily="2" charset="0"/>
            </a:endParaRPr>
          </a:p>
          <a:p>
            <a:pPr>
              <a:spcAft>
                <a:spcPts val="500"/>
              </a:spcAft>
            </a:pPr>
            <a:r>
              <a:rPr lang="de-DE" sz="1400" b="1" dirty="0">
                <a:latin typeface="Helvetica" pitchFamily="2" charset="0"/>
              </a:rPr>
              <a:t>Verbesserter Modelloutput:                                 </a:t>
            </a:r>
            <a:r>
              <a:rPr lang="de-DE" sz="1400" dirty="0">
                <a:latin typeface="Helvetica" pitchFamily="2" charset="0"/>
              </a:rPr>
              <a:t>         </a:t>
            </a:r>
          </a:p>
          <a:p>
            <a:pPr marL="285750" indent="-285750">
              <a:spcAft>
                <a:spcPts val="500"/>
              </a:spcAft>
              <a:buFont typeface="Symbol" pitchFamily="2" charset="2"/>
              <a:buChar char="-"/>
            </a:pPr>
            <a:r>
              <a:rPr lang="de-DE" sz="1400" dirty="0">
                <a:latin typeface="Helvetica" pitchFamily="2" charset="0"/>
              </a:rPr>
              <a:t>Zuvor </a:t>
            </a:r>
            <a:r>
              <a:rPr lang="de-DE" sz="1400" b="1" dirty="0">
                <a:latin typeface="Helvetica" pitchFamily="2" charset="0"/>
              </a:rPr>
              <a:t>fehlerhafte</a:t>
            </a:r>
            <a:r>
              <a:rPr lang="de-DE" sz="1400" dirty="0">
                <a:latin typeface="Helvetica" pitchFamily="2" charset="0"/>
              </a:rPr>
              <a:t> oder </a:t>
            </a:r>
            <a:r>
              <a:rPr lang="de-DE" sz="1400" b="1" dirty="0">
                <a:latin typeface="Helvetica" pitchFamily="2" charset="0"/>
              </a:rPr>
              <a:t>nicht ableitbare </a:t>
            </a:r>
            <a:r>
              <a:rPr lang="de-DE" sz="1400" dirty="0">
                <a:latin typeface="Helvetica" pitchFamily="2" charset="0"/>
              </a:rPr>
              <a:t>Fragestellungen konnten vom Modell korrekt beantwortet werden</a:t>
            </a:r>
          </a:p>
        </p:txBody>
      </p:sp>
      <p:sp>
        <p:nvSpPr>
          <p:cNvPr id="14" name="Textfeld 13">
            <a:extLst>
              <a:ext uri="{FF2B5EF4-FFF2-40B4-BE49-F238E27FC236}">
                <a16:creationId xmlns:a16="http://schemas.microsoft.com/office/drawing/2014/main" id="{CBC55B25-C1BD-7F44-98BB-309A9771F585}"/>
              </a:ext>
            </a:extLst>
          </p:cNvPr>
          <p:cNvSpPr txBox="1"/>
          <p:nvPr/>
        </p:nvSpPr>
        <p:spPr>
          <a:xfrm>
            <a:off x="5352028" y="6090927"/>
            <a:ext cx="297813" cy="400110"/>
          </a:xfrm>
          <a:prstGeom prst="rect">
            <a:avLst/>
          </a:prstGeom>
          <a:noFill/>
        </p:spPr>
        <p:txBody>
          <a:bodyPr wrap="square" rtlCol="0">
            <a:spAutoFit/>
          </a:bodyPr>
          <a:lstStyle/>
          <a:p>
            <a:r>
              <a:rPr lang="en-GB" sz="2000" b="1" dirty="0">
                <a:solidFill>
                  <a:srgbClr val="009997"/>
                </a:solidFill>
                <a:latin typeface="Helvetica" pitchFamily="2" charset="0"/>
              </a:rPr>
              <a:t>2</a:t>
            </a:r>
          </a:p>
        </p:txBody>
      </p:sp>
      <p:sp>
        <p:nvSpPr>
          <p:cNvPr id="20" name="Textfeld 19">
            <a:extLst>
              <a:ext uri="{FF2B5EF4-FFF2-40B4-BE49-F238E27FC236}">
                <a16:creationId xmlns:a16="http://schemas.microsoft.com/office/drawing/2014/main" id="{9429F0C0-C235-B442-A865-FA1383757870}"/>
              </a:ext>
            </a:extLst>
          </p:cNvPr>
          <p:cNvSpPr txBox="1"/>
          <p:nvPr/>
        </p:nvSpPr>
        <p:spPr>
          <a:xfrm>
            <a:off x="11109777" y="4856716"/>
            <a:ext cx="297813" cy="400110"/>
          </a:xfrm>
          <a:prstGeom prst="rect">
            <a:avLst/>
          </a:prstGeom>
          <a:noFill/>
        </p:spPr>
        <p:txBody>
          <a:bodyPr wrap="square" rtlCol="0">
            <a:spAutoFit/>
          </a:bodyPr>
          <a:lstStyle/>
          <a:p>
            <a:r>
              <a:rPr lang="en-GB" sz="2000" b="1" dirty="0">
                <a:solidFill>
                  <a:srgbClr val="009997"/>
                </a:solidFill>
                <a:latin typeface="Helvetica" pitchFamily="2" charset="0"/>
              </a:rPr>
              <a:t>3</a:t>
            </a:r>
          </a:p>
        </p:txBody>
      </p:sp>
    </p:spTree>
    <p:extLst>
      <p:ext uri="{BB962C8B-B14F-4D97-AF65-F5344CB8AC3E}">
        <p14:creationId xmlns:p14="http://schemas.microsoft.com/office/powerpoint/2010/main" val="213472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D1DF8C67-0BB5-8D48-8512-67F73EE6924F}"/>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6" name="Foliennummernplatzhalter 5">
            <a:extLst>
              <a:ext uri="{FF2B5EF4-FFF2-40B4-BE49-F238E27FC236}">
                <a16:creationId xmlns:a16="http://schemas.microsoft.com/office/drawing/2014/main" id="{B0CCD76F-EACA-0949-8ADB-5D8945A5A5C4}"/>
              </a:ext>
            </a:extLst>
          </p:cNvPr>
          <p:cNvSpPr>
            <a:spLocks noGrp="1"/>
          </p:cNvSpPr>
          <p:nvPr>
            <p:ph type="sldNum" sz="quarter" idx="12"/>
          </p:nvPr>
        </p:nvSpPr>
        <p:spPr/>
        <p:txBody>
          <a:bodyPr/>
          <a:lstStyle/>
          <a:p>
            <a:fld id="{5CC06646-EDF2-2341-B148-FF1B4C173C76}" type="slidenum">
              <a:rPr lang="en-GB" sz="1400" smtClean="0">
                <a:solidFill>
                  <a:schemeClr val="tx1"/>
                </a:solidFill>
                <a:latin typeface="Helvetica" pitchFamily="2" charset="0"/>
              </a:rPr>
              <a:t>12</a:t>
            </a:fld>
            <a:endParaRPr lang="en-GB" dirty="0">
              <a:solidFill>
                <a:schemeClr val="tx1"/>
              </a:solidFill>
              <a:latin typeface="Helvetica" pitchFamily="2" charset="0"/>
            </a:endParaRPr>
          </a:p>
        </p:txBody>
      </p:sp>
      <p:sp>
        <p:nvSpPr>
          <p:cNvPr id="9" name="Titel 1">
            <a:extLst>
              <a:ext uri="{FF2B5EF4-FFF2-40B4-BE49-F238E27FC236}">
                <a16:creationId xmlns:a16="http://schemas.microsoft.com/office/drawing/2014/main" id="{E3F4A7E2-2888-DE4F-8042-F949D0A7ED57}"/>
              </a:ext>
            </a:extLst>
          </p:cNvPr>
          <p:cNvSpPr>
            <a:spLocks noGrp="1"/>
          </p:cNvSpPr>
          <p:nvPr>
            <p:ph type="title"/>
          </p:nvPr>
        </p:nvSpPr>
        <p:spPr>
          <a:xfrm>
            <a:off x="574963" y="444610"/>
            <a:ext cx="10515600" cy="943127"/>
          </a:xfrm>
        </p:spPr>
        <p:txBody>
          <a:bodyPr>
            <a:normAutofit fontScale="90000"/>
          </a:bodyPr>
          <a:lstStyle/>
          <a:p>
            <a:r>
              <a:rPr lang="de-DE" sz="2700" dirty="0">
                <a:latin typeface="Helvetica" pitchFamily="2" charset="0"/>
              </a:rPr>
              <a:t>Qualitative Evaluation (3)</a:t>
            </a:r>
            <a:br>
              <a:rPr lang="de-DE" sz="2400" dirty="0">
                <a:latin typeface="Helvetica" pitchFamily="2" charset="0"/>
              </a:rPr>
            </a:br>
            <a:r>
              <a:rPr lang="de-DE" sz="2200" dirty="0">
                <a:latin typeface="Helvetica Light" panose="020B0403020202020204" pitchFamily="34" charset="0"/>
              </a:rPr>
              <a:t>Ergebnisse: Open Beta Modell</a:t>
            </a:r>
            <a:br>
              <a:rPr lang="de-DE" sz="2400" dirty="0">
                <a:latin typeface="Helvetica" pitchFamily="2" charset="0"/>
              </a:rPr>
            </a:br>
            <a:endParaRPr lang="de-DE" sz="2400" dirty="0">
              <a:latin typeface="Helvetica" pitchFamily="2" charset="0"/>
            </a:endParaRPr>
          </a:p>
        </p:txBody>
      </p:sp>
      <p:sp>
        <p:nvSpPr>
          <p:cNvPr id="13" name="Textfeld 12">
            <a:extLst>
              <a:ext uri="{FF2B5EF4-FFF2-40B4-BE49-F238E27FC236}">
                <a16:creationId xmlns:a16="http://schemas.microsoft.com/office/drawing/2014/main" id="{48AB647B-7089-5F4B-B035-82DF1D568E14}"/>
              </a:ext>
            </a:extLst>
          </p:cNvPr>
          <p:cNvSpPr txBox="1"/>
          <p:nvPr/>
        </p:nvSpPr>
        <p:spPr>
          <a:xfrm>
            <a:off x="7885940" y="1794150"/>
            <a:ext cx="3920753" cy="3795911"/>
          </a:xfrm>
          <a:prstGeom prst="rect">
            <a:avLst/>
          </a:prstGeom>
          <a:noFill/>
        </p:spPr>
        <p:txBody>
          <a:bodyPr wrap="square" rtlCol="0">
            <a:spAutoFit/>
          </a:bodyPr>
          <a:lstStyle/>
          <a:p>
            <a:endParaRPr lang="de-DE" sz="1400" dirty="0">
              <a:latin typeface="Helvetica" pitchFamily="2" charset="0"/>
            </a:endParaRPr>
          </a:p>
          <a:p>
            <a:pPr>
              <a:spcAft>
                <a:spcPts val="500"/>
              </a:spcAft>
            </a:pPr>
            <a:r>
              <a:rPr lang="de-DE" sz="1400" b="1" dirty="0">
                <a:latin typeface="Helvetica" pitchFamily="2" charset="0"/>
              </a:rPr>
              <a:t>Teilnehmer und Umfang:    </a:t>
            </a:r>
          </a:p>
          <a:p>
            <a:pPr marL="285750" indent="-285750">
              <a:buFont typeface="Symbol" pitchFamily="2" charset="2"/>
              <a:buChar char="-"/>
            </a:pPr>
            <a:r>
              <a:rPr lang="de-DE" sz="1400" b="1" dirty="0">
                <a:latin typeface="Helvetica" pitchFamily="2" charset="0"/>
              </a:rPr>
              <a:t>10 </a:t>
            </a:r>
            <a:r>
              <a:rPr lang="de-DE" sz="1400" dirty="0">
                <a:latin typeface="Helvetica" pitchFamily="2" charset="0"/>
              </a:rPr>
              <a:t>Teilnehmende Supply Chain Experten</a:t>
            </a:r>
          </a:p>
          <a:p>
            <a:pPr marL="285750" indent="-285750">
              <a:buFont typeface="Symbol" pitchFamily="2" charset="2"/>
              <a:buChar char="-"/>
            </a:pPr>
            <a:r>
              <a:rPr lang="de-DE" sz="1400" b="1" dirty="0">
                <a:latin typeface="Helvetica" pitchFamily="2" charset="0"/>
              </a:rPr>
              <a:t>85</a:t>
            </a:r>
            <a:r>
              <a:rPr lang="de-DE" sz="1400" dirty="0">
                <a:latin typeface="Helvetica" pitchFamily="2" charset="0"/>
              </a:rPr>
              <a:t> Bewertete Einträge</a:t>
            </a:r>
          </a:p>
          <a:p>
            <a:pPr marL="285750" indent="-285750">
              <a:buFont typeface="Symbol" pitchFamily="2" charset="2"/>
              <a:buChar char="-"/>
            </a:pPr>
            <a:endParaRPr lang="de-DE" sz="1400" dirty="0">
              <a:latin typeface="Helvetica" pitchFamily="2" charset="0"/>
            </a:endParaRPr>
          </a:p>
          <a:p>
            <a:pPr>
              <a:spcAft>
                <a:spcPts val="500"/>
              </a:spcAft>
            </a:pPr>
            <a:r>
              <a:rPr lang="de-DE" sz="1400" b="1" dirty="0">
                <a:latin typeface="Helvetica" pitchFamily="2" charset="0"/>
              </a:rPr>
              <a:t>Bewertungskriterien:  </a:t>
            </a:r>
          </a:p>
          <a:p>
            <a:pPr marL="285750" indent="-285750">
              <a:buFont typeface="Symbol" pitchFamily="2" charset="2"/>
              <a:buChar char="-"/>
            </a:pPr>
            <a:r>
              <a:rPr lang="de-CH" sz="1400" dirty="0">
                <a:latin typeface="Helvetica" pitchFamily="2" charset="0"/>
              </a:rPr>
              <a:t>Ø</a:t>
            </a:r>
            <a:r>
              <a:rPr lang="de-DE" sz="1400" dirty="0">
                <a:latin typeface="Helvetica" pitchFamily="2" charset="0"/>
              </a:rPr>
              <a:t> Accuracy:  </a:t>
            </a:r>
            <a:r>
              <a:rPr lang="de-DE" sz="1400" b="1" dirty="0">
                <a:latin typeface="Helvetica" pitchFamily="2" charset="0"/>
              </a:rPr>
              <a:t>3.9 / 5</a:t>
            </a:r>
          </a:p>
          <a:p>
            <a:pPr marL="285750" indent="-285750">
              <a:buFont typeface="Symbol" pitchFamily="2" charset="2"/>
              <a:buChar char="-"/>
            </a:pPr>
            <a:r>
              <a:rPr lang="de-CH" sz="1400" dirty="0">
                <a:latin typeface="Helvetica" pitchFamily="2" charset="0"/>
              </a:rPr>
              <a:t>Ø</a:t>
            </a:r>
            <a:r>
              <a:rPr lang="de-DE" sz="1400" dirty="0">
                <a:latin typeface="Helvetica" pitchFamily="2" charset="0"/>
              </a:rPr>
              <a:t> Satisfaction:  </a:t>
            </a:r>
            <a:r>
              <a:rPr lang="de-DE" sz="1400" b="1" dirty="0">
                <a:latin typeface="Helvetica" pitchFamily="2" charset="0"/>
              </a:rPr>
              <a:t>3.7 / 5</a:t>
            </a:r>
          </a:p>
          <a:p>
            <a:endParaRPr lang="de-DE" sz="1400" dirty="0">
              <a:latin typeface="Helvetica" pitchFamily="2" charset="0"/>
            </a:endParaRPr>
          </a:p>
          <a:p>
            <a:pPr>
              <a:spcAft>
                <a:spcPts val="500"/>
              </a:spcAft>
            </a:pPr>
            <a:r>
              <a:rPr lang="de-DE" sz="1400" b="1" dirty="0">
                <a:latin typeface="Helvetica" pitchFamily="2" charset="0"/>
              </a:rPr>
              <a:t>Reaktionszeit Modell:  </a:t>
            </a:r>
          </a:p>
          <a:p>
            <a:pPr marL="285750" indent="-285750">
              <a:buFont typeface="Symbol" pitchFamily="2" charset="2"/>
              <a:buChar char="-"/>
            </a:pPr>
            <a:r>
              <a:rPr lang="de-CH" sz="1400" dirty="0">
                <a:latin typeface="Helvetica" pitchFamily="2" charset="0"/>
              </a:rPr>
              <a:t>Ø</a:t>
            </a:r>
            <a:r>
              <a:rPr lang="de-DE" sz="1400" dirty="0">
                <a:latin typeface="Helvetica" pitchFamily="2" charset="0"/>
              </a:rPr>
              <a:t> Reaktionszeit </a:t>
            </a:r>
            <a:r>
              <a:rPr lang="de-DE" sz="1400" b="1" dirty="0">
                <a:latin typeface="Helvetica" pitchFamily="2" charset="0"/>
              </a:rPr>
              <a:t>7.8 Sekunden</a:t>
            </a:r>
          </a:p>
          <a:p>
            <a:pPr marL="285750" indent="-285750">
              <a:buFont typeface="Symbol" pitchFamily="2" charset="2"/>
              <a:buChar char="-"/>
            </a:pPr>
            <a:r>
              <a:rPr lang="de-CH" sz="1400" dirty="0">
                <a:latin typeface="Helvetica" pitchFamily="2" charset="0"/>
              </a:rPr>
              <a:t>keine Antwortausfälle (Verfügbarkeit)</a:t>
            </a:r>
            <a:endParaRPr lang="de-DE" sz="1400" dirty="0">
              <a:latin typeface="Helvetica" pitchFamily="2" charset="0"/>
            </a:endParaRPr>
          </a:p>
          <a:p>
            <a:endParaRPr lang="de-DE" sz="1400" b="1" dirty="0">
              <a:latin typeface="Helvetica" pitchFamily="2" charset="0"/>
            </a:endParaRPr>
          </a:p>
          <a:p>
            <a:pPr>
              <a:spcAft>
                <a:spcPts val="500"/>
              </a:spcAft>
            </a:pPr>
            <a:r>
              <a:rPr lang="de-DE" sz="1400" b="1" dirty="0">
                <a:latin typeface="Helvetica" pitchFamily="2" charset="0"/>
              </a:rPr>
              <a:t>Frequenz der Bewertungen:   </a:t>
            </a:r>
          </a:p>
          <a:p>
            <a:pPr marL="285750" lvl="0" indent="-285750">
              <a:buFont typeface="Symbol" pitchFamily="2" charset="2"/>
              <a:buChar char="-"/>
            </a:pPr>
            <a:r>
              <a:rPr lang="de-CH" sz="1400" b="1" dirty="0">
                <a:solidFill>
                  <a:prstClr val="black"/>
                </a:solidFill>
                <a:latin typeface="Helvetica" pitchFamily="2" charset="0"/>
              </a:rPr>
              <a:t>Accuracy 5/5 </a:t>
            </a:r>
            <a:r>
              <a:rPr lang="de-CH" sz="1400" dirty="0">
                <a:solidFill>
                  <a:prstClr val="black"/>
                </a:solidFill>
                <a:latin typeface="Helvetica" pitchFamily="2" charset="0"/>
              </a:rPr>
              <a:t>(32 Bewertungen)</a:t>
            </a:r>
            <a:endParaRPr lang="de-DE" sz="1400" b="1" dirty="0">
              <a:latin typeface="Helvetica" pitchFamily="2" charset="0"/>
            </a:endParaRPr>
          </a:p>
          <a:p>
            <a:pPr marL="285750" indent="-285750">
              <a:buFont typeface="Symbol" pitchFamily="2" charset="2"/>
              <a:buChar char="-"/>
            </a:pPr>
            <a:r>
              <a:rPr lang="de-CH" sz="1400" b="1" dirty="0">
                <a:latin typeface="Helvetica" pitchFamily="2" charset="0"/>
              </a:rPr>
              <a:t>4/5 </a:t>
            </a:r>
            <a:r>
              <a:rPr lang="de-CH" sz="1400" dirty="0">
                <a:latin typeface="Helvetica" pitchFamily="2" charset="0"/>
              </a:rPr>
              <a:t>(60 Bewertungen)</a:t>
            </a:r>
          </a:p>
        </p:txBody>
      </p:sp>
      <p:sp>
        <p:nvSpPr>
          <p:cNvPr id="7" name="Rechteck 6">
            <a:extLst>
              <a:ext uri="{FF2B5EF4-FFF2-40B4-BE49-F238E27FC236}">
                <a16:creationId xmlns:a16="http://schemas.microsoft.com/office/drawing/2014/main" id="{3FA8B22D-362C-6E44-9F90-99ECD52FFD31}"/>
              </a:ext>
            </a:extLst>
          </p:cNvPr>
          <p:cNvSpPr/>
          <p:nvPr/>
        </p:nvSpPr>
        <p:spPr>
          <a:xfrm>
            <a:off x="1426147" y="2162708"/>
            <a:ext cx="415081"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graphicFrame>
        <p:nvGraphicFramePr>
          <p:cNvPr id="5" name="Diagramm 4">
            <a:extLst>
              <a:ext uri="{FF2B5EF4-FFF2-40B4-BE49-F238E27FC236}">
                <a16:creationId xmlns:a16="http://schemas.microsoft.com/office/drawing/2014/main" id="{87E5200E-6702-B445-9206-F1CBDC636FE8}"/>
              </a:ext>
            </a:extLst>
          </p:cNvPr>
          <p:cNvGraphicFramePr/>
          <p:nvPr>
            <p:extLst>
              <p:ext uri="{D42A27DB-BD31-4B8C-83A1-F6EECF244321}">
                <p14:modId xmlns:p14="http://schemas.microsoft.com/office/powerpoint/2010/main" val="2783865796"/>
              </p:ext>
            </p:extLst>
          </p:nvPr>
        </p:nvGraphicFramePr>
        <p:xfrm>
          <a:off x="574963" y="1502309"/>
          <a:ext cx="7074345" cy="478279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25680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D1DF8C67-0BB5-8D48-8512-67F73EE6924F}"/>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6" name="Foliennummernplatzhalter 5">
            <a:extLst>
              <a:ext uri="{FF2B5EF4-FFF2-40B4-BE49-F238E27FC236}">
                <a16:creationId xmlns:a16="http://schemas.microsoft.com/office/drawing/2014/main" id="{B0CCD76F-EACA-0949-8ADB-5D8945A5A5C4}"/>
              </a:ext>
            </a:extLst>
          </p:cNvPr>
          <p:cNvSpPr>
            <a:spLocks noGrp="1"/>
          </p:cNvSpPr>
          <p:nvPr>
            <p:ph type="sldNum" sz="quarter" idx="12"/>
          </p:nvPr>
        </p:nvSpPr>
        <p:spPr/>
        <p:txBody>
          <a:bodyPr/>
          <a:lstStyle/>
          <a:p>
            <a:fld id="{5CC06646-EDF2-2341-B148-FF1B4C173C76}" type="slidenum">
              <a:rPr lang="en-GB" sz="1400" smtClean="0">
                <a:solidFill>
                  <a:schemeClr val="tx1"/>
                </a:solidFill>
                <a:latin typeface="Helvetica" pitchFamily="2" charset="0"/>
              </a:rPr>
              <a:t>13</a:t>
            </a:fld>
            <a:endParaRPr lang="en-GB" dirty="0">
              <a:solidFill>
                <a:schemeClr val="tx1"/>
              </a:solidFill>
              <a:latin typeface="Helvetica" pitchFamily="2" charset="0"/>
            </a:endParaRPr>
          </a:p>
        </p:txBody>
      </p:sp>
      <p:sp>
        <p:nvSpPr>
          <p:cNvPr id="9" name="Titel 1">
            <a:extLst>
              <a:ext uri="{FF2B5EF4-FFF2-40B4-BE49-F238E27FC236}">
                <a16:creationId xmlns:a16="http://schemas.microsoft.com/office/drawing/2014/main" id="{E3F4A7E2-2888-DE4F-8042-F949D0A7ED57}"/>
              </a:ext>
            </a:extLst>
          </p:cNvPr>
          <p:cNvSpPr>
            <a:spLocks noGrp="1"/>
          </p:cNvSpPr>
          <p:nvPr>
            <p:ph type="title"/>
          </p:nvPr>
        </p:nvSpPr>
        <p:spPr>
          <a:xfrm>
            <a:off x="574963" y="444610"/>
            <a:ext cx="10515600" cy="943127"/>
          </a:xfrm>
        </p:spPr>
        <p:txBody>
          <a:bodyPr>
            <a:normAutofit fontScale="90000"/>
          </a:bodyPr>
          <a:lstStyle/>
          <a:p>
            <a:r>
              <a:rPr lang="de-DE" sz="2700" dirty="0">
                <a:latin typeface="Helvetica" pitchFamily="2" charset="0"/>
              </a:rPr>
              <a:t>Qualitative Evaluation (3)</a:t>
            </a:r>
            <a:br>
              <a:rPr lang="de-DE" sz="2400" dirty="0">
                <a:latin typeface="Helvetica" pitchFamily="2" charset="0"/>
              </a:rPr>
            </a:br>
            <a:r>
              <a:rPr lang="de-DE" sz="2200" dirty="0">
                <a:latin typeface="Helvetica Light" panose="020B0403020202020204" pitchFamily="34" charset="0"/>
              </a:rPr>
              <a:t>Ergebnisse: Open Beta Modell</a:t>
            </a:r>
            <a:br>
              <a:rPr lang="de-DE" sz="2400" dirty="0">
                <a:latin typeface="Helvetica" pitchFamily="2" charset="0"/>
              </a:rPr>
            </a:br>
            <a:endParaRPr lang="de-DE" sz="2400" dirty="0">
              <a:latin typeface="Helvetica" pitchFamily="2" charset="0"/>
            </a:endParaRPr>
          </a:p>
        </p:txBody>
      </p:sp>
      <mc:AlternateContent xmlns:mc="http://schemas.openxmlformats.org/markup-compatibility/2006" xmlns:cx1="http://schemas.microsoft.com/office/drawing/2015/9/8/chartex">
        <mc:Choice Requires="cx1">
          <p:graphicFrame>
            <p:nvGraphicFramePr>
              <p:cNvPr id="12" name="Diagramm 11">
                <a:extLst>
                  <a:ext uri="{FF2B5EF4-FFF2-40B4-BE49-F238E27FC236}">
                    <a16:creationId xmlns:a16="http://schemas.microsoft.com/office/drawing/2014/main" id="{0D8E48B7-56B6-D140-B6AC-76C425B67E4D}"/>
                  </a:ext>
                </a:extLst>
              </p:cNvPr>
              <p:cNvGraphicFramePr/>
              <p:nvPr>
                <p:extLst>
                  <p:ext uri="{D42A27DB-BD31-4B8C-83A1-F6EECF244321}">
                    <p14:modId xmlns:p14="http://schemas.microsoft.com/office/powerpoint/2010/main" val="803857559"/>
                  </p:ext>
                </p:extLst>
              </p:nvPr>
            </p:nvGraphicFramePr>
            <p:xfrm>
              <a:off x="574963" y="2069915"/>
              <a:ext cx="5770419" cy="3845976"/>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2" name="Diagramm 11">
                <a:extLst>
                  <a:ext uri="{FF2B5EF4-FFF2-40B4-BE49-F238E27FC236}">
                    <a16:creationId xmlns:a16="http://schemas.microsoft.com/office/drawing/2014/main" id="{0D8E48B7-56B6-D140-B6AC-76C425B67E4D}"/>
                  </a:ext>
                </a:extLst>
              </p:cNvPr>
              <p:cNvPicPr>
                <a:picLocks noGrp="1" noRot="1" noChangeAspect="1" noMove="1" noResize="1" noEditPoints="1" noAdjustHandles="1" noChangeArrowheads="1" noChangeShapeType="1"/>
              </p:cNvPicPr>
              <p:nvPr/>
            </p:nvPicPr>
            <p:blipFill>
              <a:blip r:embed="rId4"/>
              <a:stretch>
                <a:fillRect/>
              </a:stretch>
            </p:blipFill>
            <p:spPr>
              <a:xfrm>
                <a:off x="574963" y="2069915"/>
                <a:ext cx="5770419" cy="3845976"/>
              </a:xfrm>
              <a:prstGeom prst="rect">
                <a:avLst/>
              </a:prstGeom>
            </p:spPr>
          </p:pic>
        </mc:Fallback>
      </mc:AlternateContent>
      <p:sp>
        <p:nvSpPr>
          <p:cNvPr id="14" name="Textfeld 13">
            <a:extLst>
              <a:ext uri="{FF2B5EF4-FFF2-40B4-BE49-F238E27FC236}">
                <a16:creationId xmlns:a16="http://schemas.microsoft.com/office/drawing/2014/main" id="{364BAD28-CCE7-EF46-BF14-AF55682A59FE}"/>
              </a:ext>
            </a:extLst>
          </p:cNvPr>
          <p:cNvSpPr txBox="1"/>
          <p:nvPr/>
        </p:nvSpPr>
        <p:spPr>
          <a:xfrm>
            <a:off x="7194286" y="1477700"/>
            <a:ext cx="4721194" cy="4290918"/>
          </a:xfrm>
          <a:prstGeom prst="rect">
            <a:avLst/>
          </a:prstGeom>
          <a:noFill/>
        </p:spPr>
        <p:txBody>
          <a:bodyPr wrap="square" rtlCol="0">
            <a:spAutoFit/>
          </a:bodyPr>
          <a:lstStyle/>
          <a:p>
            <a:endParaRPr lang="de-DE" sz="1400" dirty="0">
              <a:latin typeface="Helvetica" pitchFamily="2" charset="0"/>
            </a:endParaRPr>
          </a:p>
          <a:p>
            <a:pPr>
              <a:spcAft>
                <a:spcPts val="500"/>
              </a:spcAft>
            </a:pPr>
            <a:r>
              <a:rPr lang="de-DE" sz="1400" b="1" dirty="0">
                <a:latin typeface="Helvetica" pitchFamily="2" charset="0"/>
              </a:rPr>
              <a:t>Medianwerte</a:t>
            </a:r>
            <a:r>
              <a:rPr lang="de-DE" sz="1400" dirty="0">
                <a:latin typeface="Helvetica" pitchFamily="2" charset="0"/>
              </a:rPr>
              <a:t>:                                               </a:t>
            </a:r>
          </a:p>
          <a:p>
            <a:pPr marL="285750" indent="-285750">
              <a:buFont typeface="Symbol" pitchFamily="2" charset="2"/>
              <a:buChar char="-"/>
            </a:pPr>
            <a:r>
              <a:rPr lang="de-DE" sz="1400" dirty="0">
                <a:latin typeface="Helvetica" pitchFamily="2" charset="0"/>
              </a:rPr>
              <a:t>Medianwert </a:t>
            </a:r>
            <a:r>
              <a:rPr lang="de-DE" sz="1400" b="1" dirty="0">
                <a:latin typeface="Helvetica" pitchFamily="2" charset="0"/>
              </a:rPr>
              <a:t>Accuracy</a:t>
            </a:r>
            <a:r>
              <a:rPr lang="de-DE" sz="1400" dirty="0">
                <a:latin typeface="Helvetica" pitchFamily="2" charset="0"/>
              </a:rPr>
              <a:t> </a:t>
            </a:r>
            <a:r>
              <a:rPr lang="de-DE" sz="1400" b="1" dirty="0">
                <a:latin typeface="Helvetica" pitchFamily="2" charset="0"/>
              </a:rPr>
              <a:t>4.0</a:t>
            </a:r>
          </a:p>
          <a:p>
            <a:pPr marL="285750" indent="-285750">
              <a:buFont typeface="Symbol" pitchFamily="2" charset="2"/>
              <a:buChar char="-"/>
            </a:pPr>
            <a:r>
              <a:rPr lang="de-DE" sz="1400" dirty="0">
                <a:latin typeface="Helvetica" pitchFamily="2" charset="0"/>
              </a:rPr>
              <a:t>Medianwert</a:t>
            </a:r>
            <a:r>
              <a:rPr lang="de-DE" sz="1400" b="1" dirty="0">
                <a:latin typeface="Helvetica" pitchFamily="2" charset="0"/>
              </a:rPr>
              <a:t> Satisfaction: 4.1</a:t>
            </a:r>
          </a:p>
          <a:p>
            <a:pPr marL="285750" indent="-285750">
              <a:buFont typeface="Symbol" pitchFamily="2" charset="2"/>
              <a:buChar char="-"/>
            </a:pPr>
            <a:r>
              <a:rPr lang="de-DE" sz="1400" dirty="0">
                <a:latin typeface="Helvetica" pitchFamily="2" charset="0"/>
              </a:rPr>
              <a:t>Insgesamt positive und konsistente Bewertungen</a:t>
            </a:r>
          </a:p>
          <a:p>
            <a:pPr>
              <a:spcAft>
                <a:spcPts val="500"/>
              </a:spcAft>
            </a:pPr>
            <a:endParaRPr lang="de-DE" sz="1400" dirty="0">
              <a:latin typeface="Helvetica" pitchFamily="2" charset="0"/>
            </a:endParaRPr>
          </a:p>
          <a:p>
            <a:pPr>
              <a:spcAft>
                <a:spcPts val="500"/>
              </a:spcAft>
            </a:pPr>
            <a:r>
              <a:rPr lang="de-DE" sz="1400" b="1" dirty="0">
                <a:latin typeface="Helvetica" pitchFamily="2" charset="0"/>
              </a:rPr>
              <a:t>Verteilung der Bewertungen:                            </a:t>
            </a:r>
          </a:p>
          <a:p>
            <a:pPr marL="285750" indent="-285750">
              <a:buFont typeface="Symbol" pitchFamily="2" charset="2"/>
              <a:buChar char="-"/>
            </a:pPr>
            <a:r>
              <a:rPr lang="de-DE" sz="1400" dirty="0">
                <a:latin typeface="Helvetica" pitchFamily="2" charset="0"/>
              </a:rPr>
              <a:t>Die Interquartilsbereich </a:t>
            </a:r>
            <a:r>
              <a:rPr lang="de-DE" sz="1400" b="1" dirty="0">
                <a:latin typeface="Helvetica" pitchFamily="2" charset="0"/>
              </a:rPr>
              <a:t>Accuracy</a:t>
            </a:r>
            <a:r>
              <a:rPr lang="de-DE" sz="1400" dirty="0">
                <a:latin typeface="Helvetica" pitchFamily="2" charset="0"/>
              </a:rPr>
              <a:t>: </a:t>
            </a:r>
            <a:r>
              <a:rPr lang="de-DE" sz="1400" b="1" dirty="0">
                <a:latin typeface="Helvetica" pitchFamily="2" charset="0"/>
              </a:rPr>
              <a:t>3,36 – 4,46 </a:t>
            </a:r>
          </a:p>
          <a:p>
            <a:pPr marL="285750" indent="-285750">
              <a:buFont typeface="Symbol" pitchFamily="2" charset="2"/>
              <a:buChar char="-"/>
            </a:pPr>
            <a:r>
              <a:rPr lang="de-DE" sz="1400" dirty="0">
                <a:latin typeface="Helvetica" pitchFamily="2" charset="0"/>
              </a:rPr>
              <a:t>Die Interquartilsbereich </a:t>
            </a:r>
            <a:r>
              <a:rPr lang="de-DE" sz="1400" b="1" dirty="0">
                <a:latin typeface="Helvetica" pitchFamily="2" charset="0"/>
              </a:rPr>
              <a:t>Satisfaction</a:t>
            </a:r>
            <a:r>
              <a:rPr lang="de-DE" sz="1400" dirty="0">
                <a:latin typeface="Helvetica" pitchFamily="2" charset="0"/>
              </a:rPr>
              <a:t> </a:t>
            </a:r>
            <a:r>
              <a:rPr lang="de-DE" sz="1400" b="1" dirty="0">
                <a:latin typeface="Helvetica" pitchFamily="2" charset="0"/>
              </a:rPr>
              <a:t>3,42 – 4.40</a:t>
            </a:r>
          </a:p>
          <a:p>
            <a:pPr marL="171450" indent="-171450">
              <a:buFont typeface="Arial" panose="020B0604020202020204" pitchFamily="34" charset="0"/>
              <a:buChar char="•"/>
            </a:pPr>
            <a:endParaRPr lang="de-DE" sz="1400" dirty="0">
              <a:latin typeface="Helvetica" pitchFamily="2" charset="0"/>
            </a:endParaRPr>
          </a:p>
          <a:p>
            <a:pPr>
              <a:spcAft>
                <a:spcPts val="500"/>
              </a:spcAft>
            </a:pPr>
            <a:r>
              <a:rPr lang="de-DE" sz="1400" b="1" dirty="0">
                <a:latin typeface="Helvetica" pitchFamily="2" charset="0"/>
              </a:rPr>
              <a:t>Identifikation Ausreisser</a:t>
            </a:r>
            <a:r>
              <a:rPr lang="de-DE" sz="1400" dirty="0">
                <a:latin typeface="Helvetica" pitchFamily="2" charset="0"/>
              </a:rPr>
              <a:t>:   </a:t>
            </a:r>
          </a:p>
          <a:p>
            <a:pPr marL="285750" indent="-285750">
              <a:buFont typeface="Symbol" pitchFamily="2" charset="2"/>
              <a:buChar char="-"/>
            </a:pPr>
            <a:r>
              <a:rPr lang="de-DE" sz="1400" dirty="0">
                <a:latin typeface="Helvetica" pitchFamily="2" charset="0"/>
              </a:rPr>
              <a:t>Negativer Ausreisser </a:t>
            </a:r>
            <a:r>
              <a:rPr lang="de-DE" sz="1400" b="1" dirty="0">
                <a:latin typeface="Helvetica" pitchFamily="2" charset="0"/>
              </a:rPr>
              <a:t>Accuracy: 2.9</a:t>
            </a:r>
          </a:p>
          <a:p>
            <a:pPr marL="285750" indent="-285750">
              <a:buFont typeface="Symbol" pitchFamily="2" charset="2"/>
              <a:buChar char="-"/>
            </a:pPr>
            <a:r>
              <a:rPr lang="de-DE" sz="1400" dirty="0">
                <a:latin typeface="Helvetica" pitchFamily="2" charset="0"/>
              </a:rPr>
              <a:t>Negativer Ausreisser </a:t>
            </a:r>
            <a:r>
              <a:rPr lang="de-DE" sz="1400" b="1" dirty="0">
                <a:latin typeface="Helvetica" pitchFamily="2" charset="0"/>
              </a:rPr>
              <a:t>Satisfaction: 2.5</a:t>
            </a:r>
          </a:p>
          <a:p>
            <a:pPr marL="285750" indent="-285750">
              <a:buFont typeface="Symbol" pitchFamily="2" charset="2"/>
              <a:buChar char="-"/>
            </a:pPr>
            <a:r>
              <a:rPr lang="de-DE" sz="1400" dirty="0">
                <a:latin typeface="Helvetica" pitchFamily="2" charset="0"/>
              </a:rPr>
              <a:t>Beide Ausreisser: gleiche Testperson</a:t>
            </a:r>
          </a:p>
          <a:p>
            <a:endParaRPr lang="de-DE" sz="1400" dirty="0">
              <a:latin typeface="Helvetica" pitchFamily="2" charset="0"/>
            </a:endParaRPr>
          </a:p>
          <a:p>
            <a:pPr>
              <a:spcAft>
                <a:spcPts val="500"/>
              </a:spcAft>
            </a:pPr>
            <a:r>
              <a:rPr lang="de-DE" sz="1400" b="1" dirty="0">
                <a:latin typeface="Helvetica" pitchFamily="2" charset="0"/>
              </a:rPr>
              <a:t>Ursache des Ausreissers</a:t>
            </a:r>
            <a:r>
              <a:rPr lang="de-DE" sz="1400" dirty="0">
                <a:latin typeface="Helvetica" pitchFamily="2" charset="0"/>
              </a:rPr>
              <a:t>:                                                  </a:t>
            </a:r>
          </a:p>
          <a:p>
            <a:pPr marL="285750" indent="-285750">
              <a:buFont typeface="Symbol" pitchFamily="2" charset="2"/>
              <a:buChar char="-"/>
            </a:pPr>
            <a:r>
              <a:rPr lang="de-CH" sz="1400" dirty="0">
                <a:latin typeface="Helvetica" pitchFamily="2" charset="0"/>
              </a:rPr>
              <a:t>Hohes Erwartungsniveau Testperson</a:t>
            </a:r>
          </a:p>
          <a:p>
            <a:pPr marL="285750" indent="-285750">
              <a:buFont typeface="Symbol" pitchFamily="2" charset="2"/>
              <a:buChar char="-"/>
            </a:pPr>
            <a:r>
              <a:rPr lang="de-CH" sz="1400" dirty="0">
                <a:latin typeface="Helvetica" pitchFamily="2" charset="0"/>
              </a:rPr>
              <a:t>Variierende Prompting-Kompetenzen</a:t>
            </a:r>
          </a:p>
        </p:txBody>
      </p:sp>
      <p:sp>
        <p:nvSpPr>
          <p:cNvPr id="2" name="Textfeld 1">
            <a:extLst>
              <a:ext uri="{FF2B5EF4-FFF2-40B4-BE49-F238E27FC236}">
                <a16:creationId xmlns:a16="http://schemas.microsoft.com/office/drawing/2014/main" id="{044190E9-218D-1749-B414-11904B88D7CD}"/>
              </a:ext>
            </a:extLst>
          </p:cNvPr>
          <p:cNvSpPr txBox="1"/>
          <p:nvPr/>
        </p:nvSpPr>
        <p:spPr>
          <a:xfrm>
            <a:off x="2170910" y="3134122"/>
            <a:ext cx="482824" cy="276999"/>
          </a:xfrm>
          <a:prstGeom prst="rect">
            <a:avLst/>
          </a:prstGeom>
          <a:noFill/>
        </p:spPr>
        <p:txBody>
          <a:bodyPr wrap="none" rtlCol="0">
            <a:spAutoFit/>
          </a:bodyPr>
          <a:lstStyle/>
          <a:p>
            <a:r>
              <a:rPr lang="en-GB" sz="1200" dirty="0">
                <a:latin typeface="Helvetica" pitchFamily="2" charset="0"/>
              </a:rPr>
              <a:t>4.46</a:t>
            </a:r>
          </a:p>
        </p:txBody>
      </p:sp>
      <p:sp>
        <p:nvSpPr>
          <p:cNvPr id="15" name="Textfeld 14">
            <a:extLst>
              <a:ext uri="{FF2B5EF4-FFF2-40B4-BE49-F238E27FC236}">
                <a16:creationId xmlns:a16="http://schemas.microsoft.com/office/drawing/2014/main" id="{B408B8CF-E101-6D45-9448-8FC50A5AD46F}"/>
              </a:ext>
            </a:extLst>
          </p:cNvPr>
          <p:cNvSpPr txBox="1"/>
          <p:nvPr/>
        </p:nvSpPr>
        <p:spPr>
          <a:xfrm>
            <a:off x="2170910" y="3641558"/>
            <a:ext cx="482824" cy="276999"/>
          </a:xfrm>
          <a:prstGeom prst="rect">
            <a:avLst/>
          </a:prstGeom>
          <a:noFill/>
        </p:spPr>
        <p:txBody>
          <a:bodyPr wrap="none" rtlCol="0">
            <a:spAutoFit/>
          </a:bodyPr>
          <a:lstStyle/>
          <a:p>
            <a:r>
              <a:rPr lang="en-GB" sz="1200" dirty="0">
                <a:latin typeface="Helvetica" pitchFamily="2" charset="0"/>
              </a:rPr>
              <a:t>3.36</a:t>
            </a:r>
          </a:p>
        </p:txBody>
      </p:sp>
      <p:sp>
        <p:nvSpPr>
          <p:cNvPr id="16" name="Textfeld 15">
            <a:extLst>
              <a:ext uri="{FF2B5EF4-FFF2-40B4-BE49-F238E27FC236}">
                <a16:creationId xmlns:a16="http://schemas.microsoft.com/office/drawing/2014/main" id="{9D4CAC76-96B2-364A-A7EF-76A406C97DCC}"/>
              </a:ext>
            </a:extLst>
          </p:cNvPr>
          <p:cNvSpPr txBox="1"/>
          <p:nvPr/>
        </p:nvSpPr>
        <p:spPr>
          <a:xfrm>
            <a:off x="4974001" y="3134121"/>
            <a:ext cx="482824" cy="276999"/>
          </a:xfrm>
          <a:prstGeom prst="rect">
            <a:avLst/>
          </a:prstGeom>
          <a:noFill/>
        </p:spPr>
        <p:txBody>
          <a:bodyPr wrap="none" rtlCol="0">
            <a:spAutoFit/>
          </a:bodyPr>
          <a:lstStyle/>
          <a:p>
            <a:r>
              <a:rPr lang="en-GB" sz="1200" dirty="0">
                <a:latin typeface="Helvetica" pitchFamily="2" charset="0"/>
              </a:rPr>
              <a:t>4.40</a:t>
            </a:r>
          </a:p>
        </p:txBody>
      </p:sp>
      <p:sp>
        <p:nvSpPr>
          <p:cNvPr id="17" name="Textfeld 16">
            <a:extLst>
              <a:ext uri="{FF2B5EF4-FFF2-40B4-BE49-F238E27FC236}">
                <a16:creationId xmlns:a16="http://schemas.microsoft.com/office/drawing/2014/main" id="{32367B07-4077-944C-839C-F2A2B36A4D2B}"/>
              </a:ext>
            </a:extLst>
          </p:cNvPr>
          <p:cNvSpPr txBox="1"/>
          <p:nvPr/>
        </p:nvSpPr>
        <p:spPr>
          <a:xfrm>
            <a:off x="4974001" y="3641845"/>
            <a:ext cx="482824" cy="276999"/>
          </a:xfrm>
          <a:prstGeom prst="rect">
            <a:avLst/>
          </a:prstGeom>
          <a:noFill/>
        </p:spPr>
        <p:txBody>
          <a:bodyPr wrap="none" rtlCol="0">
            <a:spAutoFit/>
          </a:bodyPr>
          <a:lstStyle/>
          <a:p>
            <a:r>
              <a:rPr lang="en-GB" sz="1200" dirty="0">
                <a:latin typeface="Helvetica" pitchFamily="2" charset="0"/>
              </a:rPr>
              <a:t>3.42</a:t>
            </a:r>
          </a:p>
        </p:txBody>
      </p:sp>
    </p:spTree>
    <p:extLst>
      <p:ext uri="{BB962C8B-B14F-4D97-AF65-F5344CB8AC3E}">
        <p14:creationId xmlns:p14="http://schemas.microsoft.com/office/powerpoint/2010/main" val="4255994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BC1D2358-B074-B746-AD60-26A5FB2AFE28}"/>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6" name="Foliennummernplatzhalter 5">
            <a:extLst>
              <a:ext uri="{FF2B5EF4-FFF2-40B4-BE49-F238E27FC236}">
                <a16:creationId xmlns:a16="http://schemas.microsoft.com/office/drawing/2014/main" id="{B0CCD76F-EACA-0949-8ADB-5D8945A5A5C4}"/>
              </a:ext>
            </a:extLst>
          </p:cNvPr>
          <p:cNvSpPr>
            <a:spLocks noGrp="1"/>
          </p:cNvSpPr>
          <p:nvPr>
            <p:ph type="sldNum" sz="quarter" idx="12"/>
          </p:nvPr>
        </p:nvSpPr>
        <p:spPr>
          <a:xfrm>
            <a:off x="8610600" y="6356350"/>
            <a:ext cx="2743200" cy="365125"/>
          </a:xfrm>
        </p:spPr>
        <p:txBody>
          <a:bodyPr/>
          <a:lstStyle/>
          <a:p>
            <a:fld id="{5CC06646-EDF2-2341-B148-FF1B4C173C76}" type="slidenum">
              <a:rPr lang="en-GB" sz="1400" smtClean="0">
                <a:solidFill>
                  <a:schemeClr val="tx1"/>
                </a:solidFill>
                <a:latin typeface="Helvetica" pitchFamily="2" charset="0"/>
              </a:rPr>
              <a:t>14</a:t>
            </a:fld>
            <a:endParaRPr lang="en-GB" dirty="0">
              <a:solidFill>
                <a:schemeClr val="tx1"/>
              </a:solidFill>
              <a:latin typeface="Helvetica" pitchFamily="2" charset="0"/>
            </a:endParaRPr>
          </a:p>
        </p:txBody>
      </p:sp>
      <p:sp>
        <p:nvSpPr>
          <p:cNvPr id="7" name="Rechteck 6">
            <a:extLst>
              <a:ext uri="{FF2B5EF4-FFF2-40B4-BE49-F238E27FC236}">
                <a16:creationId xmlns:a16="http://schemas.microsoft.com/office/drawing/2014/main" id="{64B11276-7FD6-014E-B55F-820E5DBFA8F9}"/>
              </a:ext>
            </a:extLst>
          </p:cNvPr>
          <p:cNvSpPr/>
          <p:nvPr/>
        </p:nvSpPr>
        <p:spPr>
          <a:xfrm>
            <a:off x="574963" y="1716664"/>
            <a:ext cx="3607550" cy="754939"/>
          </a:xfrm>
          <a:prstGeom prst="rect">
            <a:avLst/>
          </a:prstGeom>
          <a:solidFill>
            <a:srgbClr val="008E87"/>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Inhalte und Datenumfang</a:t>
            </a:r>
          </a:p>
        </p:txBody>
      </p:sp>
      <p:sp>
        <p:nvSpPr>
          <p:cNvPr id="12" name="Rechteck 11">
            <a:extLst>
              <a:ext uri="{FF2B5EF4-FFF2-40B4-BE49-F238E27FC236}">
                <a16:creationId xmlns:a16="http://schemas.microsoft.com/office/drawing/2014/main" id="{0051F264-B154-4C44-B810-1D71D2B95734}"/>
              </a:ext>
            </a:extLst>
          </p:cNvPr>
          <p:cNvSpPr/>
          <p:nvPr/>
        </p:nvSpPr>
        <p:spPr>
          <a:xfrm>
            <a:off x="4284595" y="1716664"/>
            <a:ext cx="3607551" cy="783685"/>
          </a:xfrm>
          <a:prstGeom prst="rect">
            <a:avLst/>
          </a:prstGeom>
          <a:solidFill>
            <a:srgbClr val="008E87"/>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Nutzerpräferenzen und Antwortstil</a:t>
            </a:r>
          </a:p>
        </p:txBody>
      </p:sp>
      <p:sp>
        <p:nvSpPr>
          <p:cNvPr id="13" name="Rechteck 12">
            <a:extLst>
              <a:ext uri="{FF2B5EF4-FFF2-40B4-BE49-F238E27FC236}">
                <a16:creationId xmlns:a16="http://schemas.microsoft.com/office/drawing/2014/main" id="{82AA5199-3287-C547-A245-FAB78E39D35B}"/>
              </a:ext>
            </a:extLst>
          </p:cNvPr>
          <p:cNvSpPr/>
          <p:nvPr/>
        </p:nvSpPr>
        <p:spPr>
          <a:xfrm>
            <a:off x="8009485" y="1716665"/>
            <a:ext cx="3607551" cy="783686"/>
          </a:xfrm>
          <a:prstGeom prst="rect">
            <a:avLst/>
          </a:prstGeom>
          <a:solidFill>
            <a:srgbClr val="008E87"/>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Funktionale Erweiterungen &amp; Benutzerfreundlichkeit</a:t>
            </a:r>
          </a:p>
        </p:txBody>
      </p:sp>
      <p:sp>
        <p:nvSpPr>
          <p:cNvPr id="4" name="Rechteck 3">
            <a:extLst>
              <a:ext uri="{FF2B5EF4-FFF2-40B4-BE49-F238E27FC236}">
                <a16:creationId xmlns:a16="http://schemas.microsoft.com/office/drawing/2014/main" id="{4FE6FC7D-DDC6-E245-961A-DD317B7E6522}"/>
              </a:ext>
            </a:extLst>
          </p:cNvPr>
          <p:cNvSpPr/>
          <p:nvPr/>
        </p:nvSpPr>
        <p:spPr>
          <a:xfrm>
            <a:off x="574962" y="2693880"/>
            <a:ext cx="3607551" cy="3662470"/>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4" name="Rechteck 13">
            <a:extLst>
              <a:ext uri="{FF2B5EF4-FFF2-40B4-BE49-F238E27FC236}">
                <a16:creationId xmlns:a16="http://schemas.microsoft.com/office/drawing/2014/main" id="{276F489F-3733-EB45-A21E-5B709A0806A0}"/>
              </a:ext>
            </a:extLst>
          </p:cNvPr>
          <p:cNvSpPr/>
          <p:nvPr/>
        </p:nvSpPr>
        <p:spPr>
          <a:xfrm>
            <a:off x="4284595" y="2694219"/>
            <a:ext cx="3607551" cy="2694863"/>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5" name="Rechteck 14">
            <a:extLst>
              <a:ext uri="{FF2B5EF4-FFF2-40B4-BE49-F238E27FC236}">
                <a16:creationId xmlns:a16="http://schemas.microsoft.com/office/drawing/2014/main" id="{6B89D1D2-DAC3-AB44-B880-1BB5A5ED5AB3}"/>
              </a:ext>
            </a:extLst>
          </p:cNvPr>
          <p:cNvSpPr/>
          <p:nvPr/>
        </p:nvSpPr>
        <p:spPr>
          <a:xfrm>
            <a:off x="8009485" y="2697752"/>
            <a:ext cx="3607551" cy="2694863"/>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9" name="Titel 1">
            <a:extLst>
              <a:ext uri="{FF2B5EF4-FFF2-40B4-BE49-F238E27FC236}">
                <a16:creationId xmlns:a16="http://schemas.microsoft.com/office/drawing/2014/main" id="{408F72F7-3B56-B947-B2B0-C15FD375D228}"/>
              </a:ext>
            </a:extLst>
          </p:cNvPr>
          <p:cNvSpPr>
            <a:spLocks noGrp="1"/>
          </p:cNvSpPr>
          <p:nvPr>
            <p:ph type="title"/>
          </p:nvPr>
        </p:nvSpPr>
        <p:spPr>
          <a:xfrm>
            <a:off x="574963" y="444610"/>
            <a:ext cx="10515600" cy="943127"/>
          </a:xfrm>
        </p:spPr>
        <p:txBody>
          <a:bodyPr>
            <a:normAutofit fontScale="90000"/>
          </a:bodyPr>
          <a:lstStyle/>
          <a:p>
            <a:r>
              <a:rPr lang="de-DE" sz="2700" dirty="0">
                <a:latin typeface="Helvetica" pitchFamily="2" charset="0"/>
              </a:rPr>
              <a:t>Qualitative Evaluation (3)</a:t>
            </a:r>
            <a:br>
              <a:rPr lang="de-DE" sz="2400" dirty="0">
                <a:latin typeface="Helvetica" pitchFamily="2" charset="0"/>
              </a:rPr>
            </a:br>
            <a:r>
              <a:rPr lang="de-DE" sz="2200" dirty="0">
                <a:latin typeface="Helvetica Light" panose="020B0403020202020204" pitchFamily="34" charset="0"/>
              </a:rPr>
              <a:t>Konsolidierung Ergebnisse Open Beta Modell</a:t>
            </a:r>
            <a:br>
              <a:rPr lang="de-DE" sz="2400" dirty="0">
                <a:latin typeface="Helvetica" pitchFamily="2" charset="0"/>
              </a:rPr>
            </a:br>
            <a:endParaRPr lang="de-DE" sz="2400" dirty="0">
              <a:latin typeface="Helvetica" pitchFamily="2" charset="0"/>
            </a:endParaRPr>
          </a:p>
        </p:txBody>
      </p:sp>
      <p:sp>
        <p:nvSpPr>
          <p:cNvPr id="20" name="Textfeld 19">
            <a:extLst>
              <a:ext uri="{FF2B5EF4-FFF2-40B4-BE49-F238E27FC236}">
                <a16:creationId xmlns:a16="http://schemas.microsoft.com/office/drawing/2014/main" id="{B1F978A1-C3A6-F744-B3E0-827C0CF9E3F8}"/>
              </a:ext>
            </a:extLst>
          </p:cNvPr>
          <p:cNvSpPr txBox="1"/>
          <p:nvPr/>
        </p:nvSpPr>
        <p:spPr>
          <a:xfrm>
            <a:off x="669489" y="2877851"/>
            <a:ext cx="3467332" cy="3300904"/>
          </a:xfrm>
          <a:prstGeom prst="rect">
            <a:avLst/>
          </a:prstGeom>
          <a:noFill/>
        </p:spPr>
        <p:txBody>
          <a:bodyPr wrap="square" rtlCol="0">
            <a:spAutoFit/>
          </a:bodyPr>
          <a:lstStyle/>
          <a:p>
            <a:pPr>
              <a:spcAft>
                <a:spcPts val="500"/>
              </a:spcAft>
            </a:pPr>
            <a:r>
              <a:rPr lang="de-CH" sz="1400" b="1" dirty="0">
                <a:latin typeface="Helvetica" pitchFamily="2" charset="0"/>
              </a:rPr>
              <a:t>Integration zusätzlicher Datenquellen:</a:t>
            </a:r>
            <a:r>
              <a:rPr lang="de-CH" sz="1400" dirty="0">
                <a:latin typeface="Helvetica" pitchFamily="2" charset="0"/>
              </a:rPr>
              <a:t> </a:t>
            </a:r>
          </a:p>
          <a:p>
            <a:pPr marL="285750" indent="-285750">
              <a:buFont typeface="Symbol" pitchFamily="2" charset="2"/>
              <a:buChar char="-"/>
            </a:pPr>
            <a:r>
              <a:rPr lang="de-CH" sz="1400" b="1" dirty="0">
                <a:solidFill>
                  <a:srgbClr val="000000"/>
                </a:solidFill>
                <a:latin typeface="Helvetica" pitchFamily="2" charset="0"/>
              </a:rPr>
              <a:t>Erwartungen</a:t>
            </a:r>
            <a:r>
              <a:rPr lang="de-CH" sz="1400" dirty="0">
                <a:solidFill>
                  <a:srgbClr val="000000"/>
                </a:solidFill>
                <a:latin typeface="Helvetica" pitchFamily="2" charset="0"/>
              </a:rPr>
              <a:t> an weitere </a:t>
            </a:r>
            <a:r>
              <a:rPr lang="de-CH" sz="1400" b="1" dirty="0">
                <a:solidFill>
                  <a:srgbClr val="000000"/>
                </a:solidFill>
                <a:latin typeface="Helvetica" pitchFamily="2" charset="0"/>
              </a:rPr>
              <a:t>relevante Datenquellen, </a:t>
            </a:r>
            <a:r>
              <a:rPr lang="de-CH" sz="1400" dirty="0">
                <a:solidFill>
                  <a:srgbClr val="000000"/>
                </a:solidFill>
                <a:latin typeface="Helvetica" pitchFamily="2" charset="0"/>
              </a:rPr>
              <a:t>sowie Hinweise auf nützliche </a:t>
            </a:r>
            <a:r>
              <a:rPr lang="de-CH" sz="1400" b="1" dirty="0">
                <a:solidFill>
                  <a:srgbClr val="000000"/>
                </a:solidFill>
                <a:latin typeface="Helvetica" pitchFamily="2" charset="0"/>
              </a:rPr>
              <a:t>Zusatzdokumente</a:t>
            </a:r>
            <a:endParaRPr lang="de-CH" sz="1400" b="1" dirty="0">
              <a:latin typeface="Helvetica" pitchFamily="2" charset="0"/>
            </a:endParaRPr>
          </a:p>
          <a:p>
            <a:pPr marL="285750" indent="-285750">
              <a:buFont typeface="Symbol" pitchFamily="2" charset="2"/>
              <a:buChar char="-"/>
            </a:pPr>
            <a:endParaRPr lang="de-CH" sz="1400" dirty="0">
              <a:latin typeface="Helvetica" pitchFamily="2" charset="0"/>
            </a:endParaRPr>
          </a:p>
          <a:p>
            <a:pPr>
              <a:spcAft>
                <a:spcPts val="500"/>
              </a:spcAft>
            </a:pPr>
            <a:r>
              <a:rPr lang="de-CH" sz="1400" b="1" dirty="0">
                <a:latin typeface="Helvetica" pitchFamily="2" charset="0"/>
              </a:rPr>
              <a:t>Sensiblen Daten:</a:t>
            </a:r>
            <a:r>
              <a:rPr lang="de-CH" sz="1400" dirty="0">
                <a:latin typeface="Helvetica" pitchFamily="2" charset="0"/>
              </a:rPr>
              <a:t> </a:t>
            </a:r>
          </a:p>
          <a:p>
            <a:pPr marL="285750" indent="-285750">
              <a:buFont typeface="Symbol" pitchFamily="2" charset="2"/>
              <a:buChar char="-"/>
            </a:pPr>
            <a:r>
              <a:rPr lang="de-CH" sz="1400" dirty="0">
                <a:solidFill>
                  <a:srgbClr val="000000"/>
                </a:solidFill>
                <a:latin typeface="Helvetica" pitchFamily="2" charset="0"/>
              </a:rPr>
              <a:t>Hinweise zu </a:t>
            </a:r>
            <a:r>
              <a:rPr lang="de-CH" sz="1400" b="1" dirty="0">
                <a:solidFill>
                  <a:srgbClr val="000000"/>
                </a:solidFill>
                <a:latin typeface="Helvetica" pitchFamily="2" charset="0"/>
              </a:rPr>
              <a:t>sensiblen Dokumenten</a:t>
            </a:r>
            <a:r>
              <a:rPr lang="de-CH" sz="1400" dirty="0">
                <a:solidFill>
                  <a:srgbClr val="000000"/>
                </a:solidFill>
                <a:latin typeface="Helvetica" pitchFamily="2" charset="0"/>
              </a:rPr>
              <a:t>, die vom Modell </a:t>
            </a:r>
            <a:r>
              <a:rPr lang="de-CH" sz="1400" b="1" dirty="0">
                <a:solidFill>
                  <a:srgbClr val="000000"/>
                </a:solidFill>
                <a:latin typeface="Helvetica" pitchFamily="2" charset="0"/>
              </a:rPr>
              <a:t>nicht </a:t>
            </a:r>
            <a:r>
              <a:rPr lang="de-CH" sz="1400" dirty="0">
                <a:solidFill>
                  <a:srgbClr val="000000"/>
                </a:solidFill>
                <a:latin typeface="Helvetica" pitchFamily="2" charset="0"/>
              </a:rPr>
              <a:t>verarbeitet oder gespeichert werden sollten</a:t>
            </a:r>
          </a:p>
          <a:p>
            <a:pPr marL="285750" indent="-285750">
              <a:buFont typeface="Symbol" pitchFamily="2" charset="2"/>
              <a:buChar char="-"/>
            </a:pPr>
            <a:endParaRPr lang="de-CH" sz="1400" dirty="0">
              <a:latin typeface="Helvetica" pitchFamily="2" charset="0"/>
            </a:endParaRPr>
          </a:p>
          <a:p>
            <a:pPr>
              <a:spcAft>
                <a:spcPts val="500"/>
              </a:spcAft>
            </a:pPr>
            <a:r>
              <a:rPr lang="de-CH" sz="1400" b="1" dirty="0">
                <a:latin typeface="Helvetica" pitchFamily="2" charset="0"/>
              </a:rPr>
              <a:t>Relevanz vorhandeneren Daten:</a:t>
            </a:r>
          </a:p>
          <a:p>
            <a:pPr marL="285750" indent="-285750">
              <a:buFont typeface="Symbol" pitchFamily="2" charset="2"/>
              <a:buChar char="-"/>
            </a:pPr>
            <a:r>
              <a:rPr lang="de-CH" sz="1400" dirty="0">
                <a:solidFill>
                  <a:srgbClr val="000000"/>
                </a:solidFill>
                <a:latin typeface="Helvetica" pitchFamily="2" charset="0"/>
              </a:rPr>
              <a:t>Kritische </a:t>
            </a:r>
            <a:r>
              <a:rPr lang="de-CH" sz="1400" b="1" dirty="0">
                <a:solidFill>
                  <a:srgbClr val="000000"/>
                </a:solidFill>
                <a:latin typeface="Helvetica" pitchFamily="2" charset="0"/>
              </a:rPr>
              <a:t>Anmerkungen</a:t>
            </a:r>
            <a:r>
              <a:rPr lang="de-CH" sz="1400" dirty="0">
                <a:solidFill>
                  <a:srgbClr val="000000"/>
                </a:solidFill>
                <a:latin typeface="Helvetica" pitchFamily="2" charset="0"/>
              </a:rPr>
              <a:t> bezüglich </a:t>
            </a:r>
            <a:r>
              <a:rPr lang="de-CH" sz="1400" b="1" dirty="0">
                <a:solidFill>
                  <a:srgbClr val="000000"/>
                </a:solidFill>
                <a:latin typeface="Helvetica" pitchFamily="2" charset="0"/>
              </a:rPr>
              <a:t>Relevanz verwendeter Dokumente</a:t>
            </a:r>
            <a:r>
              <a:rPr lang="de-CH" sz="1400" dirty="0">
                <a:solidFill>
                  <a:srgbClr val="000000"/>
                </a:solidFill>
                <a:latin typeface="Helvetica" pitchFamily="2" charset="0"/>
              </a:rPr>
              <a:t> für Beantwortung von Fragen</a:t>
            </a:r>
            <a:endParaRPr lang="de-CH" sz="1400" dirty="0">
              <a:latin typeface="Helvetica" pitchFamily="2" charset="0"/>
            </a:endParaRPr>
          </a:p>
        </p:txBody>
      </p:sp>
      <p:sp>
        <p:nvSpPr>
          <p:cNvPr id="21" name="Textfeld 20">
            <a:extLst>
              <a:ext uri="{FF2B5EF4-FFF2-40B4-BE49-F238E27FC236}">
                <a16:creationId xmlns:a16="http://schemas.microsoft.com/office/drawing/2014/main" id="{B57610EB-F1A5-1B41-B165-8B3ECD0AF813}"/>
              </a:ext>
            </a:extLst>
          </p:cNvPr>
          <p:cNvSpPr txBox="1"/>
          <p:nvPr/>
        </p:nvSpPr>
        <p:spPr>
          <a:xfrm>
            <a:off x="4534960" y="2893821"/>
            <a:ext cx="3122075" cy="2159566"/>
          </a:xfrm>
          <a:prstGeom prst="rect">
            <a:avLst/>
          </a:prstGeom>
          <a:noFill/>
        </p:spPr>
        <p:txBody>
          <a:bodyPr wrap="square" rtlCol="0">
            <a:spAutoFit/>
          </a:bodyPr>
          <a:lstStyle/>
          <a:p>
            <a:pPr>
              <a:spcAft>
                <a:spcPts val="500"/>
              </a:spcAft>
            </a:pPr>
            <a:r>
              <a:rPr lang="de-CH" sz="1400" b="1" noProof="1">
                <a:latin typeface="Helvetica" pitchFamily="2" charset="0"/>
              </a:rPr>
              <a:t>Output-Darstellung:</a:t>
            </a:r>
            <a:r>
              <a:rPr lang="de-CH" sz="1400" noProof="1">
                <a:latin typeface="Helvetica" pitchFamily="2" charset="0"/>
              </a:rPr>
              <a:t> </a:t>
            </a:r>
          </a:p>
          <a:p>
            <a:pPr marL="285750" indent="-285750">
              <a:buFont typeface="Symbol" pitchFamily="2" charset="2"/>
              <a:buChar char="-"/>
            </a:pPr>
            <a:r>
              <a:rPr lang="de-CH" sz="1400" noProof="1">
                <a:latin typeface="Helvetica" pitchFamily="2" charset="0"/>
              </a:rPr>
              <a:t>Individuelle </a:t>
            </a:r>
            <a:r>
              <a:rPr lang="de-CH" sz="1400" b="1" noProof="1">
                <a:latin typeface="Helvetica" pitchFamily="2" charset="0"/>
              </a:rPr>
              <a:t>Struktur- und Detailierungspräferenzen </a:t>
            </a:r>
            <a:r>
              <a:rPr lang="de-CH" sz="1400" noProof="1">
                <a:latin typeface="Helvetica" pitchFamily="2" charset="0"/>
              </a:rPr>
              <a:t>einzelnern Teilnehmern</a:t>
            </a:r>
          </a:p>
          <a:p>
            <a:pPr marL="285750" indent="-285750">
              <a:buFont typeface="Symbol" pitchFamily="2" charset="2"/>
              <a:buChar char="-"/>
            </a:pPr>
            <a:endParaRPr lang="de-CH" sz="1400" noProof="1">
              <a:latin typeface="Helvetica" pitchFamily="2" charset="0"/>
            </a:endParaRPr>
          </a:p>
          <a:p>
            <a:pPr>
              <a:spcAft>
                <a:spcPts val="500"/>
              </a:spcAft>
            </a:pPr>
            <a:r>
              <a:rPr lang="de-CH" sz="1400" b="1" noProof="1">
                <a:latin typeface="Helvetica" pitchFamily="2" charset="0"/>
              </a:rPr>
              <a:t>Antwortstil:</a:t>
            </a:r>
            <a:r>
              <a:rPr lang="de-CH" sz="1400" noProof="1">
                <a:latin typeface="Helvetica" pitchFamily="2" charset="0"/>
              </a:rPr>
              <a:t> </a:t>
            </a:r>
          </a:p>
          <a:p>
            <a:pPr marL="285750" indent="-285750">
              <a:buFont typeface="Symbol" pitchFamily="2" charset="2"/>
              <a:buChar char="-"/>
            </a:pPr>
            <a:r>
              <a:rPr lang="de-CH" sz="1400" noProof="1">
                <a:latin typeface="Helvetica" pitchFamily="2" charset="0"/>
              </a:rPr>
              <a:t>Gewünschte Use-Case-abhängige </a:t>
            </a:r>
            <a:r>
              <a:rPr lang="de-CH" sz="1400" b="1" noProof="1">
                <a:latin typeface="Helvetica" pitchFamily="2" charset="0"/>
              </a:rPr>
              <a:t>Antwortstills</a:t>
            </a:r>
            <a:r>
              <a:rPr lang="de-CH" sz="1400" noProof="1">
                <a:latin typeface="Helvetica" pitchFamily="2" charset="0"/>
              </a:rPr>
              <a:t> des Modell outputs</a:t>
            </a:r>
          </a:p>
        </p:txBody>
      </p:sp>
      <p:sp>
        <p:nvSpPr>
          <p:cNvPr id="22" name="Textfeld 21">
            <a:extLst>
              <a:ext uri="{FF2B5EF4-FFF2-40B4-BE49-F238E27FC236}">
                <a16:creationId xmlns:a16="http://schemas.microsoft.com/office/drawing/2014/main" id="{8A6AF45F-EC25-824D-9876-19ED3ECB4D84}"/>
              </a:ext>
            </a:extLst>
          </p:cNvPr>
          <p:cNvSpPr txBox="1"/>
          <p:nvPr/>
        </p:nvSpPr>
        <p:spPr>
          <a:xfrm>
            <a:off x="8299651" y="2893821"/>
            <a:ext cx="3184356" cy="2095445"/>
          </a:xfrm>
          <a:prstGeom prst="rect">
            <a:avLst/>
          </a:prstGeom>
          <a:noFill/>
        </p:spPr>
        <p:txBody>
          <a:bodyPr wrap="square" rtlCol="0">
            <a:spAutoFit/>
          </a:bodyPr>
          <a:lstStyle/>
          <a:p>
            <a:pPr>
              <a:spcAft>
                <a:spcPts val="500"/>
              </a:spcAft>
            </a:pPr>
            <a:r>
              <a:rPr lang="de-DE" sz="1400" b="1" dirty="0">
                <a:latin typeface="Helvetica" pitchFamily="2" charset="0"/>
              </a:rPr>
              <a:t>Zusätzliche Funktionen:   </a:t>
            </a:r>
          </a:p>
          <a:p>
            <a:pPr marL="285750" indent="-285750">
              <a:buFont typeface="Symbol" pitchFamily="2" charset="2"/>
              <a:buChar char="-"/>
            </a:pPr>
            <a:r>
              <a:rPr lang="de-DE" sz="1400" b="1" dirty="0">
                <a:latin typeface="Helvetica" pitchFamily="2" charset="0"/>
              </a:rPr>
              <a:t>Vorschläge</a:t>
            </a:r>
            <a:r>
              <a:rPr lang="de-DE" sz="1400" dirty="0">
                <a:latin typeface="Helvetica" pitchFamily="2" charset="0"/>
              </a:rPr>
              <a:t> zur Integration zusätzlicher </a:t>
            </a:r>
            <a:r>
              <a:rPr lang="de-DE" sz="1400" b="1" dirty="0">
                <a:latin typeface="Helvetica" pitchFamily="2" charset="0"/>
              </a:rPr>
              <a:t>Funktionen</a:t>
            </a:r>
            <a:r>
              <a:rPr lang="de-DE" sz="1400" dirty="0">
                <a:latin typeface="Helvetica" pitchFamily="2" charset="0"/>
              </a:rPr>
              <a:t> und  </a:t>
            </a:r>
            <a:r>
              <a:rPr lang="de-DE" sz="1400" b="1" dirty="0">
                <a:latin typeface="Helvetica" pitchFamily="2" charset="0"/>
              </a:rPr>
              <a:t>Erweiterungen</a:t>
            </a:r>
            <a:r>
              <a:rPr lang="de-DE" sz="1400" dirty="0">
                <a:latin typeface="Helvetica" pitchFamily="2" charset="0"/>
              </a:rPr>
              <a:t>:</a:t>
            </a:r>
          </a:p>
          <a:p>
            <a:endParaRPr lang="de-DE" sz="1400" dirty="0">
              <a:latin typeface="Helvetica" pitchFamily="2" charset="0"/>
            </a:endParaRPr>
          </a:p>
          <a:p>
            <a:pPr marL="285750" indent="-285750">
              <a:buFont typeface="Wingdings" pitchFamily="2" charset="2"/>
              <a:buChar char="§"/>
            </a:pPr>
            <a:r>
              <a:rPr lang="de-DE" sz="1400" dirty="0">
                <a:latin typeface="Helvetica" pitchFamily="2" charset="0"/>
              </a:rPr>
              <a:t>Hyperlinks</a:t>
            </a:r>
          </a:p>
          <a:p>
            <a:pPr marL="285750" indent="-285750">
              <a:buFont typeface="Wingdings" pitchFamily="2" charset="2"/>
              <a:buChar char="§"/>
            </a:pPr>
            <a:r>
              <a:rPr lang="de-DE" sz="1400" dirty="0">
                <a:latin typeface="Helvetica" pitchFamily="2" charset="0"/>
              </a:rPr>
              <a:t>Screenshots</a:t>
            </a:r>
          </a:p>
          <a:p>
            <a:pPr marL="285750" indent="-285750">
              <a:buFont typeface="Wingdings" pitchFamily="2" charset="2"/>
              <a:buChar char="§"/>
            </a:pPr>
            <a:r>
              <a:rPr lang="de-DE" sz="1400" dirty="0">
                <a:latin typeface="Helvetica" pitchFamily="2" charset="0"/>
              </a:rPr>
              <a:t>Exportfunktionen</a:t>
            </a:r>
          </a:p>
          <a:p>
            <a:pPr marL="285750" indent="-285750">
              <a:buFont typeface="Wingdings" pitchFamily="2" charset="2"/>
              <a:buChar char="§"/>
            </a:pPr>
            <a:r>
              <a:rPr lang="de-DE" sz="1400" dirty="0">
                <a:latin typeface="Helvetica" pitchFamily="2" charset="0"/>
              </a:rPr>
              <a:t>Quellen- und Referenzangaben</a:t>
            </a:r>
          </a:p>
        </p:txBody>
      </p:sp>
    </p:spTree>
    <p:extLst>
      <p:ext uri="{BB962C8B-B14F-4D97-AF65-F5344CB8AC3E}">
        <p14:creationId xmlns:p14="http://schemas.microsoft.com/office/powerpoint/2010/main" val="2422921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21"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6EE4FFDF-DAF7-EA41-97A7-2FF6A3D5074F}"/>
              </a:ext>
            </a:extLst>
          </p:cNvPr>
          <p:cNvSpPr>
            <a:spLocks noGrp="1"/>
          </p:cNvSpPr>
          <p:nvPr>
            <p:ph type="sldNum" sz="quarter" idx="12"/>
          </p:nvPr>
        </p:nvSpPr>
        <p:spPr/>
        <p:txBody>
          <a:bodyPr/>
          <a:lstStyle/>
          <a:p>
            <a:fld id="{5CC06646-EDF2-2341-B148-FF1B4C173C76}" type="slidenum">
              <a:rPr lang="en-GB" sz="1400" smtClean="0">
                <a:latin typeface="Helvetica" pitchFamily="2" charset="0"/>
              </a:rPr>
              <a:t>15</a:t>
            </a:fld>
            <a:endParaRPr lang="en-GB" dirty="0">
              <a:latin typeface="Helvetica" pitchFamily="2" charset="0"/>
            </a:endParaRPr>
          </a:p>
        </p:txBody>
      </p:sp>
      <p:sp>
        <p:nvSpPr>
          <p:cNvPr id="5" name="Rechteck 4">
            <a:extLst>
              <a:ext uri="{FF2B5EF4-FFF2-40B4-BE49-F238E27FC236}">
                <a16:creationId xmlns:a16="http://schemas.microsoft.com/office/drawing/2014/main" id="{AC60A905-FB39-C04F-AC04-2C6A7EEC7180}"/>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7" name="Titel 1">
            <a:extLst>
              <a:ext uri="{FF2B5EF4-FFF2-40B4-BE49-F238E27FC236}">
                <a16:creationId xmlns:a16="http://schemas.microsoft.com/office/drawing/2014/main" id="{651EB7A1-6D87-704E-A13B-2A014FAECB4D}"/>
              </a:ext>
            </a:extLst>
          </p:cNvPr>
          <p:cNvSpPr txBox="1">
            <a:spLocks/>
          </p:cNvSpPr>
          <p:nvPr/>
        </p:nvSpPr>
        <p:spPr>
          <a:xfrm>
            <a:off x="574963" y="444610"/>
            <a:ext cx="10515600" cy="94312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700" dirty="0">
                <a:latin typeface="Helvetica" pitchFamily="2" charset="0"/>
              </a:rPr>
              <a:t>Forschungsfrage 1</a:t>
            </a:r>
            <a:br>
              <a:rPr lang="de-DE" sz="2400" dirty="0">
                <a:latin typeface="Helvetica" pitchFamily="2" charset="0"/>
              </a:rPr>
            </a:br>
            <a:r>
              <a:rPr lang="de-DE" sz="2200" dirty="0">
                <a:latin typeface="Helvetica Light" panose="020B0403020202020204" pitchFamily="34" charset="0"/>
              </a:rPr>
              <a:t>Zusammenfassung Resultate (1-3)</a:t>
            </a:r>
            <a:br>
              <a:rPr lang="de-DE" sz="2400" dirty="0">
                <a:latin typeface="Helvetica" pitchFamily="2" charset="0"/>
              </a:rPr>
            </a:br>
            <a:endParaRPr lang="de-DE" sz="2400" dirty="0">
              <a:latin typeface="Helvetica" pitchFamily="2" charset="0"/>
            </a:endParaRPr>
          </a:p>
        </p:txBody>
      </p:sp>
      <p:sp>
        <p:nvSpPr>
          <p:cNvPr id="9" name="Rechteck 8">
            <a:extLst>
              <a:ext uri="{FF2B5EF4-FFF2-40B4-BE49-F238E27FC236}">
                <a16:creationId xmlns:a16="http://schemas.microsoft.com/office/drawing/2014/main" id="{84B5BB95-4564-8D44-87EE-82E417A006E0}"/>
              </a:ext>
            </a:extLst>
          </p:cNvPr>
          <p:cNvSpPr/>
          <p:nvPr/>
        </p:nvSpPr>
        <p:spPr>
          <a:xfrm>
            <a:off x="574964" y="1501496"/>
            <a:ext cx="3336638" cy="701124"/>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Integration unstrukturierter Supply Chain Daten</a:t>
            </a:r>
          </a:p>
        </p:txBody>
      </p:sp>
      <p:sp>
        <p:nvSpPr>
          <p:cNvPr id="10" name="Rechteck 9">
            <a:extLst>
              <a:ext uri="{FF2B5EF4-FFF2-40B4-BE49-F238E27FC236}">
                <a16:creationId xmlns:a16="http://schemas.microsoft.com/office/drawing/2014/main" id="{7DB19C4D-A0B1-1E45-B8A2-B85E25FA8F4A}"/>
              </a:ext>
            </a:extLst>
          </p:cNvPr>
          <p:cNvSpPr/>
          <p:nvPr/>
        </p:nvSpPr>
        <p:spPr>
          <a:xfrm>
            <a:off x="574963" y="2389297"/>
            <a:ext cx="3336638" cy="3615694"/>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1" name="Rechteck 10">
            <a:extLst>
              <a:ext uri="{FF2B5EF4-FFF2-40B4-BE49-F238E27FC236}">
                <a16:creationId xmlns:a16="http://schemas.microsoft.com/office/drawing/2014/main" id="{56CA193E-6D12-5841-BF14-DB612565C7B8}"/>
              </a:ext>
            </a:extLst>
          </p:cNvPr>
          <p:cNvSpPr/>
          <p:nvPr/>
        </p:nvSpPr>
        <p:spPr>
          <a:xfrm>
            <a:off x="4127501" y="2412572"/>
            <a:ext cx="3514439" cy="3615694"/>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2" name="Rechteck 11">
            <a:extLst>
              <a:ext uri="{FF2B5EF4-FFF2-40B4-BE49-F238E27FC236}">
                <a16:creationId xmlns:a16="http://schemas.microsoft.com/office/drawing/2014/main" id="{4C0F2DEF-FD66-E749-9CD3-BB9168C6D3C1}"/>
              </a:ext>
            </a:extLst>
          </p:cNvPr>
          <p:cNvSpPr/>
          <p:nvPr/>
        </p:nvSpPr>
        <p:spPr>
          <a:xfrm>
            <a:off x="7857840" y="2397780"/>
            <a:ext cx="3584860" cy="3630487"/>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3" name="Rechteck 12">
            <a:extLst>
              <a:ext uri="{FF2B5EF4-FFF2-40B4-BE49-F238E27FC236}">
                <a16:creationId xmlns:a16="http://schemas.microsoft.com/office/drawing/2014/main" id="{A8CEC832-2D0F-FA44-8512-1B36C016D80D}"/>
              </a:ext>
            </a:extLst>
          </p:cNvPr>
          <p:cNvSpPr/>
          <p:nvPr/>
        </p:nvSpPr>
        <p:spPr>
          <a:xfrm>
            <a:off x="4127500" y="1501496"/>
            <a:ext cx="3514439" cy="701124"/>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Umgang mit Einschränkungen bei Grafischen Inhalten</a:t>
            </a:r>
          </a:p>
        </p:txBody>
      </p:sp>
      <p:sp>
        <p:nvSpPr>
          <p:cNvPr id="14" name="Rechteck 13">
            <a:extLst>
              <a:ext uri="{FF2B5EF4-FFF2-40B4-BE49-F238E27FC236}">
                <a16:creationId xmlns:a16="http://schemas.microsoft.com/office/drawing/2014/main" id="{21E0A078-71D5-394F-AFC0-0B87F1F8A66E}"/>
              </a:ext>
            </a:extLst>
          </p:cNvPr>
          <p:cNvSpPr/>
          <p:nvPr/>
        </p:nvSpPr>
        <p:spPr>
          <a:xfrm>
            <a:off x="7857840" y="1481785"/>
            <a:ext cx="3584860" cy="701124"/>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Evaluation der Modelloutputs</a:t>
            </a:r>
          </a:p>
        </p:txBody>
      </p:sp>
      <p:sp>
        <p:nvSpPr>
          <p:cNvPr id="15" name="Textfeld 14">
            <a:extLst>
              <a:ext uri="{FF2B5EF4-FFF2-40B4-BE49-F238E27FC236}">
                <a16:creationId xmlns:a16="http://schemas.microsoft.com/office/drawing/2014/main" id="{9367B6FA-3B18-CD47-8EEC-271F487CE654}"/>
              </a:ext>
            </a:extLst>
          </p:cNvPr>
          <p:cNvSpPr txBox="1"/>
          <p:nvPr/>
        </p:nvSpPr>
        <p:spPr>
          <a:xfrm>
            <a:off x="662131" y="2575146"/>
            <a:ext cx="3249469" cy="3085460"/>
          </a:xfrm>
          <a:prstGeom prst="rect">
            <a:avLst/>
          </a:prstGeom>
          <a:noFill/>
        </p:spPr>
        <p:txBody>
          <a:bodyPr wrap="square" rtlCol="0">
            <a:spAutoFit/>
          </a:bodyPr>
          <a:lstStyle/>
          <a:p>
            <a:pPr>
              <a:spcAft>
                <a:spcPts val="500"/>
              </a:spcAft>
            </a:pPr>
            <a:r>
              <a:rPr lang="de-DE" sz="1400" b="1" dirty="0">
                <a:latin typeface="Helvetica" pitchFamily="2" charset="0"/>
              </a:rPr>
              <a:t>Skalierbare Verarbeitung:                </a:t>
            </a:r>
            <a:endParaRPr lang="de-DE" sz="1400" dirty="0">
              <a:latin typeface="Helvetica" pitchFamily="2" charset="0"/>
            </a:endParaRPr>
          </a:p>
          <a:p>
            <a:pPr marL="285750" indent="-285750">
              <a:buFont typeface="Symbol" pitchFamily="2" charset="2"/>
              <a:buChar char="-"/>
            </a:pPr>
            <a:r>
              <a:rPr lang="de-CH" sz="1400" b="1" dirty="0">
                <a:solidFill>
                  <a:srgbClr val="000000"/>
                </a:solidFill>
                <a:latin typeface="Helvetica" pitchFamily="2" charset="0"/>
              </a:rPr>
              <a:t>Parallelisierung</a:t>
            </a:r>
            <a:r>
              <a:rPr lang="de-CH" sz="1400" dirty="0">
                <a:solidFill>
                  <a:srgbClr val="000000"/>
                </a:solidFill>
                <a:latin typeface="Helvetica" pitchFamily="2" charset="0"/>
              </a:rPr>
              <a:t> mittels </a:t>
            </a:r>
            <a:r>
              <a:rPr lang="de-CH" sz="1400" b="1" dirty="0">
                <a:solidFill>
                  <a:srgbClr val="000000"/>
                </a:solidFill>
                <a:latin typeface="Helvetica" pitchFamily="2" charset="0"/>
              </a:rPr>
              <a:t>Threading </a:t>
            </a:r>
            <a:r>
              <a:rPr lang="de-CH" sz="1400" dirty="0">
                <a:solidFill>
                  <a:srgbClr val="000000"/>
                </a:solidFill>
                <a:latin typeface="Helvetica" pitchFamily="2" charset="0"/>
              </a:rPr>
              <a:t>und Batchverarbeitung oftmals </a:t>
            </a:r>
            <a:r>
              <a:rPr lang="de-CH" sz="1400" b="1" dirty="0">
                <a:solidFill>
                  <a:srgbClr val="000000"/>
                </a:solidFill>
                <a:latin typeface="Helvetica" pitchFamily="2" charset="0"/>
              </a:rPr>
              <a:t>notwendig</a:t>
            </a:r>
            <a:endParaRPr lang="de-DE" sz="1400" b="1" dirty="0">
              <a:latin typeface="Helvetica" pitchFamily="2" charset="0"/>
            </a:endParaRPr>
          </a:p>
          <a:p>
            <a:pPr>
              <a:spcAft>
                <a:spcPts val="500"/>
              </a:spcAft>
            </a:pPr>
            <a:endParaRPr lang="de-DE" sz="1400" dirty="0">
              <a:latin typeface="Helvetica" pitchFamily="2" charset="0"/>
            </a:endParaRPr>
          </a:p>
          <a:p>
            <a:pPr lvl="0">
              <a:spcAft>
                <a:spcPts val="500"/>
              </a:spcAft>
            </a:pPr>
            <a:r>
              <a:rPr lang="de-DE" sz="1400" b="1" dirty="0">
                <a:solidFill>
                  <a:prstClr val="black"/>
                </a:solidFill>
                <a:latin typeface="Helvetica" pitchFamily="2" charset="0"/>
              </a:rPr>
              <a:t>Modulare Integration Daten:  </a:t>
            </a:r>
          </a:p>
          <a:p>
            <a:pPr marL="285750" indent="-285750">
              <a:buFont typeface="Symbol" pitchFamily="2" charset="2"/>
              <a:buChar char="-"/>
            </a:pPr>
            <a:r>
              <a:rPr lang="de-CH" sz="1400" b="1" dirty="0">
                <a:solidFill>
                  <a:srgbClr val="000000"/>
                </a:solidFill>
                <a:latin typeface="Helvetica" pitchFamily="2" charset="0"/>
              </a:rPr>
              <a:t>Separate</a:t>
            </a:r>
            <a:r>
              <a:rPr lang="de-CH" sz="1400" dirty="0">
                <a:solidFill>
                  <a:srgbClr val="000000"/>
                </a:solidFill>
                <a:latin typeface="Helvetica" pitchFamily="2" charset="0"/>
              </a:rPr>
              <a:t> </a:t>
            </a:r>
            <a:r>
              <a:rPr lang="de-CH" sz="1400" b="1" dirty="0">
                <a:solidFill>
                  <a:srgbClr val="000000"/>
                </a:solidFill>
                <a:latin typeface="Helvetica" pitchFamily="2" charset="0"/>
              </a:rPr>
              <a:t>Pipelines (Flows) </a:t>
            </a:r>
            <a:r>
              <a:rPr lang="de-CH" sz="1400" dirty="0">
                <a:solidFill>
                  <a:srgbClr val="000000"/>
                </a:solidFill>
                <a:latin typeface="Helvetica" pitchFamily="2" charset="0"/>
              </a:rPr>
              <a:t>für Integration und Weiterverarbeitung separater </a:t>
            </a:r>
            <a:r>
              <a:rPr lang="de-CH" sz="1400" b="1" dirty="0">
                <a:solidFill>
                  <a:srgbClr val="000000"/>
                </a:solidFill>
                <a:latin typeface="Helvetica" pitchFamily="2" charset="0"/>
              </a:rPr>
              <a:t>Datenquellen</a:t>
            </a:r>
            <a:r>
              <a:rPr lang="de-CH" sz="1400" dirty="0">
                <a:solidFill>
                  <a:srgbClr val="000000"/>
                </a:solidFill>
                <a:latin typeface="Helvetica" pitchFamily="2" charset="0"/>
              </a:rPr>
              <a:t> </a:t>
            </a:r>
            <a:r>
              <a:rPr lang="de-DE" sz="1400" dirty="0">
                <a:solidFill>
                  <a:prstClr val="black"/>
                </a:solidFill>
                <a:latin typeface="Helvetica" pitchFamily="2" charset="0"/>
              </a:rPr>
              <a:t>für Modell </a:t>
            </a:r>
            <a:r>
              <a:rPr lang="de-DE" sz="1400" b="1" dirty="0">
                <a:solidFill>
                  <a:prstClr val="black"/>
                </a:solidFill>
                <a:latin typeface="Helvetica" pitchFamily="2" charset="0"/>
              </a:rPr>
              <a:t>Skalierung</a:t>
            </a:r>
            <a:r>
              <a:rPr lang="de-DE" sz="1400" dirty="0">
                <a:solidFill>
                  <a:prstClr val="black"/>
                </a:solidFill>
                <a:latin typeface="Helvetica" pitchFamily="2" charset="0"/>
              </a:rPr>
              <a:t> empfehlenswert</a:t>
            </a:r>
          </a:p>
          <a:p>
            <a:endParaRPr lang="de-DE" sz="1400" b="1" dirty="0">
              <a:solidFill>
                <a:prstClr val="black"/>
              </a:solidFill>
              <a:latin typeface="Helvetica" pitchFamily="2" charset="0"/>
            </a:endParaRPr>
          </a:p>
          <a:p>
            <a:pPr marL="285750" indent="-285750">
              <a:buFont typeface="Wingdings" pitchFamily="2" charset="2"/>
              <a:buChar char="§"/>
            </a:pPr>
            <a:r>
              <a:rPr lang="de-DE" sz="1400" dirty="0">
                <a:solidFill>
                  <a:prstClr val="black"/>
                </a:solidFill>
                <a:latin typeface="Helvetica" pitchFamily="2" charset="0"/>
              </a:rPr>
              <a:t>Mehr Flexibilität</a:t>
            </a:r>
          </a:p>
          <a:p>
            <a:pPr marL="285750" indent="-285750">
              <a:buFont typeface="Wingdings" pitchFamily="2" charset="2"/>
              <a:buChar char="§"/>
            </a:pPr>
            <a:r>
              <a:rPr lang="de-DE" sz="1400" dirty="0">
                <a:solidFill>
                  <a:prstClr val="black"/>
                </a:solidFill>
                <a:latin typeface="Helvetica" pitchFamily="2" charset="0"/>
              </a:rPr>
              <a:t>Individuelles Testing</a:t>
            </a:r>
            <a:endParaRPr lang="de-DE" sz="1400" dirty="0">
              <a:latin typeface="Helvetica" pitchFamily="2" charset="0"/>
            </a:endParaRPr>
          </a:p>
        </p:txBody>
      </p:sp>
      <p:sp>
        <p:nvSpPr>
          <p:cNvPr id="16" name="Textfeld 15">
            <a:extLst>
              <a:ext uri="{FF2B5EF4-FFF2-40B4-BE49-F238E27FC236}">
                <a16:creationId xmlns:a16="http://schemas.microsoft.com/office/drawing/2014/main" id="{E9DC2872-2F36-5045-9327-9C39653FEF96}"/>
              </a:ext>
            </a:extLst>
          </p:cNvPr>
          <p:cNvSpPr txBox="1"/>
          <p:nvPr/>
        </p:nvSpPr>
        <p:spPr>
          <a:xfrm>
            <a:off x="4246932" y="2586347"/>
            <a:ext cx="3338582" cy="3149580"/>
          </a:xfrm>
          <a:prstGeom prst="rect">
            <a:avLst/>
          </a:prstGeom>
          <a:noFill/>
        </p:spPr>
        <p:txBody>
          <a:bodyPr wrap="square" rtlCol="0">
            <a:spAutoFit/>
          </a:bodyPr>
          <a:lstStyle/>
          <a:p>
            <a:pPr>
              <a:spcAft>
                <a:spcPts val="500"/>
              </a:spcAft>
            </a:pPr>
            <a:r>
              <a:rPr lang="de-DE" sz="1400" b="1" dirty="0">
                <a:latin typeface="Helvetica" pitchFamily="2" charset="0"/>
              </a:rPr>
              <a:t>LLM-Vergleich:                           </a:t>
            </a:r>
            <a:endParaRPr lang="de-DE" sz="1400" b="1" dirty="0">
              <a:solidFill>
                <a:srgbClr val="000000"/>
              </a:solidFill>
              <a:latin typeface="Helvetica" pitchFamily="2" charset="0"/>
            </a:endParaRPr>
          </a:p>
          <a:p>
            <a:pPr marL="285750" indent="-285750">
              <a:buFont typeface="Symbol" pitchFamily="2" charset="2"/>
              <a:buChar char="-"/>
            </a:pPr>
            <a:r>
              <a:rPr lang="de-DE" sz="1400" b="1" dirty="0">
                <a:solidFill>
                  <a:srgbClr val="000000"/>
                </a:solidFill>
                <a:latin typeface="Helvetica" pitchFamily="2" charset="0"/>
              </a:rPr>
              <a:t>Gemini 3 Pro </a:t>
            </a:r>
            <a:r>
              <a:rPr lang="de-DE" sz="1400" dirty="0">
                <a:solidFill>
                  <a:srgbClr val="000000"/>
                </a:solidFill>
                <a:latin typeface="Helvetica" pitchFamily="2" charset="0"/>
              </a:rPr>
              <a:t>erwies sich als das leistungsstärkste </a:t>
            </a:r>
            <a:r>
              <a:rPr lang="de-DE" sz="1400" b="1" dirty="0">
                <a:solidFill>
                  <a:srgbClr val="000000"/>
                </a:solidFill>
                <a:latin typeface="Helvetica" pitchFamily="2" charset="0"/>
              </a:rPr>
              <a:t>LLM</a:t>
            </a:r>
          </a:p>
          <a:p>
            <a:pPr marL="285750" indent="-285750">
              <a:buFont typeface="Arial" panose="020B0604020202020204" pitchFamily="34" charset="0"/>
              <a:buChar char="•"/>
            </a:pPr>
            <a:endParaRPr lang="en-US" sz="1400" dirty="0">
              <a:latin typeface="Helvetica" pitchFamily="2" charset="0"/>
            </a:endParaRPr>
          </a:p>
          <a:p>
            <a:pPr>
              <a:spcAft>
                <a:spcPts val="500"/>
              </a:spcAft>
            </a:pPr>
            <a:r>
              <a:rPr lang="de-DE" sz="1400" b="1" dirty="0">
                <a:latin typeface="Helvetica" pitchFamily="2" charset="0"/>
              </a:rPr>
              <a:t>Lösungsansatz Segmentierung:            </a:t>
            </a:r>
            <a:endParaRPr lang="de-DE" sz="1400" b="1" dirty="0">
              <a:solidFill>
                <a:srgbClr val="000000"/>
              </a:solidFill>
              <a:latin typeface="Helvetica" pitchFamily="2" charset="0"/>
            </a:endParaRPr>
          </a:p>
          <a:p>
            <a:pPr marL="285750" indent="-285750">
              <a:buFont typeface="Symbol" pitchFamily="2" charset="2"/>
              <a:buChar char="-"/>
            </a:pPr>
            <a:r>
              <a:rPr lang="de-DE" sz="1400" b="1" dirty="0">
                <a:solidFill>
                  <a:srgbClr val="000000"/>
                </a:solidFill>
                <a:latin typeface="Helvetica" pitchFamily="2" charset="0"/>
              </a:rPr>
              <a:t>Segmentierung</a:t>
            </a:r>
            <a:r>
              <a:rPr lang="de-DE" sz="1400" dirty="0">
                <a:solidFill>
                  <a:srgbClr val="000000"/>
                </a:solidFill>
                <a:latin typeface="Helvetica" pitchFamily="2" charset="0"/>
              </a:rPr>
              <a:t> komplexer Grafischen Inhalten äusserst </a:t>
            </a:r>
            <a:r>
              <a:rPr lang="de-DE" sz="1400" b="1" dirty="0">
                <a:solidFill>
                  <a:srgbClr val="000000"/>
                </a:solidFill>
                <a:latin typeface="Helvetica" pitchFamily="2" charset="0"/>
              </a:rPr>
              <a:t>effektiver </a:t>
            </a:r>
            <a:r>
              <a:rPr lang="de-DE" sz="1400" dirty="0">
                <a:solidFill>
                  <a:srgbClr val="000000"/>
                </a:solidFill>
                <a:latin typeface="Helvetica" pitchFamily="2" charset="0"/>
              </a:rPr>
              <a:t>Lösungsansatz</a:t>
            </a:r>
          </a:p>
          <a:p>
            <a:pPr>
              <a:spcAft>
                <a:spcPts val="500"/>
              </a:spcAft>
            </a:pPr>
            <a:endParaRPr lang="de-DE" sz="1400" dirty="0">
              <a:solidFill>
                <a:srgbClr val="000000"/>
              </a:solidFill>
              <a:latin typeface="Helvetica" pitchFamily="2" charset="0"/>
            </a:endParaRPr>
          </a:p>
          <a:p>
            <a:pPr lvl="0">
              <a:spcAft>
                <a:spcPts val="500"/>
              </a:spcAft>
            </a:pPr>
            <a:r>
              <a:rPr lang="de-DE" sz="1400" b="1" dirty="0">
                <a:solidFill>
                  <a:prstClr val="black"/>
                </a:solidFill>
                <a:latin typeface="Helvetica" pitchFamily="2" charset="0"/>
              </a:rPr>
              <a:t>Leistungs- / Aufwandsabwägung: </a:t>
            </a:r>
          </a:p>
          <a:p>
            <a:pPr marL="285750" lvl="0" indent="-285750">
              <a:buFont typeface="Symbol" pitchFamily="2" charset="2"/>
              <a:buChar char="-"/>
            </a:pPr>
            <a:r>
              <a:rPr lang="de-DE" sz="1400" dirty="0">
                <a:solidFill>
                  <a:prstClr val="black"/>
                </a:solidFill>
                <a:latin typeface="Helvetica" pitchFamily="2" charset="0"/>
              </a:rPr>
              <a:t>Bessere Ergebnisse erfordern häufig </a:t>
            </a:r>
            <a:r>
              <a:rPr lang="de-DE" sz="1400" b="1" dirty="0">
                <a:solidFill>
                  <a:prstClr val="black"/>
                </a:solidFill>
                <a:latin typeface="Helvetica" pitchFamily="2" charset="0"/>
              </a:rPr>
              <a:t>zusätzlichen</a:t>
            </a:r>
            <a:r>
              <a:rPr lang="de-DE" sz="1400" dirty="0">
                <a:solidFill>
                  <a:prstClr val="black"/>
                </a:solidFill>
                <a:latin typeface="Helvetica" pitchFamily="2" charset="0"/>
              </a:rPr>
              <a:t> manuellen oder technischen Aufwand</a:t>
            </a:r>
            <a:endParaRPr lang="de-DE" sz="1200" dirty="0">
              <a:latin typeface="Helvetica" pitchFamily="2" charset="0"/>
            </a:endParaRPr>
          </a:p>
        </p:txBody>
      </p:sp>
      <p:sp>
        <p:nvSpPr>
          <p:cNvPr id="18" name="Textfeld 17">
            <a:extLst>
              <a:ext uri="{FF2B5EF4-FFF2-40B4-BE49-F238E27FC236}">
                <a16:creationId xmlns:a16="http://schemas.microsoft.com/office/drawing/2014/main" id="{7F8850AA-3A31-2F4D-8797-1C6B1F978C77}"/>
              </a:ext>
            </a:extLst>
          </p:cNvPr>
          <p:cNvSpPr txBox="1"/>
          <p:nvPr/>
        </p:nvSpPr>
        <p:spPr>
          <a:xfrm>
            <a:off x="7977291" y="2595805"/>
            <a:ext cx="3249407" cy="3236784"/>
          </a:xfrm>
          <a:prstGeom prst="rect">
            <a:avLst/>
          </a:prstGeom>
          <a:noFill/>
        </p:spPr>
        <p:txBody>
          <a:bodyPr wrap="square" rtlCol="0">
            <a:spAutoFit/>
          </a:bodyPr>
          <a:lstStyle/>
          <a:p>
            <a:pPr>
              <a:spcAft>
                <a:spcPts val="500"/>
              </a:spcAft>
            </a:pPr>
            <a:r>
              <a:rPr lang="de-DE" sz="1400" b="1" dirty="0">
                <a:latin typeface="Helvetica" pitchFamily="2" charset="0"/>
              </a:rPr>
              <a:t>Quantitative Evaluation:  </a:t>
            </a:r>
          </a:p>
          <a:p>
            <a:pPr marL="285750" indent="-285750">
              <a:buFont typeface="Symbol" pitchFamily="2" charset="2"/>
              <a:buChar char="-"/>
            </a:pPr>
            <a:r>
              <a:rPr lang="de-DE" sz="1400" dirty="0">
                <a:latin typeface="Helvetica" pitchFamily="2" charset="0"/>
              </a:rPr>
              <a:t>Metriken für die </a:t>
            </a:r>
            <a:r>
              <a:rPr lang="de-DE" sz="1400" b="1" dirty="0">
                <a:latin typeface="Helvetica" pitchFamily="2" charset="0"/>
              </a:rPr>
              <a:t>Quantitativen Evaluation </a:t>
            </a:r>
            <a:r>
              <a:rPr lang="de-DE" sz="1400" dirty="0">
                <a:latin typeface="Helvetica" pitchFamily="2" charset="0"/>
              </a:rPr>
              <a:t>von Modelloutputs nur beschränkt geeignet</a:t>
            </a:r>
          </a:p>
          <a:p>
            <a:endParaRPr lang="de-DE" sz="1400" dirty="0">
              <a:latin typeface="Helvetica" pitchFamily="2" charset="0"/>
            </a:endParaRPr>
          </a:p>
          <a:p>
            <a:pPr marL="285750" indent="-285750">
              <a:buFont typeface="Symbol" pitchFamily="2" charset="2"/>
              <a:buChar char="-"/>
            </a:pPr>
            <a:r>
              <a:rPr lang="de-DE" sz="1400" dirty="0">
                <a:latin typeface="Helvetica" pitchFamily="2" charset="0"/>
              </a:rPr>
              <a:t>Metriken bewerten </a:t>
            </a:r>
            <a:r>
              <a:rPr lang="de-DE" sz="1400" b="1" dirty="0">
                <a:latin typeface="Helvetica" pitchFamily="2" charset="0"/>
              </a:rPr>
              <a:t>Textähnlichkeit</a:t>
            </a:r>
            <a:r>
              <a:rPr lang="de-DE" sz="1400" dirty="0">
                <a:latin typeface="Helvetica" pitchFamily="2" charset="0"/>
              </a:rPr>
              <a:t>, nicht </a:t>
            </a:r>
            <a:r>
              <a:rPr lang="de-DE" sz="1400" b="1" dirty="0">
                <a:latin typeface="Helvetica" pitchFamily="2" charset="0"/>
              </a:rPr>
              <a:t>faktische Korrektheit</a:t>
            </a:r>
          </a:p>
          <a:p>
            <a:endParaRPr lang="de-DE" sz="1400" b="1" dirty="0">
              <a:latin typeface="Helvetica" pitchFamily="2" charset="0"/>
            </a:endParaRPr>
          </a:p>
          <a:p>
            <a:pPr>
              <a:spcAft>
                <a:spcPts val="500"/>
              </a:spcAft>
            </a:pPr>
            <a:r>
              <a:rPr lang="de-DE" sz="1400" b="1" dirty="0">
                <a:latin typeface="Helvetica" pitchFamily="2" charset="0"/>
              </a:rPr>
              <a:t>Qualitative Evaluation</a:t>
            </a:r>
          </a:p>
          <a:p>
            <a:pPr marL="285750" indent="-285750">
              <a:buFont typeface="Symbol" pitchFamily="2" charset="2"/>
              <a:buChar char="-"/>
            </a:pPr>
            <a:r>
              <a:rPr lang="de-CH" sz="1400" dirty="0">
                <a:solidFill>
                  <a:srgbClr val="000000"/>
                </a:solidFill>
                <a:latin typeface="Helvetica" pitchFamily="2" charset="0"/>
              </a:rPr>
              <a:t>Strukturierte </a:t>
            </a:r>
            <a:r>
              <a:rPr lang="de-CH" sz="1400" b="1" dirty="0">
                <a:solidFill>
                  <a:srgbClr val="000000"/>
                </a:solidFill>
                <a:latin typeface="Helvetica" pitchFamily="2" charset="0"/>
              </a:rPr>
              <a:t>qualitative Evaluationen (Fragebogen) </a:t>
            </a:r>
            <a:r>
              <a:rPr lang="de-CH" sz="1400" dirty="0">
                <a:solidFill>
                  <a:srgbClr val="000000"/>
                </a:solidFill>
                <a:latin typeface="Helvetica" pitchFamily="2" charset="0"/>
              </a:rPr>
              <a:t>liefern wertvolle Hinweise für Modelloptimierungen</a:t>
            </a:r>
            <a:endParaRPr lang="de-DE" sz="1400" dirty="0">
              <a:latin typeface="Helvetica" pitchFamily="2" charset="0"/>
            </a:endParaRPr>
          </a:p>
        </p:txBody>
      </p:sp>
      <p:sp>
        <p:nvSpPr>
          <p:cNvPr id="17" name="Textfeld 16">
            <a:extLst>
              <a:ext uri="{FF2B5EF4-FFF2-40B4-BE49-F238E27FC236}">
                <a16:creationId xmlns:a16="http://schemas.microsoft.com/office/drawing/2014/main" id="{E3FB6F0A-C9D8-9946-A19C-FD891FA60801}"/>
              </a:ext>
            </a:extLst>
          </p:cNvPr>
          <p:cNvSpPr txBox="1"/>
          <p:nvPr/>
        </p:nvSpPr>
        <p:spPr>
          <a:xfrm>
            <a:off x="7325269" y="5597629"/>
            <a:ext cx="297813" cy="400110"/>
          </a:xfrm>
          <a:prstGeom prst="rect">
            <a:avLst/>
          </a:prstGeom>
          <a:noFill/>
        </p:spPr>
        <p:txBody>
          <a:bodyPr wrap="square" rtlCol="0">
            <a:spAutoFit/>
          </a:bodyPr>
          <a:lstStyle/>
          <a:p>
            <a:r>
              <a:rPr lang="en-GB" sz="2000" b="1" dirty="0">
                <a:solidFill>
                  <a:srgbClr val="009997"/>
                </a:solidFill>
                <a:latin typeface="Helvetica" pitchFamily="2" charset="0"/>
              </a:rPr>
              <a:t>2</a:t>
            </a:r>
          </a:p>
        </p:txBody>
      </p:sp>
      <p:sp>
        <p:nvSpPr>
          <p:cNvPr id="19" name="Textfeld 18">
            <a:extLst>
              <a:ext uri="{FF2B5EF4-FFF2-40B4-BE49-F238E27FC236}">
                <a16:creationId xmlns:a16="http://schemas.microsoft.com/office/drawing/2014/main" id="{65A12728-5539-344F-8B7A-DFB7B32B4F47}"/>
              </a:ext>
            </a:extLst>
          </p:cNvPr>
          <p:cNvSpPr txBox="1"/>
          <p:nvPr/>
        </p:nvSpPr>
        <p:spPr>
          <a:xfrm>
            <a:off x="3598383" y="5604881"/>
            <a:ext cx="297813" cy="400110"/>
          </a:xfrm>
          <a:prstGeom prst="rect">
            <a:avLst/>
          </a:prstGeom>
          <a:noFill/>
        </p:spPr>
        <p:txBody>
          <a:bodyPr wrap="square" rtlCol="0">
            <a:spAutoFit/>
          </a:bodyPr>
          <a:lstStyle/>
          <a:p>
            <a:r>
              <a:rPr lang="en-GB" sz="2000" b="1" dirty="0">
                <a:solidFill>
                  <a:srgbClr val="009997"/>
                </a:solidFill>
                <a:latin typeface="Helvetica" pitchFamily="2" charset="0"/>
              </a:rPr>
              <a:t>1</a:t>
            </a:r>
          </a:p>
        </p:txBody>
      </p:sp>
      <p:sp>
        <p:nvSpPr>
          <p:cNvPr id="20" name="Textfeld 19">
            <a:extLst>
              <a:ext uri="{FF2B5EF4-FFF2-40B4-BE49-F238E27FC236}">
                <a16:creationId xmlns:a16="http://schemas.microsoft.com/office/drawing/2014/main" id="{12E5C4AA-F8F7-BA4C-B0D9-6BFD7B38662F}"/>
              </a:ext>
            </a:extLst>
          </p:cNvPr>
          <p:cNvSpPr txBox="1"/>
          <p:nvPr/>
        </p:nvSpPr>
        <p:spPr>
          <a:xfrm>
            <a:off x="11134237" y="5591370"/>
            <a:ext cx="297813" cy="400110"/>
          </a:xfrm>
          <a:prstGeom prst="rect">
            <a:avLst/>
          </a:prstGeom>
          <a:noFill/>
        </p:spPr>
        <p:txBody>
          <a:bodyPr wrap="square" rtlCol="0">
            <a:spAutoFit/>
          </a:bodyPr>
          <a:lstStyle/>
          <a:p>
            <a:r>
              <a:rPr lang="en-GB" sz="2000" b="1" dirty="0">
                <a:solidFill>
                  <a:srgbClr val="009997"/>
                </a:solidFill>
                <a:latin typeface="Helvetica" pitchFamily="2" charset="0"/>
              </a:rPr>
              <a:t>3</a:t>
            </a:r>
          </a:p>
        </p:txBody>
      </p:sp>
    </p:spTree>
    <p:extLst>
      <p:ext uri="{BB962C8B-B14F-4D97-AF65-F5344CB8AC3E}">
        <p14:creationId xmlns:p14="http://schemas.microsoft.com/office/powerpoint/2010/main" val="189736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6" grpId="0"/>
      <p:bldP spid="18" grpId="0"/>
      <p:bldP spid="17" grpId="0"/>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877B"/>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6DCB1E-DAA1-9646-A44C-D42250D5EE09}"/>
              </a:ext>
            </a:extLst>
          </p:cNvPr>
          <p:cNvSpPr>
            <a:spLocks noGrp="1"/>
          </p:cNvSpPr>
          <p:nvPr>
            <p:ph type="title"/>
          </p:nvPr>
        </p:nvSpPr>
        <p:spPr>
          <a:xfrm>
            <a:off x="838200" y="2318249"/>
            <a:ext cx="10515600" cy="1325563"/>
          </a:xfrm>
        </p:spPr>
        <p:txBody>
          <a:bodyPr/>
          <a:lstStyle/>
          <a:p>
            <a:r>
              <a:rPr lang="de-DE" b="1" dirty="0">
                <a:solidFill>
                  <a:schemeClr val="bg1"/>
                </a:solidFill>
                <a:latin typeface="Helvetica" pitchFamily="2" charset="0"/>
              </a:rPr>
              <a:t>Forschungsfrage </a:t>
            </a:r>
            <a:r>
              <a:rPr lang="en-GB" b="1" dirty="0">
                <a:solidFill>
                  <a:schemeClr val="bg1"/>
                </a:solidFill>
                <a:latin typeface="Helvetica" pitchFamily="2" charset="0"/>
              </a:rPr>
              <a:t>2</a:t>
            </a:r>
          </a:p>
        </p:txBody>
      </p:sp>
      <p:pic>
        <p:nvPicPr>
          <p:cNvPr id="4" name="Grafik 3">
            <a:extLst>
              <a:ext uri="{FF2B5EF4-FFF2-40B4-BE49-F238E27FC236}">
                <a16:creationId xmlns:a16="http://schemas.microsoft.com/office/drawing/2014/main" id="{CFC31579-BBA7-5248-B57E-8FC2B4BCDE13}"/>
              </a:ext>
            </a:extLst>
          </p:cNvPr>
          <p:cNvPicPr>
            <a:picLocks noChangeAspect="1"/>
          </p:cNvPicPr>
          <p:nvPr/>
        </p:nvPicPr>
        <p:blipFill>
          <a:blip r:embed="rId2"/>
          <a:stretch>
            <a:fillRect/>
          </a:stretch>
        </p:blipFill>
        <p:spPr>
          <a:xfrm>
            <a:off x="8814829" y="578600"/>
            <a:ext cx="2425148" cy="943383"/>
          </a:xfrm>
          <a:prstGeom prst="rect">
            <a:avLst/>
          </a:prstGeom>
        </p:spPr>
      </p:pic>
    </p:spTree>
    <p:extLst>
      <p:ext uri="{BB962C8B-B14F-4D97-AF65-F5344CB8AC3E}">
        <p14:creationId xmlns:p14="http://schemas.microsoft.com/office/powerpoint/2010/main" val="1915000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820AF718-F7F9-9848-AE42-D2AE0BBF06D6}"/>
              </a:ext>
            </a:extLst>
          </p:cNvPr>
          <p:cNvSpPr/>
          <p:nvPr/>
        </p:nvSpPr>
        <p:spPr>
          <a:xfrm>
            <a:off x="7969707" y="1876357"/>
            <a:ext cx="3647330"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6" name="Foliennummernplatzhalter 5">
            <a:extLst>
              <a:ext uri="{FF2B5EF4-FFF2-40B4-BE49-F238E27FC236}">
                <a16:creationId xmlns:a16="http://schemas.microsoft.com/office/drawing/2014/main" id="{13D5178D-04E1-B84E-8689-0F060F51D77D}"/>
              </a:ext>
            </a:extLst>
          </p:cNvPr>
          <p:cNvSpPr>
            <a:spLocks noGrp="1"/>
          </p:cNvSpPr>
          <p:nvPr>
            <p:ph type="sldNum" sz="quarter" idx="12"/>
          </p:nvPr>
        </p:nvSpPr>
        <p:spPr/>
        <p:txBody>
          <a:bodyPr/>
          <a:lstStyle/>
          <a:p>
            <a:fld id="{5CC06646-EDF2-2341-B148-FF1B4C173C76}" type="slidenum">
              <a:rPr lang="en-GB" sz="1400" smtClean="0">
                <a:solidFill>
                  <a:schemeClr val="tx1"/>
                </a:solidFill>
                <a:latin typeface="Helvetica" pitchFamily="2" charset="0"/>
              </a:rPr>
              <a:t>17</a:t>
            </a:fld>
            <a:endParaRPr lang="en-GB" dirty="0">
              <a:solidFill>
                <a:schemeClr val="tx1"/>
              </a:solidFill>
              <a:latin typeface="Helvetica" pitchFamily="2" charset="0"/>
            </a:endParaRPr>
          </a:p>
        </p:txBody>
      </p:sp>
      <p:sp>
        <p:nvSpPr>
          <p:cNvPr id="7" name="Rechteck 6">
            <a:extLst>
              <a:ext uri="{FF2B5EF4-FFF2-40B4-BE49-F238E27FC236}">
                <a16:creationId xmlns:a16="http://schemas.microsoft.com/office/drawing/2014/main" id="{B836736C-0E91-7B49-9CB1-5987C0D9462C}"/>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8" name="Titel 1">
            <a:extLst>
              <a:ext uri="{FF2B5EF4-FFF2-40B4-BE49-F238E27FC236}">
                <a16:creationId xmlns:a16="http://schemas.microsoft.com/office/drawing/2014/main" id="{6C826AA2-0585-1E43-826C-0E81FC803834}"/>
              </a:ext>
            </a:extLst>
          </p:cNvPr>
          <p:cNvSpPr txBox="1">
            <a:spLocks/>
          </p:cNvSpPr>
          <p:nvPr/>
        </p:nvSpPr>
        <p:spPr>
          <a:xfrm>
            <a:off x="574963" y="444610"/>
            <a:ext cx="10515600" cy="94312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700" dirty="0">
                <a:latin typeface="Helvetica" pitchFamily="2" charset="0"/>
              </a:rPr>
              <a:t>Forschungsfrage 2</a:t>
            </a:r>
            <a:br>
              <a:rPr lang="de-DE" sz="2400" dirty="0">
                <a:latin typeface="Helvetica" pitchFamily="2" charset="0"/>
              </a:rPr>
            </a:br>
            <a:r>
              <a:rPr lang="de-DE" sz="2200" dirty="0">
                <a:latin typeface="Helvetica Light" panose="020B0403020202020204" pitchFamily="34" charset="0"/>
              </a:rPr>
              <a:t>Analyse Forschungsfrage</a:t>
            </a:r>
            <a:br>
              <a:rPr lang="de-DE" sz="2400" dirty="0">
                <a:latin typeface="Helvetica" pitchFamily="2" charset="0"/>
              </a:rPr>
            </a:br>
            <a:endParaRPr lang="de-DE" sz="2400" dirty="0">
              <a:latin typeface="Helvetica" pitchFamily="2" charset="0"/>
            </a:endParaRPr>
          </a:p>
        </p:txBody>
      </p:sp>
      <p:sp>
        <p:nvSpPr>
          <p:cNvPr id="11" name="Rechteck 10">
            <a:extLst>
              <a:ext uri="{FF2B5EF4-FFF2-40B4-BE49-F238E27FC236}">
                <a16:creationId xmlns:a16="http://schemas.microsoft.com/office/drawing/2014/main" id="{40730889-0A5B-CF43-B4A8-A6BABCCE66FE}"/>
              </a:ext>
            </a:extLst>
          </p:cNvPr>
          <p:cNvSpPr/>
          <p:nvPr/>
        </p:nvSpPr>
        <p:spPr>
          <a:xfrm>
            <a:off x="663418" y="2124023"/>
            <a:ext cx="2398281"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12" name="Rechteck 11">
            <a:extLst>
              <a:ext uri="{FF2B5EF4-FFF2-40B4-BE49-F238E27FC236}">
                <a16:creationId xmlns:a16="http://schemas.microsoft.com/office/drawing/2014/main" id="{3B154B09-20EF-6640-A55C-3DC71988EA65}"/>
              </a:ext>
            </a:extLst>
          </p:cNvPr>
          <p:cNvSpPr/>
          <p:nvPr/>
        </p:nvSpPr>
        <p:spPr>
          <a:xfrm>
            <a:off x="3457989" y="2124023"/>
            <a:ext cx="8159048"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13" name="Rechteck 12">
            <a:extLst>
              <a:ext uri="{FF2B5EF4-FFF2-40B4-BE49-F238E27FC236}">
                <a16:creationId xmlns:a16="http://schemas.microsoft.com/office/drawing/2014/main" id="{00C49480-768F-104E-980F-7F7CA835A306}"/>
              </a:ext>
            </a:extLst>
          </p:cNvPr>
          <p:cNvSpPr/>
          <p:nvPr/>
        </p:nvSpPr>
        <p:spPr>
          <a:xfrm>
            <a:off x="9458097" y="2423273"/>
            <a:ext cx="2158940"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14" name="Rechteck 13">
            <a:extLst>
              <a:ext uri="{FF2B5EF4-FFF2-40B4-BE49-F238E27FC236}">
                <a16:creationId xmlns:a16="http://schemas.microsoft.com/office/drawing/2014/main" id="{9DF474C7-5A69-BD43-8581-9CF25F18A9F3}"/>
              </a:ext>
            </a:extLst>
          </p:cNvPr>
          <p:cNvSpPr/>
          <p:nvPr/>
        </p:nvSpPr>
        <p:spPr>
          <a:xfrm>
            <a:off x="663418" y="2716675"/>
            <a:ext cx="6298491" cy="322030"/>
          </a:xfrm>
          <a:prstGeom prst="rect">
            <a:avLst/>
          </a:prstGeom>
          <a:solidFill>
            <a:srgbClr val="FFFF00"/>
          </a:solidFill>
          <a:ln w="952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GB"/>
          </a:p>
        </p:txBody>
      </p:sp>
      <p:sp>
        <p:nvSpPr>
          <p:cNvPr id="3" name="Inhaltsplatzhalter 2">
            <a:extLst>
              <a:ext uri="{FF2B5EF4-FFF2-40B4-BE49-F238E27FC236}">
                <a16:creationId xmlns:a16="http://schemas.microsoft.com/office/drawing/2014/main" id="{17C49656-AD4E-4540-8F6D-F2D98A844059}"/>
              </a:ext>
            </a:extLst>
          </p:cNvPr>
          <p:cNvSpPr>
            <a:spLocks noGrp="1"/>
          </p:cNvSpPr>
          <p:nvPr>
            <p:ph idx="1"/>
          </p:nvPr>
        </p:nvSpPr>
        <p:spPr>
          <a:xfrm>
            <a:off x="574963" y="1853401"/>
            <a:ext cx="11042074" cy="3731146"/>
          </a:xfrm>
        </p:spPr>
        <p:txBody>
          <a:bodyPr>
            <a:normAutofit/>
          </a:bodyPr>
          <a:lstStyle/>
          <a:p>
            <a:pPr marL="0" indent="0" algn="just">
              <a:buNone/>
            </a:pPr>
            <a:r>
              <a:rPr lang="en-US" sz="2000" dirty="0">
                <a:latin typeface="Helvetica Light" panose="020B0403020202020204" pitchFamily="34" charset="0"/>
              </a:rPr>
              <a:t>How can GenAI-based automation tools be developed within a development and collaboration platform like Dataiku to scale up by integrating diverse structured supply chain data streams and subsequently unify them via Python-based processing scripts, while applying prompt-engineered SQL generation to enable efficient retrieval and analysis of structured supply chain data? </a:t>
            </a:r>
          </a:p>
          <a:p>
            <a:pPr marL="0" indent="0" algn="just">
              <a:buNone/>
            </a:pPr>
            <a:endParaRPr lang="en-US" sz="2000" dirty="0">
              <a:latin typeface="Helvetica" pitchFamily="2" charset="0"/>
            </a:endParaRPr>
          </a:p>
          <a:p>
            <a:pPr algn="just"/>
            <a:r>
              <a:rPr lang="de-DE" sz="2000" dirty="0">
                <a:latin typeface="Helvetica" pitchFamily="2" charset="0"/>
              </a:rPr>
              <a:t>Nutzung einer kollaborativen Entwicklungsplattform wie „Dataiku“ (1)</a:t>
            </a:r>
          </a:p>
          <a:p>
            <a:pPr algn="just"/>
            <a:r>
              <a:rPr lang="de-DE" sz="2000" dirty="0">
                <a:latin typeface="Helvetica" pitchFamily="2" charset="0"/>
              </a:rPr>
              <a:t>Skalierung und Integration strukturierter Supply Chain Daten (2)</a:t>
            </a:r>
          </a:p>
          <a:p>
            <a:r>
              <a:rPr lang="de-DE" sz="2000" dirty="0">
                <a:latin typeface="Helvetica" pitchFamily="2" charset="0"/>
              </a:rPr>
              <a:t>Anwendung angepasster Prompts zur Generierung von SQL-Abfragen (Structured Query Language) für eine effizientere Datenintegration (3)</a:t>
            </a:r>
            <a:endParaRPr lang="de-DE" sz="2400" dirty="0">
              <a:latin typeface="Helvetica" pitchFamily="2" charset="0"/>
            </a:endParaRPr>
          </a:p>
        </p:txBody>
      </p:sp>
    </p:spTree>
    <p:extLst>
      <p:ext uri="{BB962C8B-B14F-4D97-AF65-F5344CB8AC3E}">
        <p14:creationId xmlns:p14="http://schemas.microsoft.com/office/powerpoint/2010/main" val="985462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6EE4FFDF-DAF7-EA41-97A7-2FF6A3D5074F}"/>
              </a:ext>
            </a:extLst>
          </p:cNvPr>
          <p:cNvSpPr>
            <a:spLocks noGrp="1"/>
          </p:cNvSpPr>
          <p:nvPr>
            <p:ph type="sldNum" sz="quarter" idx="12"/>
          </p:nvPr>
        </p:nvSpPr>
        <p:spPr/>
        <p:txBody>
          <a:bodyPr/>
          <a:lstStyle/>
          <a:p>
            <a:fld id="{5CC06646-EDF2-2341-B148-FF1B4C173C76}" type="slidenum">
              <a:rPr lang="en-GB" sz="1400" smtClean="0">
                <a:latin typeface="Helvetica" pitchFamily="2" charset="0"/>
              </a:rPr>
              <a:t>18</a:t>
            </a:fld>
            <a:endParaRPr lang="en-GB" dirty="0">
              <a:latin typeface="Helvetica" pitchFamily="2" charset="0"/>
            </a:endParaRPr>
          </a:p>
        </p:txBody>
      </p:sp>
      <p:sp>
        <p:nvSpPr>
          <p:cNvPr id="5" name="Rechteck 4">
            <a:extLst>
              <a:ext uri="{FF2B5EF4-FFF2-40B4-BE49-F238E27FC236}">
                <a16:creationId xmlns:a16="http://schemas.microsoft.com/office/drawing/2014/main" id="{AC60A905-FB39-C04F-AC04-2C6A7EEC7180}"/>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7" name="Titel 1">
            <a:extLst>
              <a:ext uri="{FF2B5EF4-FFF2-40B4-BE49-F238E27FC236}">
                <a16:creationId xmlns:a16="http://schemas.microsoft.com/office/drawing/2014/main" id="{651EB7A1-6D87-704E-A13B-2A014FAECB4D}"/>
              </a:ext>
            </a:extLst>
          </p:cNvPr>
          <p:cNvSpPr txBox="1">
            <a:spLocks/>
          </p:cNvSpPr>
          <p:nvPr/>
        </p:nvSpPr>
        <p:spPr>
          <a:xfrm>
            <a:off x="574963" y="444610"/>
            <a:ext cx="10515600" cy="94312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700" dirty="0">
                <a:latin typeface="Helvetica" pitchFamily="2" charset="0"/>
              </a:rPr>
              <a:t>Forschungsfrage 2</a:t>
            </a:r>
            <a:br>
              <a:rPr lang="de-DE" sz="2400" dirty="0">
                <a:latin typeface="Helvetica" pitchFamily="2" charset="0"/>
              </a:rPr>
            </a:br>
            <a:r>
              <a:rPr lang="de-DE" sz="2200" dirty="0">
                <a:latin typeface="Helvetica Light" panose="020B0403020202020204" pitchFamily="34" charset="0"/>
              </a:rPr>
              <a:t>Zusammenfassung</a:t>
            </a:r>
            <a:r>
              <a:rPr lang="de-DE" sz="2400" dirty="0">
                <a:latin typeface="Helvetica" pitchFamily="2" charset="0"/>
              </a:rPr>
              <a:t> </a:t>
            </a:r>
            <a:r>
              <a:rPr lang="de-DE" sz="2200" dirty="0">
                <a:latin typeface="Helvetica Light" panose="020B0403020202020204" pitchFamily="34" charset="0"/>
              </a:rPr>
              <a:t>Resultate</a:t>
            </a:r>
            <a:br>
              <a:rPr lang="de-DE" sz="2400" dirty="0">
                <a:latin typeface="Helvetica" pitchFamily="2" charset="0"/>
              </a:rPr>
            </a:br>
            <a:endParaRPr lang="de-DE" sz="2400" dirty="0">
              <a:latin typeface="Helvetica" pitchFamily="2" charset="0"/>
            </a:endParaRPr>
          </a:p>
        </p:txBody>
      </p:sp>
      <p:sp>
        <p:nvSpPr>
          <p:cNvPr id="9" name="Rechteck 8">
            <a:extLst>
              <a:ext uri="{FF2B5EF4-FFF2-40B4-BE49-F238E27FC236}">
                <a16:creationId xmlns:a16="http://schemas.microsoft.com/office/drawing/2014/main" id="{84B5BB95-4564-8D44-87EE-82E417A006E0}"/>
              </a:ext>
            </a:extLst>
          </p:cNvPr>
          <p:cNvSpPr/>
          <p:nvPr/>
        </p:nvSpPr>
        <p:spPr>
          <a:xfrm>
            <a:off x="574964" y="1501496"/>
            <a:ext cx="3336638" cy="701124"/>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Kollaborative Entwicklungsumgebung</a:t>
            </a:r>
          </a:p>
        </p:txBody>
      </p:sp>
      <p:sp>
        <p:nvSpPr>
          <p:cNvPr id="10" name="Rechteck 9">
            <a:extLst>
              <a:ext uri="{FF2B5EF4-FFF2-40B4-BE49-F238E27FC236}">
                <a16:creationId xmlns:a16="http://schemas.microsoft.com/office/drawing/2014/main" id="{7DB19C4D-A0B1-1E45-B8A2-B85E25FA8F4A}"/>
              </a:ext>
            </a:extLst>
          </p:cNvPr>
          <p:cNvSpPr/>
          <p:nvPr/>
        </p:nvSpPr>
        <p:spPr>
          <a:xfrm>
            <a:off x="574963" y="2412572"/>
            <a:ext cx="3336638" cy="3720669"/>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1" name="Rechteck 10">
            <a:extLst>
              <a:ext uri="{FF2B5EF4-FFF2-40B4-BE49-F238E27FC236}">
                <a16:creationId xmlns:a16="http://schemas.microsoft.com/office/drawing/2014/main" id="{56CA193E-6D12-5841-BF14-DB612565C7B8}"/>
              </a:ext>
            </a:extLst>
          </p:cNvPr>
          <p:cNvSpPr/>
          <p:nvPr/>
        </p:nvSpPr>
        <p:spPr>
          <a:xfrm>
            <a:off x="4127501" y="2412572"/>
            <a:ext cx="3514439" cy="3720669"/>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2" name="Rechteck 11">
            <a:extLst>
              <a:ext uri="{FF2B5EF4-FFF2-40B4-BE49-F238E27FC236}">
                <a16:creationId xmlns:a16="http://schemas.microsoft.com/office/drawing/2014/main" id="{4C0F2DEF-FD66-E749-9CD3-BB9168C6D3C1}"/>
              </a:ext>
            </a:extLst>
          </p:cNvPr>
          <p:cNvSpPr/>
          <p:nvPr/>
        </p:nvSpPr>
        <p:spPr>
          <a:xfrm>
            <a:off x="7857840" y="2426062"/>
            <a:ext cx="3584860" cy="3720669"/>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3" name="Rechteck 12">
            <a:extLst>
              <a:ext uri="{FF2B5EF4-FFF2-40B4-BE49-F238E27FC236}">
                <a16:creationId xmlns:a16="http://schemas.microsoft.com/office/drawing/2014/main" id="{A8CEC832-2D0F-FA44-8512-1B36C016D80D}"/>
              </a:ext>
            </a:extLst>
          </p:cNvPr>
          <p:cNvSpPr/>
          <p:nvPr/>
        </p:nvSpPr>
        <p:spPr>
          <a:xfrm>
            <a:off x="4127500" y="1501496"/>
            <a:ext cx="3514439" cy="701124"/>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Skalierbare Integration strukturierter Daten</a:t>
            </a:r>
          </a:p>
        </p:txBody>
      </p:sp>
      <p:sp>
        <p:nvSpPr>
          <p:cNvPr id="14" name="Rechteck 13">
            <a:extLst>
              <a:ext uri="{FF2B5EF4-FFF2-40B4-BE49-F238E27FC236}">
                <a16:creationId xmlns:a16="http://schemas.microsoft.com/office/drawing/2014/main" id="{21E0A078-71D5-394F-AFC0-0B87F1F8A66E}"/>
              </a:ext>
            </a:extLst>
          </p:cNvPr>
          <p:cNvSpPr/>
          <p:nvPr/>
        </p:nvSpPr>
        <p:spPr>
          <a:xfrm>
            <a:off x="7888505" y="1501495"/>
            <a:ext cx="3584860" cy="711241"/>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Prompt-basierte SQL-Abfragen</a:t>
            </a:r>
          </a:p>
        </p:txBody>
      </p:sp>
      <p:sp>
        <p:nvSpPr>
          <p:cNvPr id="15" name="Textfeld 14">
            <a:extLst>
              <a:ext uri="{FF2B5EF4-FFF2-40B4-BE49-F238E27FC236}">
                <a16:creationId xmlns:a16="http://schemas.microsoft.com/office/drawing/2014/main" id="{9367B6FA-3B18-CD47-8EEC-271F487CE654}"/>
              </a:ext>
            </a:extLst>
          </p:cNvPr>
          <p:cNvSpPr txBox="1"/>
          <p:nvPr/>
        </p:nvSpPr>
        <p:spPr>
          <a:xfrm>
            <a:off x="719679" y="2605861"/>
            <a:ext cx="3017968" cy="2893100"/>
          </a:xfrm>
          <a:prstGeom prst="rect">
            <a:avLst/>
          </a:prstGeom>
          <a:noFill/>
        </p:spPr>
        <p:txBody>
          <a:bodyPr wrap="square" rtlCol="0">
            <a:spAutoFit/>
          </a:bodyPr>
          <a:lstStyle/>
          <a:p>
            <a:pPr marL="285750" indent="-285750">
              <a:buFont typeface="Symbol" pitchFamily="2" charset="2"/>
              <a:buChar char="-"/>
            </a:pPr>
            <a:r>
              <a:rPr lang="de-CH" sz="1400" b="1" dirty="0">
                <a:solidFill>
                  <a:srgbClr val="000000"/>
                </a:solidFill>
                <a:latin typeface="Helvetica" pitchFamily="2" charset="0"/>
              </a:rPr>
              <a:t>Dataiku </a:t>
            </a:r>
            <a:r>
              <a:rPr lang="de-CH" sz="1400" dirty="0">
                <a:solidFill>
                  <a:srgbClr val="000000"/>
                </a:solidFill>
                <a:latin typeface="Helvetica" pitchFamily="2" charset="0"/>
              </a:rPr>
              <a:t>ermöglicht </a:t>
            </a:r>
            <a:r>
              <a:rPr lang="de-CH" sz="1400" b="1" dirty="0">
                <a:solidFill>
                  <a:srgbClr val="000000"/>
                </a:solidFill>
                <a:latin typeface="Helvetica" pitchFamily="2" charset="0"/>
              </a:rPr>
              <a:t>kollaborative</a:t>
            </a:r>
            <a:r>
              <a:rPr lang="de-CH" sz="1400" dirty="0">
                <a:solidFill>
                  <a:srgbClr val="000000"/>
                </a:solidFill>
                <a:latin typeface="Helvetica" pitchFamily="2" charset="0"/>
              </a:rPr>
              <a:t> Entwicklung durch </a:t>
            </a:r>
            <a:r>
              <a:rPr lang="de-CH" sz="1400" b="1" dirty="0">
                <a:solidFill>
                  <a:srgbClr val="000000"/>
                </a:solidFill>
                <a:latin typeface="Helvetica" pitchFamily="2" charset="0"/>
              </a:rPr>
              <a:t>gemeinsame Workflows </a:t>
            </a:r>
            <a:r>
              <a:rPr lang="de-CH" sz="1400" dirty="0">
                <a:solidFill>
                  <a:srgbClr val="000000"/>
                </a:solidFill>
                <a:latin typeface="Helvetica" pitchFamily="2" charset="0"/>
              </a:rPr>
              <a:t>und eine </a:t>
            </a:r>
            <a:r>
              <a:rPr lang="de-CH" sz="1400" b="1" dirty="0">
                <a:solidFill>
                  <a:srgbClr val="000000"/>
                </a:solidFill>
                <a:latin typeface="Helvetica" pitchFamily="2" charset="0"/>
              </a:rPr>
              <a:t>zentrale</a:t>
            </a:r>
            <a:r>
              <a:rPr lang="de-CH" sz="1400" dirty="0">
                <a:solidFill>
                  <a:srgbClr val="000000"/>
                </a:solidFill>
                <a:latin typeface="Helvetica" pitchFamily="2" charset="0"/>
              </a:rPr>
              <a:t> </a:t>
            </a:r>
            <a:r>
              <a:rPr lang="de-CH" sz="1400" b="1" dirty="0">
                <a:solidFill>
                  <a:srgbClr val="000000"/>
                </a:solidFill>
                <a:latin typeface="Helvetica" pitchFamily="2" charset="0"/>
              </a:rPr>
              <a:t>Plattform</a:t>
            </a:r>
          </a:p>
          <a:p>
            <a:pPr marL="285750" indent="-285750">
              <a:buFont typeface="Symbol" pitchFamily="2" charset="2"/>
              <a:buChar char="-"/>
            </a:pPr>
            <a:endParaRPr lang="de-CH" sz="1400" dirty="0">
              <a:latin typeface="Helvetica" pitchFamily="2" charset="0"/>
            </a:endParaRPr>
          </a:p>
          <a:p>
            <a:pPr marL="285750" indent="-285750">
              <a:buFont typeface="Wingdings" pitchFamily="2" charset="2"/>
              <a:buChar char="§"/>
            </a:pPr>
            <a:r>
              <a:rPr lang="de-CH" sz="1400" dirty="0">
                <a:latin typeface="Helvetica" pitchFamily="2" charset="0"/>
              </a:rPr>
              <a:t>Supply Chain Team</a:t>
            </a:r>
          </a:p>
          <a:p>
            <a:pPr marL="285750" indent="-285750">
              <a:buFont typeface="Wingdings" pitchFamily="2" charset="2"/>
              <a:buChar char="§"/>
            </a:pPr>
            <a:r>
              <a:rPr lang="de-CH" sz="1400" dirty="0">
                <a:latin typeface="Helvetica" pitchFamily="2" charset="0"/>
              </a:rPr>
              <a:t>Data Science Team</a:t>
            </a:r>
          </a:p>
          <a:p>
            <a:endParaRPr lang="de-CH" sz="1400" dirty="0">
              <a:latin typeface="Helvetica" pitchFamily="2" charset="0"/>
            </a:endParaRPr>
          </a:p>
          <a:p>
            <a:pPr marL="285750" indent="-285750">
              <a:buFont typeface="Symbol" pitchFamily="2" charset="2"/>
              <a:buChar char="-"/>
            </a:pPr>
            <a:r>
              <a:rPr lang="de-CH" sz="1400" b="1" dirty="0">
                <a:solidFill>
                  <a:srgbClr val="000000"/>
                </a:solidFill>
                <a:latin typeface="Helvetica" pitchFamily="2" charset="0"/>
              </a:rPr>
              <a:t>Dataiku </a:t>
            </a:r>
            <a:r>
              <a:rPr lang="de-CH" sz="1400" dirty="0">
                <a:solidFill>
                  <a:srgbClr val="000000"/>
                </a:solidFill>
                <a:latin typeface="Helvetica" pitchFamily="2" charset="0"/>
              </a:rPr>
              <a:t>fördert </a:t>
            </a:r>
            <a:r>
              <a:rPr lang="de-CH" sz="1400" b="1" dirty="0">
                <a:solidFill>
                  <a:srgbClr val="000000"/>
                </a:solidFill>
                <a:latin typeface="Helvetica" pitchFamily="2" charset="0"/>
              </a:rPr>
              <a:t>agile, iterative Entwicklung</a:t>
            </a:r>
          </a:p>
          <a:p>
            <a:endParaRPr lang="de-CH" sz="1400" b="1" dirty="0">
              <a:solidFill>
                <a:srgbClr val="000000"/>
              </a:solidFill>
              <a:latin typeface="Helvetica" pitchFamily="2" charset="0"/>
            </a:endParaRPr>
          </a:p>
          <a:p>
            <a:pPr marL="285750" indent="-285750">
              <a:buFont typeface="Symbol" pitchFamily="2" charset="2"/>
              <a:buChar char="-"/>
            </a:pPr>
            <a:r>
              <a:rPr lang="de-CH" sz="1400" dirty="0">
                <a:solidFill>
                  <a:srgbClr val="000000"/>
                </a:solidFill>
                <a:latin typeface="Helvetica" pitchFamily="2" charset="0"/>
              </a:rPr>
              <a:t>Unterstützt </a:t>
            </a:r>
            <a:r>
              <a:rPr lang="de-CH" sz="1400" b="1" dirty="0">
                <a:solidFill>
                  <a:srgbClr val="000000"/>
                </a:solidFill>
                <a:latin typeface="Helvetica" pitchFamily="2" charset="0"/>
              </a:rPr>
              <a:t>Skalierung</a:t>
            </a:r>
            <a:r>
              <a:rPr lang="de-CH" sz="1400" dirty="0">
                <a:solidFill>
                  <a:srgbClr val="000000"/>
                </a:solidFill>
                <a:latin typeface="Helvetica" pitchFamily="2" charset="0"/>
              </a:rPr>
              <a:t> und </a:t>
            </a:r>
            <a:r>
              <a:rPr lang="de-CH" sz="1400" b="1" dirty="0">
                <a:solidFill>
                  <a:srgbClr val="000000"/>
                </a:solidFill>
                <a:latin typeface="Helvetica" pitchFamily="2" charset="0"/>
              </a:rPr>
              <a:t>Testing</a:t>
            </a:r>
            <a:r>
              <a:rPr lang="de-CH" sz="1400" dirty="0">
                <a:solidFill>
                  <a:srgbClr val="000000"/>
                </a:solidFill>
                <a:latin typeface="Helvetica" pitchFamily="2" charset="0"/>
              </a:rPr>
              <a:t> von GenAI </a:t>
            </a:r>
            <a:r>
              <a:rPr lang="de-CH" sz="1400" b="1" dirty="0">
                <a:solidFill>
                  <a:srgbClr val="000000"/>
                </a:solidFill>
                <a:latin typeface="Helvetica" pitchFamily="2" charset="0"/>
              </a:rPr>
              <a:t>Modellen</a:t>
            </a:r>
            <a:endParaRPr lang="de-CH" sz="1400" b="1" dirty="0">
              <a:latin typeface="Helvetica" pitchFamily="2" charset="0"/>
            </a:endParaRPr>
          </a:p>
        </p:txBody>
      </p:sp>
      <p:sp>
        <p:nvSpPr>
          <p:cNvPr id="16" name="Textfeld 15">
            <a:extLst>
              <a:ext uri="{FF2B5EF4-FFF2-40B4-BE49-F238E27FC236}">
                <a16:creationId xmlns:a16="http://schemas.microsoft.com/office/drawing/2014/main" id="{E9DC2872-2F36-5045-9327-9C39653FEF96}"/>
              </a:ext>
            </a:extLst>
          </p:cNvPr>
          <p:cNvSpPr txBox="1"/>
          <p:nvPr/>
        </p:nvSpPr>
        <p:spPr>
          <a:xfrm>
            <a:off x="4226485" y="2407497"/>
            <a:ext cx="3316468" cy="3452227"/>
          </a:xfrm>
          <a:prstGeom prst="rect">
            <a:avLst/>
          </a:prstGeom>
          <a:noFill/>
        </p:spPr>
        <p:txBody>
          <a:bodyPr wrap="square" rtlCol="0">
            <a:spAutoFit/>
          </a:bodyPr>
          <a:lstStyle/>
          <a:p>
            <a:endParaRPr lang="de-DE" sz="1400" dirty="0">
              <a:highlight>
                <a:srgbClr val="FFFF00"/>
              </a:highlight>
              <a:latin typeface="Helvetica" pitchFamily="2" charset="0"/>
            </a:endParaRPr>
          </a:p>
          <a:p>
            <a:pPr>
              <a:spcAft>
                <a:spcPts val="500"/>
              </a:spcAft>
            </a:pPr>
            <a:r>
              <a:rPr lang="de-DE" sz="1400" b="1" dirty="0">
                <a:latin typeface="Helvetica" pitchFamily="2" charset="0"/>
              </a:rPr>
              <a:t>Optimierung Datensatzgrösse:</a:t>
            </a:r>
          </a:p>
          <a:p>
            <a:pPr marL="285750" indent="-285750">
              <a:buFont typeface="Symbol" pitchFamily="2" charset="2"/>
              <a:buChar char="-"/>
            </a:pPr>
            <a:r>
              <a:rPr lang="de-DE" sz="1400" dirty="0">
                <a:solidFill>
                  <a:srgbClr val="000000"/>
                </a:solidFill>
                <a:latin typeface="Helvetica" pitchFamily="2" charset="0"/>
              </a:rPr>
              <a:t>Erforderlich bei grossen strukturierten Datensätzen             (z. B. SAP), um </a:t>
            </a:r>
            <a:r>
              <a:rPr lang="de-DE" sz="1400" b="1" dirty="0">
                <a:solidFill>
                  <a:srgbClr val="000000"/>
                </a:solidFill>
                <a:latin typeface="Helvetica" pitchFamily="2" charset="0"/>
              </a:rPr>
              <a:t>Integrations- und Ladezeiten </a:t>
            </a:r>
            <a:r>
              <a:rPr lang="de-DE" sz="1400" dirty="0">
                <a:solidFill>
                  <a:srgbClr val="000000"/>
                </a:solidFill>
                <a:latin typeface="Helvetica" pitchFamily="2" charset="0"/>
              </a:rPr>
              <a:t>zu reduzieren</a:t>
            </a:r>
          </a:p>
          <a:p>
            <a:endParaRPr lang="de-DE" sz="1400" dirty="0">
              <a:solidFill>
                <a:srgbClr val="000000"/>
              </a:solidFill>
              <a:latin typeface="Helvetica" pitchFamily="2" charset="0"/>
            </a:endParaRPr>
          </a:p>
          <a:p>
            <a:pPr marL="285750" indent="-285750">
              <a:buFont typeface="Wingdings" pitchFamily="2" charset="2"/>
              <a:buChar char="§"/>
            </a:pPr>
            <a:r>
              <a:rPr lang="de-DE" sz="1400" dirty="0">
                <a:latin typeface="Helvetica" pitchFamily="2" charset="0"/>
              </a:rPr>
              <a:t>52 Spalten, 1’846’639 Zeilen (5GB)</a:t>
            </a:r>
          </a:p>
          <a:p>
            <a:pPr marL="285750" indent="-285750">
              <a:buFont typeface="Wingdings" pitchFamily="2" charset="2"/>
              <a:buChar char="§"/>
            </a:pPr>
            <a:r>
              <a:rPr lang="de-DE" sz="1400" dirty="0">
                <a:latin typeface="Helvetica" pitchFamily="2" charset="0"/>
              </a:rPr>
              <a:t>Ladezeit: ~ 2 Min 53 Sek</a:t>
            </a:r>
          </a:p>
          <a:p>
            <a:pPr marL="285750" indent="-285750">
              <a:buFont typeface="Symbol" pitchFamily="2" charset="2"/>
              <a:buChar char="-"/>
            </a:pPr>
            <a:endParaRPr lang="en-US" sz="1400" dirty="0">
              <a:latin typeface="Helvetica" pitchFamily="2" charset="0"/>
            </a:endParaRPr>
          </a:p>
          <a:p>
            <a:pPr>
              <a:spcAft>
                <a:spcPts val="500"/>
              </a:spcAft>
            </a:pPr>
            <a:r>
              <a:rPr lang="de-DE" sz="1400" b="1" dirty="0">
                <a:latin typeface="Helvetica" pitchFamily="2" charset="0"/>
              </a:rPr>
              <a:t>Selektive Spaltenreduktion:</a:t>
            </a:r>
          </a:p>
          <a:p>
            <a:pPr marL="285750" indent="-285750">
              <a:buFont typeface="Symbol" pitchFamily="2" charset="2"/>
              <a:buChar char="-"/>
            </a:pPr>
            <a:r>
              <a:rPr lang="de-DE" sz="1400" dirty="0">
                <a:latin typeface="Helvetica" pitchFamily="2" charset="0"/>
              </a:rPr>
              <a:t>bietet</a:t>
            </a:r>
            <a:r>
              <a:rPr lang="de-DE" sz="1400" b="1" dirty="0">
                <a:latin typeface="Helvetica" pitchFamily="2" charset="0"/>
              </a:rPr>
              <a:t> </a:t>
            </a:r>
            <a:r>
              <a:rPr lang="de-DE" sz="1400" dirty="0">
                <a:solidFill>
                  <a:srgbClr val="000000"/>
                </a:solidFill>
                <a:latin typeface="Helvetica" pitchFamily="2" charset="0"/>
              </a:rPr>
              <a:t>Schnelle Performance-</a:t>
            </a:r>
            <a:r>
              <a:rPr lang="de-DE" sz="1400" b="1" dirty="0">
                <a:solidFill>
                  <a:srgbClr val="000000"/>
                </a:solidFill>
                <a:latin typeface="Helvetica" pitchFamily="2" charset="0"/>
              </a:rPr>
              <a:t>Optimierung</a:t>
            </a:r>
            <a:r>
              <a:rPr lang="de-DE" sz="1400" dirty="0">
                <a:solidFill>
                  <a:srgbClr val="000000"/>
                </a:solidFill>
                <a:latin typeface="Helvetica" pitchFamily="2" charset="0"/>
              </a:rPr>
              <a:t> zur Verbesserung der </a:t>
            </a:r>
            <a:r>
              <a:rPr lang="de-DE" sz="1400" b="1" dirty="0">
                <a:solidFill>
                  <a:srgbClr val="000000"/>
                </a:solidFill>
                <a:latin typeface="Helvetica" pitchFamily="2" charset="0"/>
              </a:rPr>
              <a:t>Integrationszeiten- und Ladezeiten</a:t>
            </a:r>
            <a:endParaRPr lang="de-DE" sz="1200" b="1" dirty="0">
              <a:latin typeface="Helvetica" pitchFamily="2" charset="0"/>
            </a:endParaRPr>
          </a:p>
        </p:txBody>
      </p:sp>
      <p:sp>
        <p:nvSpPr>
          <p:cNvPr id="18" name="Textfeld 17">
            <a:extLst>
              <a:ext uri="{FF2B5EF4-FFF2-40B4-BE49-F238E27FC236}">
                <a16:creationId xmlns:a16="http://schemas.microsoft.com/office/drawing/2014/main" id="{7F8850AA-3A31-2F4D-8797-1C6B1F978C77}"/>
              </a:ext>
            </a:extLst>
          </p:cNvPr>
          <p:cNvSpPr txBox="1"/>
          <p:nvPr/>
        </p:nvSpPr>
        <p:spPr>
          <a:xfrm>
            <a:off x="7992110" y="2405033"/>
            <a:ext cx="3336638" cy="3172663"/>
          </a:xfrm>
          <a:prstGeom prst="rect">
            <a:avLst/>
          </a:prstGeom>
          <a:noFill/>
        </p:spPr>
        <p:txBody>
          <a:bodyPr wrap="square" rtlCol="0">
            <a:spAutoFit/>
          </a:bodyPr>
          <a:lstStyle/>
          <a:p>
            <a:endParaRPr lang="de-DE" sz="1400" b="1" dirty="0">
              <a:latin typeface="Helvetica" pitchFamily="2" charset="0"/>
            </a:endParaRPr>
          </a:p>
          <a:p>
            <a:pPr>
              <a:spcAft>
                <a:spcPts val="500"/>
              </a:spcAft>
            </a:pPr>
            <a:r>
              <a:rPr lang="de-DE" sz="1400" b="1" dirty="0">
                <a:latin typeface="Helvetica" pitchFamily="2" charset="0"/>
              </a:rPr>
              <a:t>Effiziente Datenabfrage:</a:t>
            </a:r>
          </a:p>
          <a:p>
            <a:pPr marL="285750" indent="-285750">
              <a:buFontTx/>
              <a:buChar char="-"/>
            </a:pPr>
            <a:r>
              <a:rPr lang="de-CH" sz="1400" dirty="0">
                <a:latin typeface="Helvetica" pitchFamily="2" charset="0"/>
              </a:rPr>
              <a:t>Ableitung gezielter </a:t>
            </a:r>
            <a:r>
              <a:rPr lang="de-CH" sz="1400" b="1" dirty="0">
                <a:latin typeface="Helvetica" pitchFamily="2" charset="0"/>
              </a:rPr>
              <a:t>SQL-Abfragen </a:t>
            </a:r>
            <a:r>
              <a:rPr lang="de-CH" sz="1400" dirty="0">
                <a:latin typeface="Helvetica" pitchFamily="2" charset="0"/>
              </a:rPr>
              <a:t>aus Nutzeranfragen über eine angepasste </a:t>
            </a:r>
            <a:r>
              <a:rPr lang="de-CH" sz="1400" b="1" dirty="0">
                <a:latin typeface="Helvetica" pitchFamily="2" charset="0"/>
              </a:rPr>
              <a:t>Prompt-Sektion</a:t>
            </a:r>
          </a:p>
          <a:p>
            <a:endParaRPr lang="de-CH" sz="1400" dirty="0">
              <a:latin typeface="Helvetica" pitchFamily="2" charset="0"/>
            </a:endParaRPr>
          </a:p>
          <a:p>
            <a:pPr marL="285750" indent="-285750">
              <a:buFontTx/>
              <a:buChar char="-"/>
            </a:pPr>
            <a:r>
              <a:rPr lang="de-CH" sz="1400" b="1" dirty="0">
                <a:latin typeface="Helvetica" pitchFamily="2" charset="0"/>
              </a:rPr>
              <a:t>Indirekte </a:t>
            </a:r>
            <a:r>
              <a:rPr lang="de-CH" sz="1400" dirty="0">
                <a:latin typeface="Helvetica" pitchFamily="2" charset="0"/>
              </a:rPr>
              <a:t>Generierung</a:t>
            </a:r>
            <a:r>
              <a:rPr lang="de-CH" sz="1400" b="1" dirty="0">
                <a:latin typeface="Helvetica" pitchFamily="2" charset="0"/>
              </a:rPr>
              <a:t> </a:t>
            </a:r>
            <a:r>
              <a:rPr lang="de-CH" sz="1400" dirty="0">
                <a:latin typeface="Helvetica" pitchFamily="2" charset="0"/>
              </a:rPr>
              <a:t>und Ausführung der </a:t>
            </a:r>
            <a:r>
              <a:rPr lang="de-CH" sz="1400" b="1" dirty="0">
                <a:latin typeface="Helvetica" pitchFamily="2" charset="0"/>
              </a:rPr>
              <a:t>SQL-Abfragen </a:t>
            </a:r>
            <a:r>
              <a:rPr lang="de-CH" sz="1400" dirty="0">
                <a:latin typeface="Helvetica" pitchFamily="2" charset="0"/>
              </a:rPr>
              <a:t>mittels </a:t>
            </a:r>
            <a:r>
              <a:rPr lang="de-CH" sz="1400" b="1" dirty="0">
                <a:latin typeface="Helvetica" pitchFamily="2" charset="0"/>
              </a:rPr>
              <a:t>Python-Code</a:t>
            </a:r>
            <a:r>
              <a:rPr lang="de-CH" sz="1400" dirty="0">
                <a:latin typeface="Helvetica" pitchFamily="2" charset="0"/>
              </a:rPr>
              <a:t> zur Reduktion des Datenvolumens</a:t>
            </a:r>
          </a:p>
          <a:p>
            <a:pPr marL="285750" indent="-285750">
              <a:buFontTx/>
              <a:buChar char="-"/>
            </a:pPr>
            <a:endParaRPr lang="de-CH" sz="1400" dirty="0">
              <a:latin typeface="Helvetica" pitchFamily="2" charset="0"/>
            </a:endParaRPr>
          </a:p>
          <a:p>
            <a:pPr marL="285750" indent="-285750">
              <a:buFont typeface="Symbol" pitchFamily="2" charset="2"/>
              <a:buChar char="Þ"/>
            </a:pPr>
            <a:r>
              <a:rPr lang="de-CH" sz="1400" dirty="0">
                <a:latin typeface="Helvetica" pitchFamily="2" charset="0"/>
              </a:rPr>
              <a:t>Selektive Datenintegration</a:t>
            </a:r>
          </a:p>
          <a:p>
            <a:pPr marL="285750" indent="-285750">
              <a:buFont typeface="Symbol" pitchFamily="2" charset="2"/>
              <a:buChar char="Þ"/>
            </a:pPr>
            <a:r>
              <a:rPr lang="de-CH" sz="1400" dirty="0">
                <a:latin typeface="Helvetica" pitchFamily="2" charset="0"/>
              </a:rPr>
              <a:t>verkürzte Integration und Ladezeit</a:t>
            </a:r>
          </a:p>
          <a:p>
            <a:pPr>
              <a:spcAft>
                <a:spcPts val="500"/>
              </a:spcAft>
            </a:pPr>
            <a:endParaRPr lang="de-DE" sz="1400" b="1" dirty="0">
              <a:latin typeface="Helvetica" pitchFamily="2" charset="0"/>
            </a:endParaRPr>
          </a:p>
        </p:txBody>
      </p:sp>
      <p:sp>
        <p:nvSpPr>
          <p:cNvPr id="17" name="Textfeld 16">
            <a:extLst>
              <a:ext uri="{FF2B5EF4-FFF2-40B4-BE49-F238E27FC236}">
                <a16:creationId xmlns:a16="http://schemas.microsoft.com/office/drawing/2014/main" id="{DA4949E3-0875-E94C-87B1-E0155D90F3B3}"/>
              </a:ext>
            </a:extLst>
          </p:cNvPr>
          <p:cNvSpPr txBox="1"/>
          <p:nvPr/>
        </p:nvSpPr>
        <p:spPr>
          <a:xfrm>
            <a:off x="3588741" y="5686892"/>
            <a:ext cx="297813" cy="400110"/>
          </a:xfrm>
          <a:prstGeom prst="rect">
            <a:avLst/>
          </a:prstGeom>
          <a:noFill/>
        </p:spPr>
        <p:txBody>
          <a:bodyPr wrap="square" rtlCol="0">
            <a:spAutoFit/>
          </a:bodyPr>
          <a:lstStyle/>
          <a:p>
            <a:r>
              <a:rPr lang="en-GB" sz="2000" b="1" dirty="0">
                <a:solidFill>
                  <a:srgbClr val="009997"/>
                </a:solidFill>
                <a:latin typeface="Helvetica" pitchFamily="2" charset="0"/>
              </a:rPr>
              <a:t>1</a:t>
            </a:r>
          </a:p>
        </p:txBody>
      </p:sp>
      <p:sp>
        <p:nvSpPr>
          <p:cNvPr id="19" name="Textfeld 18">
            <a:extLst>
              <a:ext uri="{FF2B5EF4-FFF2-40B4-BE49-F238E27FC236}">
                <a16:creationId xmlns:a16="http://schemas.microsoft.com/office/drawing/2014/main" id="{FF2C502B-41E7-D64F-86D9-E68C4C6ACB7D}"/>
              </a:ext>
            </a:extLst>
          </p:cNvPr>
          <p:cNvSpPr txBox="1"/>
          <p:nvPr/>
        </p:nvSpPr>
        <p:spPr>
          <a:xfrm>
            <a:off x="7316550" y="5705729"/>
            <a:ext cx="297813" cy="400110"/>
          </a:xfrm>
          <a:prstGeom prst="rect">
            <a:avLst/>
          </a:prstGeom>
          <a:noFill/>
        </p:spPr>
        <p:txBody>
          <a:bodyPr wrap="square" rtlCol="0">
            <a:spAutoFit/>
          </a:bodyPr>
          <a:lstStyle/>
          <a:p>
            <a:r>
              <a:rPr lang="en-GB" sz="2000" b="1" dirty="0">
                <a:solidFill>
                  <a:srgbClr val="009997"/>
                </a:solidFill>
                <a:latin typeface="Helvetica" pitchFamily="2" charset="0"/>
              </a:rPr>
              <a:t>2</a:t>
            </a:r>
          </a:p>
        </p:txBody>
      </p:sp>
      <p:sp>
        <p:nvSpPr>
          <p:cNvPr id="20" name="Textfeld 19">
            <a:extLst>
              <a:ext uri="{FF2B5EF4-FFF2-40B4-BE49-F238E27FC236}">
                <a16:creationId xmlns:a16="http://schemas.microsoft.com/office/drawing/2014/main" id="{F1AFD592-7E53-454B-B12D-593989BD0843}"/>
              </a:ext>
            </a:extLst>
          </p:cNvPr>
          <p:cNvSpPr txBox="1"/>
          <p:nvPr/>
        </p:nvSpPr>
        <p:spPr>
          <a:xfrm>
            <a:off x="11090563" y="5712376"/>
            <a:ext cx="297813" cy="400110"/>
          </a:xfrm>
          <a:prstGeom prst="rect">
            <a:avLst/>
          </a:prstGeom>
          <a:noFill/>
        </p:spPr>
        <p:txBody>
          <a:bodyPr wrap="square" rtlCol="0">
            <a:spAutoFit/>
          </a:bodyPr>
          <a:lstStyle/>
          <a:p>
            <a:r>
              <a:rPr lang="en-GB" sz="2000" b="1" dirty="0">
                <a:solidFill>
                  <a:srgbClr val="009997"/>
                </a:solidFill>
                <a:latin typeface="Helvetica" pitchFamily="2" charset="0"/>
              </a:rPr>
              <a:t>3</a:t>
            </a:r>
          </a:p>
        </p:txBody>
      </p:sp>
    </p:spTree>
    <p:extLst>
      <p:ext uri="{BB962C8B-B14F-4D97-AF65-F5344CB8AC3E}">
        <p14:creationId xmlns:p14="http://schemas.microsoft.com/office/powerpoint/2010/main" val="876316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6" grpId="0"/>
      <p:bldP spid="18" grpId="0"/>
      <p:bldP spid="19" grpId="0"/>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E890BAFF-4058-8947-BB55-3FB1D7A9B4F5}"/>
              </a:ext>
            </a:extLst>
          </p:cNvPr>
          <p:cNvSpPr/>
          <p:nvPr/>
        </p:nvSpPr>
        <p:spPr>
          <a:xfrm>
            <a:off x="6087289" y="1999336"/>
            <a:ext cx="5215015" cy="2978395"/>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endParaRPr lang="de-CH" sz="1200" dirty="0">
              <a:latin typeface="Helvetica" pitchFamily="2" charset="0"/>
            </a:endParaRPr>
          </a:p>
        </p:txBody>
      </p:sp>
      <p:sp>
        <p:nvSpPr>
          <p:cNvPr id="12" name="Rechteck 11">
            <a:extLst>
              <a:ext uri="{FF2B5EF4-FFF2-40B4-BE49-F238E27FC236}">
                <a16:creationId xmlns:a16="http://schemas.microsoft.com/office/drawing/2014/main" id="{F152FB6C-B447-B14C-A83A-DA80E171D7F4}"/>
              </a:ext>
            </a:extLst>
          </p:cNvPr>
          <p:cNvSpPr/>
          <p:nvPr/>
        </p:nvSpPr>
        <p:spPr>
          <a:xfrm>
            <a:off x="669094" y="1994036"/>
            <a:ext cx="5072800" cy="4604471"/>
          </a:xfrm>
          <a:prstGeom prst="rect">
            <a:avLst/>
          </a:prstGeom>
          <a:ln w="38100">
            <a:solidFill>
              <a:srgbClr val="02877B"/>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6" name="Foliennummernplatzhalter 5">
            <a:extLst>
              <a:ext uri="{FF2B5EF4-FFF2-40B4-BE49-F238E27FC236}">
                <a16:creationId xmlns:a16="http://schemas.microsoft.com/office/drawing/2014/main" id="{6EE4FFDF-DAF7-EA41-97A7-2FF6A3D5074F}"/>
              </a:ext>
            </a:extLst>
          </p:cNvPr>
          <p:cNvSpPr>
            <a:spLocks noGrp="1"/>
          </p:cNvSpPr>
          <p:nvPr>
            <p:ph type="sldNum" sz="quarter" idx="12"/>
          </p:nvPr>
        </p:nvSpPr>
        <p:spPr/>
        <p:txBody>
          <a:bodyPr/>
          <a:lstStyle/>
          <a:p>
            <a:fld id="{5CC06646-EDF2-2341-B148-FF1B4C173C76}" type="slidenum">
              <a:rPr lang="en-GB" sz="1400" smtClean="0">
                <a:solidFill>
                  <a:schemeClr val="tx1"/>
                </a:solidFill>
                <a:latin typeface="Helvetica" pitchFamily="2" charset="0"/>
              </a:rPr>
              <a:t>19</a:t>
            </a:fld>
            <a:endParaRPr lang="en-GB" dirty="0">
              <a:solidFill>
                <a:schemeClr val="tx1"/>
              </a:solidFill>
              <a:latin typeface="Helvetica" pitchFamily="2" charset="0"/>
            </a:endParaRPr>
          </a:p>
        </p:txBody>
      </p:sp>
      <p:sp>
        <p:nvSpPr>
          <p:cNvPr id="5" name="Rechteck 4">
            <a:extLst>
              <a:ext uri="{FF2B5EF4-FFF2-40B4-BE49-F238E27FC236}">
                <a16:creationId xmlns:a16="http://schemas.microsoft.com/office/drawing/2014/main" id="{40000FA0-0B50-544F-9BB5-7E573FAB9898}"/>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7" name="Titel 1">
            <a:extLst>
              <a:ext uri="{FF2B5EF4-FFF2-40B4-BE49-F238E27FC236}">
                <a16:creationId xmlns:a16="http://schemas.microsoft.com/office/drawing/2014/main" id="{F5EC4206-615F-5D4D-92B9-7F88B0BE7C46}"/>
              </a:ext>
            </a:extLst>
          </p:cNvPr>
          <p:cNvSpPr txBox="1">
            <a:spLocks/>
          </p:cNvSpPr>
          <p:nvPr/>
        </p:nvSpPr>
        <p:spPr>
          <a:xfrm>
            <a:off x="574963" y="444610"/>
            <a:ext cx="10515600" cy="94312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700" dirty="0">
                <a:latin typeface="Helvetica" pitchFamily="2" charset="0"/>
              </a:rPr>
              <a:t>Implikationen </a:t>
            </a:r>
            <a:br>
              <a:rPr lang="de-DE" sz="2400" dirty="0">
                <a:latin typeface="Helvetica" pitchFamily="2" charset="0"/>
              </a:rPr>
            </a:br>
            <a:r>
              <a:rPr lang="de-DE" sz="2200" dirty="0">
                <a:latin typeface="Helvetica Light" panose="020B0403020202020204" pitchFamily="34" charset="0"/>
              </a:rPr>
              <a:t>MSD | Research</a:t>
            </a:r>
            <a:br>
              <a:rPr lang="de-DE" sz="2400" dirty="0">
                <a:latin typeface="Helvetica" pitchFamily="2" charset="0"/>
              </a:rPr>
            </a:br>
            <a:endParaRPr lang="de-DE" sz="2400" dirty="0">
              <a:latin typeface="Helvetica" pitchFamily="2" charset="0"/>
            </a:endParaRPr>
          </a:p>
        </p:txBody>
      </p:sp>
      <p:sp>
        <p:nvSpPr>
          <p:cNvPr id="9" name="Textfeld 8">
            <a:extLst>
              <a:ext uri="{FF2B5EF4-FFF2-40B4-BE49-F238E27FC236}">
                <a16:creationId xmlns:a16="http://schemas.microsoft.com/office/drawing/2014/main" id="{69F05065-0BC5-9B4A-A5C3-64FCD035111B}"/>
              </a:ext>
            </a:extLst>
          </p:cNvPr>
          <p:cNvSpPr txBox="1"/>
          <p:nvPr/>
        </p:nvSpPr>
        <p:spPr>
          <a:xfrm>
            <a:off x="814295" y="2099668"/>
            <a:ext cx="4782397" cy="4383251"/>
          </a:xfrm>
          <a:prstGeom prst="rect">
            <a:avLst/>
          </a:prstGeom>
          <a:noFill/>
        </p:spPr>
        <p:txBody>
          <a:bodyPr wrap="square" rtlCol="0">
            <a:spAutoFit/>
          </a:bodyPr>
          <a:lstStyle/>
          <a:p>
            <a:pPr>
              <a:spcAft>
                <a:spcPts val="500"/>
              </a:spcAft>
            </a:pPr>
            <a:r>
              <a:rPr lang="de-CH" sz="1400" b="1" dirty="0">
                <a:latin typeface="Helvetica" pitchFamily="2" charset="0"/>
              </a:rPr>
              <a:t>Umstellung LLM + Segmentierung Ansatz:</a:t>
            </a:r>
          </a:p>
          <a:p>
            <a:pPr marL="285750" indent="-285750">
              <a:buFont typeface="Symbol" pitchFamily="2" charset="2"/>
              <a:buChar char="-"/>
            </a:pPr>
            <a:r>
              <a:rPr lang="de-CH" sz="1400" dirty="0">
                <a:latin typeface="Helvetica" pitchFamily="2" charset="0"/>
              </a:rPr>
              <a:t>Segmentierung komplexer Grafiken unter </a:t>
            </a:r>
            <a:r>
              <a:rPr lang="de-CH" sz="1400" b="1" dirty="0">
                <a:latin typeface="Helvetica" pitchFamily="2" charset="0"/>
              </a:rPr>
              <a:t>standardmässiger</a:t>
            </a:r>
            <a:r>
              <a:rPr lang="de-CH" sz="1400" dirty="0">
                <a:latin typeface="Helvetica" pitchFamily="2" charset="0"/>
              </a:rPr>
              <a:t> Nutzung von </a:t>
            </a:r>
            <a:r>
              <a:rPr lang="de-CH" sz="1400" b="1" dirty="0">
                <a:latin typeface="Helvetica" pitchFamily="2" charset="0"/>
              </a:rPr>
              <a:t>Gemini 3 Pro</a:t>
            </a:r>
          </a:p>
          <a:p>
            <a:pPr marL="285750" indent="-285750">
              <a:buFont typeface="Symbol" pitchFamily="2" charset="2"/>
              <a:buChar char="-"/>
            </a:pPr>
            <a:endParaRPr lang="de-CH" sz="1400" b="1" dirty="0">
              <a:latin typeface="Helvetica" pitchFamily="2" charset="0"/>
            </a:endParaRPr>
          </a:p>
          <a:p>
            <a:pPr>
              <a:spcAft>
                <a:spcPts val="500"/>
              </a:spcAft>
            </a:pPr>
            <a:r>
              <a:rPr lang="de-CH" sz="1400" b="1" dirty="0">
                <a:latin typeface="Helvetica" pitchFamily="2" charset="0"/>
              </a:rPr>
              <a:t>Integration zusätzlicher Datenquellen:</a:t>
            </a:r>
          </a:p>
          <a:p>
            <a:pPr marL="285750" indent="-285750">
              <a:buFont typeface="Symbol" pitchFamily="2" charset="2"/>
              <a:buChar char="-"/>
            </a:pPr>
            <a:r>
              <a:rPr lang="de-CH" sz="1400" dirty="0">
                <a:solidFill>
                  <a:srgbClr val="000000"/>
                </a:solidFill>
                <a:latin typeface="Helvetica" pitchFamily="2" charset="0"/>
              </a:rPr>
              <a:t>Derzeit </a:t>
            </a:r>
            <a:r>
              <a:rPr lang="de-CH" sz="1400" b="1" dirty="0">
                <a:solidFill>
                  <a:srgbClr val="000000"/>
                </a:solidFill>
                <a:latin typeface="Helvetica" pitchFamily="2" charset="0"/>
              </a:rPr>
              <a:t>fünf </a:t>
            </a:r>
            <a:r>
              <a:rPr lang="de-CH" sz="1400" dirty="0">
                <a:solidFill>
                  <a:srgbClr val="000000"/>
                </a:solidFill>
                <a:latin typeface="Helvetica" pitchFamily="2" charset="0"/>
              </a:rPr>
              <a:t>unstrukturierte </a:t>
            </a:r>
            <a:r>
              <a:rPr lang="de-CH" sz="1400" b="1" dirty="0">
                <a:solidFill>
                  <a:srgbClr val="000000"/>
                </a:solidFill>
                <a:latin typeface="Helvetica" pitchFamily="2" charset="0"/>
              </a:rPr>
              <a:t>Datenquellen</a:t>
            </a:r>
            <a:r>
              <a:rPr lang="de-CH" sz="1400" dirty="0">
                <a:solidFill>
                  <a:srgbClr val="000000"/>
                </a:solidFill>
                <a:latin typeface="Helvetica" pitchFamily="2" charset="0"/>
              </a:rPr>
              <a:t> integriert; Einbindung weiterer sollte geprüft werden</a:t>
            </a:r>
          </a:p>
          <a:p>
            <a:endParaRPr lang="de-CH" sz="1400" dirty="0">
              <a:latin typeface="Helvetica" pitchFamily="2" charset="0"/>
            </a:endParaRPr>
          </a:p>
          <a:p>
            <a:pPr>
              <a:spcAft>
                <a:spcPts val="500"/>
              </a:spcAft>
            </a:pPr>
            <a:r>
              <a:rPr lang="de-CH" sz="1400" b="1" dirty="0">
                <a:latin typeface="Helvetica" pitchFamily="2" charset="0"/>
              </a:rPr>
              <a:t>Qualitative Evaluation Methodik:                        </a:t>
            </a:r>
          </a:p>
          <a:p>
            <a:pPr marL="285750" indent="-285750">
              <a:buFont typeface="Symbol" pitchFamily="2" charset="2"/>
              <a:buChar char="-"/>
            </a:pPr>
            <a:r>
              <a:rPr lang="de-CH" sz="1400" dirty="0">
                <a:latin typeface="Helvetica" pitchFamily="2" charset="0"/>
              </a:rPr>
              <a:t>Nutzung der etablierten Methodik zur qualitativen Evaluierung </a:t>
            </a:r>
            <a:r>
              <a:rPr lang="de-CH" sz="1400" b="1" dirty="0">
                <a:latin typeface="Helvetica" pitchFamily="2" charset="0"/>
              </a:rPr>
              <a:t>zukünftiger</a:t>
            </a:r>
            <a:r>
              <a:rPr lang="de-CH" sz="1400" dirty="0">
                <a:latin typeface="Helvetica" pitchFamily="2" charset="0"/>
              </a:rPr>
              <a:t> entwickelten Modelle</a:t>
            </a:r>
          </a:p>
          <a:p>
            <a:endParaRPr lang="de-CH" sz="1000" dirty="0">
              <a:latin typeface="Helvetica" pitchFamily="2" charset="0"/>
            </a:endParaRPr>
          </a:p>
          <a:p>
            <a:pPr>
              <a:spcAft>
                <a:spcPts val="500"/>
              </a:spcAft>
            </a:pPr>
            <a:r>
              <a:rPr lang="de-CH" sz="1400" b="1" dirty="0">
                <a:latin typeface="Helvetica" pitchFamily="2" charset="0"/>
              </a:rPr>
              <a:t>Automatisierte Updates &amp; Monitoring:</a:t>
            </a:r>
            <a:r>
              <a:rPr lang="de-CH" sz="1400" dirty="0">
                <a:latin typeface="Helvetica" pitchFamily="2" charset="0"/>
              </a:rPr>
              <a:t> </a:t>
            </a:r>
          </a:p>
          <a:p>
            <a:pPr marL="285750" indent="-285750">
              <a:buFont typeface="Symbol" pitchFamily="2" charset="2"/>
              <a:buChar char="-"/>
            </a:pPr>
            <a:r>
              <a:rPr lang="de-CH" sz="1400" dirty="0">
                <a:latin typeface="Helvetica" pitchFamily="2" charset="0"/>
              </a:rPr>
              <a:t>Zeitbasierte </a:t>
            </a:r>
            <a:r>
              <a:rPr lang="de-CH" sz="1400" b="1" dirty="0">
                <a:latin typeface="Helvetica" pitchFamily="2" charset="0"/>
              </a:rPr>
              <a:t>automatische Aktualisierungen </a:t>
            </a:r>
            <a:r>
              <a:rPr lang="de-CH" sz="1400" dirty="0">
                <a:latin typeface="Helvetica" pitchFamily="2" charset="0"/>
              </a:rPr>
              <a:t>der Datenbasis und </a:t>
            </a:r>
            <a:r>
              <a:rPr lang="de-CH" sz="1400" b="1" dirty="0">
                <a:latin typeface="Helvetica" pitchFamily="2" charset="0"/>
              </a:rPr>
              <a:t>Monitoring</a:t>
            </a:r>
            <a:r>
              <a:rPr lang="de-CH" sz="1400" dirty="0">
                <a:latin typeface="Helvetica" pitchFamily="2" charset="0"/>
              </a:rPr>
              <a:t> der entwickelten Modelle</a:t>
            </a:r>
          </a:p>
          <a:p>
            <a:pPr marL="285750" indent="-285750">
              <a:buFont typeface="Symbol" pitchFamily="2" charset="2"/>
              <a:buChar char="-"/>
            </a:pPr>
            <a:endParaRPr lang="de-CH" sz="1000" dirty="0">
              <a:latin typeface="Helvetica" pitchFamily="2" charset="0"/>
            </a:endParaRPr>
          </a:p>
          <a:p>
            <a:pPr>
              <a:spcAft>
                <a:spcPts val="500"/>
              </a:spcAft>
            </a:pPr>
            <a:r>
              <a:rPr lang="de-CH" sz="1400" b="1" dirty="0">
                <a:latin typeface="Helvetica" pitchFamily="2" charset="0"/>
              </a:rPr>
              <a:t>Klare Verantwortlichkeiten klären:</a:t>
            </a:r>
            <a:r>
              <a:rPr lang="de-CH" sz="1400" dirty="0">
                <a:latin typeface="Helvetica" pitchFamily="2" charset="0"/>
              </a:rPr>
              <a:t> </a:t>
            </a:r>
          </a:p>
          <a:p>
            <a:pPr marL="285750" indent="-285750">
              <a:buFont typeface="Symbol" pitchFamily="2" charset="2"/>
              <a:buChar char="-"/>
            </a:pPr>
            <a:r>
              <a:rPr lang="de-CH" sz="1400" dirty="0">
                <a:latin typeface="Helvetica" pitchFamily="2" charset="0"/>
              </a:rPr>
              <a:t>Festlegung von Verantwortlichkeiten für den langfristigen </a:t>
            </a:r>
            <a:r>
              <a:rPr lang="de-CH" sz="1400" b="1" dirty="0">
                <a:latin typeface="Helvetica" pitchFamily="2" charset="0"/>
              </a:rPr>
              <a:t>Betrieb</a:t>
            </a:r>
            <a:r>
              <a:rPr lang="de-CH" sz="1400" dirty="0">
                <a:latin typeface="Helvetica" pitchFamily="2" charset="0"/>
              </a:rPr>
              <a:t> und </a:t>
            </a:r>
            <a:r>
              <a:rPr lang="de-CH" sz="1400" b="1" dirty="0">
                <a:latin typeface="Helvetica" pitchFamily="2" charset="0"/>
              </a:rPr>
              <a:t>Wartung </a:t>
            </a:r>
            <a:r>
              <a:rPr lang="de-CH" sz="1400" dirty="0">
                <a:latin typeface="Helvetica" pitchFamily="2" charset="0"/>
              </a:rPr>
              <a:t>der Modelle</a:t>
            </a:r>
          </a:p>
        </p:txBody>
      </p:sp>
      <p:sp>
        <p:nvSpPr>
          <p:cNvPr id="11" name="Rechteck 10">
            <a:extLst>
              <a:ext uri="{FF2B5EF4-FFF2-40B4-BE49-F238E27FC236}">
                <a16:creationId xmlns:a16="http://schemas.microsoft.com/office/drawing/2014/main" id="{1919AFAA-72A2-D242-B42A-85A3F78C4186}"/>
              </a:ext>
            </a:extLst>
          </p:cNvPr>
          <p:cNvSpPr/>
          <p:nvPr/>
        </p:nvSpPr>
        <p:spPr>
          <a:xfrm>
            <a:off x="669094" y="1321477"/>
            <a:ext cx="5072800" cy="553492"/>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MSD</a:t>
            </a:r>
          </a:p>
        </p:txBody>
      </p:sp>
      <p:sp>
        <p:nvSpPr>
          <p:cNvPr id="15" name="Rechteck 14">
            <a:extLst>
              <a:ext uri="{FF2B5EF4-FFF2-40B4-BE49-F238E27FC236}">
                <a16:creationId xmlns:a16="http://schemas.microsoft.com/office/drawing/2014/main" id="{D1840BD8-C394-B849-9619-19FB1C0AC572}"/>
              </a:ext>
            </a:extLst>
          </p:cNvPr>
          <p:cNvSpPr/>
          <p:nvPr/>
        </p:nvSpPr>
        <p:spPr>
          <a:xfrm>
            <a:off x="6069001" y="1321477"/>
            <a:ext cx="5215015" cy="558793"/>
          </a:xfrm>
          <a:prstGeom prst="rect">
            <a:avLst/>
          </a:prstGeom>
          <a:solidFill>
            <a:srgbClr val="02877A"/>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de-DE" dirty="0">
                <a:solidFill>
                  <a:schemeClr val="bg1"/>
                </a:solidFill>
                <a:latin typeface="Helvetica" pitchFamily="2" charset="0"/>
              </a:rPr>
              <a:t>Research</a:t>
            </a:r>
          </a:p>
        </p:txBody>
      </p:sp>
      <p:sp>
        <p:nvSpPr>
          <p:cNvPr id="17" name="Textfeld 16">
            <a:extLst>
              <a:ext uri="{FF2B5EF4-FFF2-40B4-BE49-F238E27FC236}">
                <a16:creationId xmlns:a16="http://schemas.microsoft.com/office/drawing/2014/main" id="{59233FD7-4DEC-9349-8769-590A697A4A6D}"/>
              </a:ext>
            </a:extLst>
          </p:cNvPr>
          <p:cNvSpPr txBox="1"/>
          <p:nvPr/>
        </p:nvSpPr>
        <p:spPr>
          <a:xfrm>
            <a:off x="6174400" y="2107773"/>
            <a:ext cx="5100907" cy="2757165"/>
          </a:xfrm>
          <a:prstGeom prst="rect">
            <a:avLst/>
          </a:prstGeom>
          <a:noFill/>
        </p:spPr>
        <p:txBody>
          <a:bodyPr wrap="square" rtlCol="0">
            <a:spAutoFit/>
          </a:bodyPr>
          <a:lstStyle/>
          <a:p>
            <a:pPr>
              <a:spcAft>
                <a:spcPts val="500"/>
              </a:spcAft>
            </a:pPr>
            <a:r>
              <a:rPr lang="de-DE" sz="1400" b="1" dirty="0">
                <a:latin typeface="Helvetica" pitchFamily="2" charset="0"/>
              </a:rPr>
              <a:t>Reifegrad und Unternehmensgrösse:</a:t>
            </a:r>
            <a:r>
              <a:rPr lang="de-DE" sz="1400" dirty="0">
                <a:latin typeface="Helvetica" pitchFamily="2" charset="0"/>
              </a:rPr>
              <a:t> </a:t>
            </a:r>
          </a:p>
          <a:p>
            <a:pPr marL="285750" indent="-285750">
              <a:buFont typeface="Symbol" pitchFamily="2" charset="2"/>
              <a:buChar char="-"/>
            </a:pPr>
            <a:r>
              <a:rPr lang="de-DE" sz="1400" b="1" dirty="0">
                <a:latin typeface="Helvetica" pitchFamily="2" charset="0"/>
              </a:rPr>
              <a:t>Analyse</a:t>
            </a:r>
            <a:r>
              <a:rPr lang="de-DE" sz="1400" dirty="0">
                <a:latin typeface="Helvetica" pitchFamily="2" charset="0"/>
              </a:rPr>
              <a:t> des Zusammenhangs zwischen </a:t>
            </a:r>
            <a:r>
              <a:rPr lang="de-DE" sz="1400" b="1" dirty="0">
                <a:latin typeface="Helvetica" pitchFamily="2" charset="0"/>
              </a:rPr>
              <a:t>Unternehmensgrösse</a:t>
            </a:r>
            <a:r>
              <a:rPr lang="de-DE" sz="1400" dirty="0">
                <a:latin typeface="Helvetica" pitchFamily="2" charset="0"/>
              </a:rPr>
              <a:t> und </a:t>
            </a:r>
            <a:r>
              <a:rPr lang="de-DE" sz="1400" b="1" dirty="0">
                <a:latin typeface="Helvetica" pitchFamily="2" charset="0"/>
              </a:rPr>
              <a:t>Reifegrad</a:t>
            </a:r>
            <a:r>
              <a:rPr lang="de-DE" sz="1400" dirty="0">
                <a:latin typeface="Helvetica" pitchFamily="2" charset="0"/>
              </a:rPr>
              <a:t> der entwickelten  AI-Tools</a:t>
            </a:r>
          </a:p>
          <a:p>
            <a:pPr>
              <a:spcAft>
                <a:spcPts val="500"/>
              </a:spcAft>
            </a:pPr>
            <a:endParaRPr lang="de-DE" sz="1400" b="1" dirty="0">
              <a:latin typeface="Helvetica" pitchFamily="2" charset="0"/>
            </a:endParaRPr>
          </a:p>
          <a:p>
            <a:pPr>
              <a:spcAft>
                <a:spcPts val="500"/>
              </a:spcAft>
            </a:pPr>
            <a:r>
              <a:rPr lang="de-DE" sz="1400" b="1" dirty="0">
                <a:latin typeface="Helvetica" pitchFamily="2" charset="0"/>
              </a:rPr>
              <a:t>GenAI-Adoption</a:t>
            </a:r>
          </a:p>
          <a:p>
            <a:pPr marL="285750" indent="-285750">
              <a:spcAft>
                <a:spcPts val="800"/>
              </a:spcAft>
              <a:buFont typeface="Symbol" pitchFamily="2" charset="2"/>
              <a:buChar char="-"/>
            </a:pPr>
            <a:r>
              <a:rPr lang="de-CH" sz="1400" dirty="0">
                <a:latin typeface="Helvetica" pitchFamily="2" charset="0"/>
              </a:rPr>
              <a:t>Indikatoren für eine hohe </a:t>
            </a:r>
            <a:r>
              <a:rPr lang="de-CH" sz="1400" b="1" dirty="0">
                <a:latin typeface="Helvetica" pitchFamily="2" charset="0"/>
              </a:rPr>
              <a:t>Adoptionsrate</a:t>
            </a:r>
            <a:r>
              <a:rPr lang="de-CH" sz="1400" dirty="0">
                <a:latin typeface="Helvetica" pitchFamily="2" charset="0"/>
              </a:rPr>
              <a:t> sind </a:t>
            </a:r>
            <a:r>
              <a:rPr lang="de-CH" sz="1400" b="1" dirty="0">
                <a:latin typeface="Helvetica" pitchFamily="2" charset="0"/>
              </a:rPr>
              <a:t>Nutzungszufriedenheit</a:t>
            </a:r>
            <a:r>
              <a:rPr lang="de-CH" sz="1400" dirty="0">
                <a:latin typeface="Helvetica" pitchFamily="2" charset="0"/>
              </a:rPr>
              <a:t>, aktive </a:t>
            </a:r>
            <a:r>
              <a:rPr lang="de-CH" sz="1400" b="1" dirty="0">
                <a:latin typeface="Helvetica" pitchFamily="2" charset="0"/>
              </a:rPr>
              <a:t>Führungskraftunterstützung</a:t>
            </a:r>
            <a:r>
              <a:rPr lang="de-CH" sz="1400" dirty="0">
                <a:latin typeface="Helvetica" pitchFamily="2" charset="0"/>
              </a:rPr>
              <a:t> und klare </a:t>
            </a:r>
            <a:r>
              <a:rPr lang="de-CH" sz="1400" b="1" dirty="0">
                <a:latin typeface="Helvetica" pitchFamily="2" charset="0"/>
              </a:rPr>
              <a:t>Lernstrukturen</a:t>
            </a:r>
          </a:p>
          <a:p>
            <a:pPr marL="285750" indent="-285750">
              <a:spcAft>
                <a:spcPts val="800"/>
              </a:spcAft>
              <a:buFont typeface="Symbol" pitchFamily="2" charset="2"/>
              <a:buChar char="-"/>
            </a:pPr>
            <a:r>
              <a:rPr lang="de-CH" sz="1400" dirty="0">
                <a:latin typeface="Helvetica" pitchFamily="2" charset="0"/>
              </a:rPr>
              <a:t>Wie können diese </a:t>
            </a:r>
            <a:r>
              <a:rPr lang="de-CH" sz="1400" b="1" dirty="0">
                <a:latin typeface="Helvetica" pitchFamily="2" charset="0"/>
              </a:rPr>
              <a:t>Indikatoren</a:t>
            </a:r>
            <a:r>
              <a:rPr lang="de-CH" sz="1400" dirty="0">
                <a:latin typeface="Helvetica" pitchFamily="2" charset="0"/>
              </a:rPr>
              <a:t> bestmöglich genutzt werden ?</a:t>
            </a:r>
          </a:p>
        </p:txBody>
      </p:sp>
    </p:spTree>
    <p:extLst>
      <p:ext uri="{BB962C8B-B14F-4D97-AF65-F5344CB8AC3E}">
        <p14:creationId xmlns:p14="http://schemas.microsoft.com/office/powerpoint/2010/main" val="1660722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2877B"/>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6DCB1E-DAA1-9646-A44C-D42250D5EE09}"/>
              </a:ext>
            </a:extLst>
          </p:cNvPr>
          <p:cNvSpPr>
            <a:spLocks noGrp="1"/>
          </p:cNvSpPr>
          <p:nvPr>
            <p:ph type="title"/>
          </p:nvPr>
        </p:nvSpPr>
        <p:spPr>
          <a:xfrm>
            <a:off x="838200" y="2766218"/>
            <a:ext cx="10515600" cy="1325563"/>
          </a:xfrm>
        </p:spPr>
        <p:txBody>
          <a:bodyPr>
            <a:normAutofit/>
          </a:bodyPr>
          <a:lstStyle/>
          <a:p>
            <a:r>
              <a:rPr lang="de-DE" b="1" dirty="0">
                <a:solidFill>
                  <a:schemeClr val="bg1"/>
                </a:solidFill>
                <a:latin typeface="Helvetica" pitchFamily="2" charset="0"/>
              </a:rPr>
              <a:t>Ende Präsentation:</a:t>
            </a:r>
            <a:br>
              <a:rPr lang="de-DE" b="1" dirty="0">
                <a:solidFill>
                  <a:schemeClr val="bg1"/>
                </a:solidFill>
                <a:latin typeface="Helvetica" pitchFamily="2" charset="0"/>
              </a:rPr>
            </a:br>
            <a:r>
              <a:rPr lang="de-DE" sz="4000" dirty="0">
                <a:solidFill>
                  <a:schemeClr val="bg1"/>
                </a:solidFill>
                <a:latin typeface="Helvetica Light" panose="020B0403020202020204" pitchFamily="34" charset="0"/>
              </a:rPr>
              <a:t>Besten Dank für ihre Aufmerksamkeit !</a:t>
            </a:r>
            <a:endParaRPr lang="en-GB" dirty="0">
              <a:solidFill>
                <a:schemeClr val="bg1"/>
              </a:solidFill>
              <a:latin typeface="Helvetica Light" panose="020B0403020202020204" pitchFamily="34" charset="0"/>
            </a:endParaRPr>
          </a:p>
        </p:txBody>
      </p:sp>
      <p:pic>
        <p:nvPicPr>
          <p:cNvPr id="4" name="Grafik 3">
            <a:extLst>
              <a:ext uri="{FF2B5EF4-FFF2-40B4-BE49-F238E27FC236}">
                <a16:creationId xmlns:a16="http://schemas.microsoft.com/office/drawing/2014/main" id="{CFC31579-BBA7-5248-B57E-8FC2B4BCDE13}"/>
              </a:ext>
            </a:extLst>
          </p:cNvPr>
          <p:cNvPicPr>
            <a:picLocks noChangeAspect="1"/>
          </p:cNvPicPr>
          <p:nvPr/>
        </p:nvPicPr>
        <p:blipFill>
          <a:blip r:embed="rId2"/>
          <a:stretch>
            <a:fillRect/>
          </a:stretch>
        </p:blipFill>
        <p:spPr>
          <a:xfrm>
            <a:off x="8814829" y="578600"/>
            <a:ext cx="2425148" cy="943383"/>
          </a:xfrm>
          <a:prstGeom prst="rect">
            <a:avLst/>
          </a:prstGeom>
        </p:spPr>
      </p:pic>
    </p:spTree>
    <p:extLst>
      <p:ext uri="{BB962C8B-B14F-4D97-AF65-F5344CB8AC3E}">
        <p14:creationId xmlns:p14="http://schemas.microsoft.com/office/powerpoint/2010/main" val="2936130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2877B"/>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6DCB1E-DAA1-9646-A44C-D42250D5EE09}"/>
              </a:ext>
            </a:extLst>
          </p:cNvPr>
          <p:cNvSpPr>
            <a:spLocks noGrp="1"/>
          </p:cNvSpPr>
          <p:nvPr>
            <p:ph type="title"/>
          </p:nvPr>
        </p:nvSpPr>
        <p:spPr>
          <a:xfrm>
            <a:off x="838200" y="2318249"/>
            <a:ext cx="10515600" cy="1325563"/>
          </a:xfrm>
        </p:spPr>
        <p:txBody>
          <a:bodyPr/>
          <a:lstStyle/>
          <a:p>
            <a:r>
              <a:rPr lang="en-GB" b="1" dirty="0">
                <a:solidFill>
                  <a:schemeClr val="bg1"/>
                </a:solidFill>
                <a:latin typeface="Helvetica" pitchFamily="2" charset="0"/>
              </a:rPr>
              <a:t>Back Up Slides</a:t>
            </a:r>
          </a:p>
        </p:txBody>
      </p:sp>
      <p:pic>
        <p:nvPicPr>
          <p:cNvPr id="4" name="Grafik 3">
            <a:extLst>
              <a:ext uri="{FF2B5EF4-FFF2-40B4-BE49-F238E27FC236}">
                <a16:creationId xmlns:a16="http://schemas.microsoft.com/office/drawing/2014/main" id="{CFC31579-BBA7-5248-B57E-8FC2B4BCDE13}"/>
              </a:ext>
            </a:extLst>
          </p:cNvPr>
          <p:cNvPicPr>
            <a:picLocks noChangeAspect="1"/>
          </p:cNvPicPr>
          <p:nvPr/>
        </p:nvPicPr>
        <p:blipFill>
          <a:blip r:embed="rId2"/>
          <a:stretch>
            <a:fillRect/>
          </a:stretch>
        </p:blipFill>
        <p:spPr>
          <a:xfrm>
            <a:off x="8814829" y="578600"/>
            <a:ext cx="2425148" cy="943383"/>
          </a:xfrm>
          <a:prstGeom prst="rect">
            <a:avLst/>
          </a:prstGeom>
        </p:spPr>
      </p:pic>
    </p:spTree>
    <p:extLst>
      <p:ext uri="{BB962C8B-B14F-4D97-AF65-F5344CB8AC3E}">
        <p14:creationId xmlns:p14="http://schemas.microsoft.com/office/powerpoint/2010/main" val="1205967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641162BB-9502-7C44-B360-DC539F33D760}"/>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11" name="Titel 1">
            <a:extLst>
              <a:ext uri="{FF2B5EF4-FFF2-40B4-BE49-F238E27FC236}">
                <a16:creationId xmlns:a16="http://schemas.microsoft.com/office/drawing/2014/main" id="{7F4684AD-818D-0342-B2FC-2C1778BCB8C4}"/>
              </a:ext>
            </a:extLst>
          </p:cNvPr>
          <p:cNvSpPr txBox="1">
            <a:spLocks/>
          </p:cNvSpPr>
          <p:nvPr/>
        </p:nvSpPr>
        <p:spPr>
          <a:xfrm>
            <a:off x="574963" y="444610"/>
            <a:ext cx="10515600" cy="94312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400" dirty="0">
                <a:latin typeface="Helvetica" pitchFamily="2" charset="0"/>
              </a:rPr>
              <a:t>Ausgewählte Referenzen</a:t>
            </a:r>
            <a:br>
              <a:rPr lang="de-DE" sz="2400" dirty="0">
                <a:latin typeface="Helvetica" pitchFamily="2" charset="0"/>
              </a:rPr>
            </a:br>
            <a:r>
              <a:rPr lang="de-DE" sz="2200" dirty="0">
                <a:latin typeface="Helvetica Light" panose="020B0403020202020204" pitchFamily="34" charset="0"/>
              </a:rPr>
              <a:t>(1/2)</a:t>
            </a:r>
            <a:br>
              <a:rPr lang="de-DE" sz="2400" dirty="0">
                <a:latin typeface="Helvetica" pitchFamily="2" charset="0"/>
              </a:rPr>
            </a:br>
            <a:endParaRPr lang="de-DE" sz="2400" dirty="0">
              <a:latin typeface="Helvetica" pitchFamily="2" charset="0"/>
            </a:endParaRPr>
          </a:p>
        </p:txBody>
      </p:sp>
      <p:sp>
        <p:nvSpPr>
          <p:cNvPr id="14" name="Textfeld 13">
            <a:extLst>
              <a:ext uri="{FF2B5EF4-FFF2-40B4-BE49-F238E27FC236}">
                <a16:creationId xmlns:a16="http://schemas.microsoft.com/office/drawing/2014/main" id="{1DFFD1D7-AF38-5645-AA39-FC3FC276D600}"/>
              </a:ext>
            </a:extLst>
          </p:cNvPr>
          <p:cNvSpPr txBox="1"/>
          <p:nvPr/>
        </p:nvSpPr>
        <p:spPr>
          <a:xfrm>
            <a:off x="698809" y="1610946"/>
            <a:ext cx="10391754" cy="4462760"/>
          </a:xfrm>
          <a:prstGeom prst="rect">
            <a:avLst/>
          </a:prstGeom>
          <a:noFill/>
        </p:spPr>
        <p:txBody>
          <a:bodyPr wrap="square" rtlCol="0">
            <a:spAutoFit/>
          </a:bodyPr>
          <a:lstStyle/>
          <a:p>
            <a:r>
              <a:rPr lang="de-DE" sz="1500" dirty="0">
                <a:latin typeface="Helvetica" pitchFamily="2" charset="0"/>
              </a:rPr>
              <a:t>Amazon. (2025). </a:t>
            </a:r>
            <a:r>
              <a:rPr lang="de-DE" sz="1500" i="1" dirty="0">
                <a:latin typeface="Helvetica" pitchFamily="2" charset="0"/>
              </a:rPr>
              <a:t>Was sind strukturierte Daten? Strukturierte Daten erklärt – AWS</a:t>
            </a:r>
            <a:r>
              <a:rPr lang="de-DE" sz="1500" dirty="0">
                <a:latin typeface="Helvetica" pitchFamily="2" charset="0"/>
              </a:rPr>
              <a:t>. </a:t>
            </a:r>
          </a:p>
          <a:p>
            <a:r>
              <a:rPr lang="de-DE" sz="1500" dirty="0">
                <a:latin typeface="Helvetica" pitchFamily="2" charset="0"/>
              </a:rPr>
              <a:t>	Amazon Web Services, Inc. </a:t>
            </a:r>
            <a:r>
              <a:rPr lang="de-DE" sz="1500" dirty="0">
                <a:latin typeface="Helvetica" pitchFamily="2" charset="0"/>
                <a:hlinkClick r:id="rId3"/>
              </a:rPr>
              <a:t>https://aws.amazon.com/de/what-is/structured-data/</a:t>
            </a:r>
            <a:r>
              <a:rPr lang="de-DE" sz="1500" dirty="0">
                <a:latin typeface="Helvetica" pitchFamily="2" charset="0"/>
              </a:rPr>
              <a:t> </a:t>
            </a:r>
            <a:endParaRPr lang="de-CH" sz="1500" dirty="0">
              <a:latin typeface="Helvetica" pitchFamily="2" charset="0"/>
            </a:endParaRPr>
          </a:p>
          <a:p>
            <a:endParaRPr lang="de-DE" sz="1500" noProof="1">
              <a:latin typeface="Helvetica" pitchFamily="2" charset="0"/>
            </a:endParaRPr>
          </a:p>
          <a:p>
            <a:r>
              <a:rPr lang="de-DE" sz="1500" noProof="1">
                <a:latin typeface="Helvetica" pitchFamily="2" charset="0"/>
              </a:rPr>
              <a:t>Appini, S. (2025, November 7). </a:t>
            </a:r>
            <a:r>
              <a:rPr lang="de-DE" sz="1500" i="1" noProof="1">
                <a:latin typeface="Helvetica" pitchFamily="2" charset="0"/>
              </a:rPr>
              <a:t>How to Choose the Right LLM for Your Projects: A Guide to Effective Model 	</a:t>
            </a:r>
          </a:p>
          <a:p>
            <a:r>
              <a:rPr lang="de-DE" sz="1500" i="1" noProof="1">
                <a:latin typeface="Helvetica" pitchFamily="2" charset="0"/>
              </a:rPr>
              <a:t>	Benchmarking</a:t>
            </a:r>
            <a:r>
              <a:rPr lang="de-DE" sz="1500" noProof="1">
                <a:latin typeface="Helvetica" pitchFamily="2" charset="0"/>
              </a:rPr>
              <a:t>. freeCodeCamp.Org. </a:t>
            </a:r>
          </a:p>
          <a:p>
            <a:r>
              <a:rPr lang="de-DE" sz="1500" noProof="1">
                <a:latin typeface="Helvetica" pitchFamily="2" charset="0"/>
              </a:rPr>
              <a:t>	</a:t>
            </a:r>
            <a:r>
              <a:rPr lang="de-DE" sz="1500" noProof="1">
                <a:latin typeface="Helvetica" pitchFamily="2" charset="0"/>
                <a:hlinkClick r:id="rId4"/>
              </a:rPr>
              <a:t>https://www.freecodecamp.org/news/choose-the-right-llm-for-your-projects-benchmarking-guide/</a:t>
            </a:r>
            <a:endParaRPr lang="de-CH" sz="1500" noProof="1">
              <a:latin typeface="Helvetica" pitchFamily="2" charset="0"/>
            </a:endParaRPr>
          </a:p>
          <a:p>
            <a:endParaRPr lang="de-DE" sz="1500" noProof="1">
              <a:latin typeface="Helvetica" pitchFamily="2" charset="0"/>
            </a:endParaRPr>
          </a:p>
          <a:p>
            <a:r>
              <a:rPr lang="de-DE" sz="1500" noProof="1">
                <a:latin typeface="Helvetica" pitchFamily="2" charset="0"/>
              </a:rPr>
              <a:t>Caballar Diane, R., &amp; Stryker, C. (2024, June 25). </a:t>
            </a:r>
            <a:r>
              <a:rPr lang="de-DE" sz="1500" i="1" noProof="1">
                <a:latin typeface="Helvetica" pitchFamily="2" charset="0"/>
              </a:rPr>
              <a:t>Was sind LLM-Benchmarks? | IBM</a:t>
            </a:r>
            <a:r>
              <a:rPr lang="de-DE" sz="1500" noProof="1">
                <a:latin typeface="Helvetica" pitchFamily="2" charset="0"/>
              </a:rPr>
              <a:t>. </a:t>
            </a:r>
          </a:p>
          <a:p>
            <a:r>
              <a:rPr lang="de-DE" sz="1500" noProof="1">
                <a:latin typeface="Helvetica" pitchFamily="2" charset="0"/>
              </a:rPr>
              <a:t>	IBM. </a:t>
            </a:r>
            <a:r>
              <a:rPr lang="de-DE" sz="1500" noProof="1">
                <a:latin typeface="Helvetica" pitchFamily="2" charset="0"/>
                <a:hlinkClick r:id="rId5"/>
              </a:rPr>
              <a:t>https://www.ibm.com/de/think/topics/llm-benchmarks</a:t>
            </a:r>
            <a:endParaRPr lang="de-DE" sz="1500" noProof="1">
              <a:latin typeface="Helvetica" pitchFamily="2" charset="0"/>
            </a:endParaRPr>
          </a:p>
          <a:p>
            <a:endParaRPr lang="de-DE" sz="1500" noProof="1">
              <a:latin typeface="Helvetica" pitchFamily="2" charset="0"/>
            </a:endParaRPr>
          </a:p>
          <a:p>
            <a:r>
              <a:rPr lang="de-DE" sz="1500" noProof="1">
                <a:latin typeface="Helvetica" pitchFamily="2" charset="0"/>
              </a:rPr>
              <a:t>Databricks. (2024, May 30). </a:t>
            </a:r>
            <a:r>
              <a:rPr lang="de-DE" sz="1500" i="1" noProof="1">
                <a:latin typeface="Helvetica" pitchFamily="2" charset="0"/>
              </a:rPr>
              <a:t>A Compact Guide to Retrieval Augmented Generation (RAG)</a:t>
            </a:r>
            <a:r>
              <a:rPr lang="de-DE" sz="1500" noProof="1">
                <a:latin typeface="Helvetica" pitchFamily="2" charset="0"/>
              </a:rPr>
              <a:t>. Databricks. 	</a:t>
            </a:r>
            <a:r>
              <a:rPr lang="de-DE" sz="1500" noProof="1">
                <a:latin typeface="Helvetica" pitchFamily="2" charset="0"/>
                <a:hlinkClick r:id="rId6"/>
              </a:rPr>
              <a:t>https://www.databricks.com/resources/ebook/train-llms-your-data</a:t>
            </a:r>
            <a:endParaRPr lang="de-DE" sz="1500" noProof="1">
              <a:latin typeface="Helvetica" pitchFamily="2" charset="0"/>
            </a:endParaRPr>
          </a:p>
          <a:p>
            <a:endParaRPr lang="de-DE" sz="1500" noProof="1">
              <a:latin typeface="Helvetica" pitchFamily="2" charset="0"/>
            </a:endParaRPr>
          </a:p>
          <a:p>
            <a:r>
              <a:rPr lang="de-DE" sz="1500" noProof="1">
                <a:latin typeface="Helvetica" pitchFamily="2" charset="0"/>
              </a:rPr>
              <a:t>IBM. (2025a, February 7). </a:t>
            </a:r>
            <a:r>
              <a:rPr lang="de-DE" sz="1500" i="1" noProof="1">
                <a:latin typeface="Helvetica" pitchFamily="2" charset="0"/>
              </a:rPr>
              <a:t>Structured vs. Unstructured Data: What’s the Difference? | IBM</a:t>
            </a:r>
            <a:r>
              <a:rPr lang="de-DE" sz="1500" noProof="1">
                <a:latin typeface="Helvetica" pitchFamily="2" charset="0"/>
              </a:rPr>
              <a:t>. 	</a:t>
            </a:r>
            <a:r>
              <a:rPr lang="de-DE" sz="1500" noProof="1">
                <a:latin typeface="Helvetica" pitchFamily="2" charset="0"/>
                <a:hlinkClick r:id="rId7"/>
              </a:rPr>
              <a:t>https://www.ibm.com/think/topics/structured-vs-unstructured-data</a:t>
            </a:r>
            <a:endParaRPr lang="de-DE" sz="1500" noProof="1">
              <a:latin typeface="Helvetica" pitchFamily="2" charset="0"/>
            </a:endParaRPr>
          </a:p>
          <a:p>
            <a:endParaRPr lang="de-DE" sz="1500" noProof="1">
              <a:latin typeface="Helvetica" pitchFamily="2" charset="0"/>
            </a:endParaRPr>
          </a:p>
          <a:p>
            <a:r>
              <a:rPr lang="de-DE" sz="1500" noProof="1">
                <a:latin typeface="Helvetica" pitchFamily="2" charset="0"/>
              </a:rPr>
              <a:t>Lovich, D., Bedard, J., Kropp, M., &amp; Taylor, C. (2025, August 5). </a:t>
            </a:r>
            <a:r>
              <a:rPr lang="de-DE" sz="1500" i="1" noProof="1">
                <a:latin typeface="Helvetica" pitchFamily="2" charset="0"/>
              </a:rPr>
              <a:t>GenAI Adoption Is Hard. Radical Employee Centricity 	</a:t>
            </a:r>
          </a:p>
          <a:p>
            <a:r>
              <a:rPr lang="de-DE" sz="1500" i="1" noProof="1">
                <a:latin typeface="Helvetica" pitchFamily="2" charset="0"/>
              </a:rPr>
              <a:t>	Can Help</a:t>
            </a:r>
            <a:r>
              <a:rPr lang="de-DE" sz="1500" noProof="1">
                <a:latin typeface="Helvetica" pitchFamily="2" charset="0"/>
              </a:rPr>
              <a:t>. BCG Global.</a:t>
            </a:r>
            <a:r>
              <a:rPr lang="de-DE" sz="1500" noProof="1">
                <a:latin typeface="Helvetica" pitchFamily="2" charset="0"/>
                <a:hlinkClick r:id="rId8"/>
              </a:rPr>
              <a:t> https://www.bcg.com/publications/2025/genai-employee-experience- transformation</a:t>
            </a:r>
            <a:endParaRPr lang="de-CH" sz="1500" noProof="1">
              <a:latin typeface="Helvetica" pitchFamily="2" charset="0"/>
            </a:endParaRPr>
          </a:p>
          <a:p>
            <a:endParaRPr lang="de-DE" sz="1400" noProof="1"/>
          </a:p>
        </p:txBody>
      </p:sp>
    </p:spTree>
    <p:extLst>
      <p:ext uri="{BB962C8B-B14F-4D97-AF65-F5344CB8AC3E}">
        <p14:creationId xmlns:p14="http://schemas.microsoft.com/office/powerpoint/2010/main" val="3729340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F640DC4-D65A-0D49-9CEC-A42305462DF8}"/>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8" name="Titel 1">
            <a:extLst>
              <a:ext uri="{FF2B5EF4-FFF2-40B4-BE49-F238E27FC236}">
                <a16:creationId xmlns:a16="http://schemas.microsoft.com/office/drawing/2014/main" id="{5ACF868F-935B-D94D-AD2B-022FBC95D19C}"/>
              </a:ext>
            </a:extLst>
          </p:cNvPr>
          <p:cNvSpPr txBox="1">
            <a:spLocks/>
          </p:cNvSpPr>
          <p:nvPr/>
        </p:nvSpPr>
        <p:spPr>
          <a:xfrm>
            <a:off x="574963" y="444610"/>
            <a:ext cx="10515600" cy="94312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400" dirty="0">
                <a:latin typeface="Helvetica" pitchFamily="2" charset="0"/>
              </a:rPr>
              <a:t>Ausgewählte Referenzen</a:t>
            </a:r>
            <a:br>
              <a:rPr lang="de-DE" sz="2400" dirty="0">
                <a:latin typeface="Helvetica" pitchFamily="2" charset="0"/>
              </a:rPr>
            </a:br>
            <a:r>
              <a:rPr lang="de-DE" sz="2200" dirty="0">
                <a:latin typeface="Helvetica Light" panose="020B0403020202020204" pitchFamily="34" charset="0"/>
              </a:rPr>
              <a:t>(2/2)</a:t>
            </a:r>
            <a:br>
              <a:rPr lang="de-DE" sz="2400" dirty="0">
                <a:latin typeface="Helvetica" pitchFamily="2" charset="0"/>
              </a:rPr>
            </a:br>
            <a:endParaRPr lang="de-DE" sz="2400" dirty="0">
              <a:latin typeface="Helvetica" pitchFamily="2" charset="0"/>
            </a:endParaRPr>
          </a:p>
        </p:txBody>
      </p:sp>
      <p:sp>
        <p:nvSpPr>
          <p:cNvPr id="11" name="Textfeld 10">
            <a:extLst>
              <a:ext uri="{FF2B5EF4-FFF2-40B4-BE49-F238E27FC236}">
                <a16:creationId xmlns:a16="http://schemas.microsoft.com/office/drawing/2014/main" id="{4BA3BAC5-06EC-2842-9FDD-84E206D17595}"/>
              </a:ext>
            </a:extLst>
          </p:cNvPr>
          <p:cNvSpPr txBox="1"/>
          <p:nvPr/>
        </p:nvSpPr>
        <p:spPr>
          <a:xfrm>
            <a:off x="698809" y="1610946"/>
            <a:ext cx="10794381" cy="4062651"/>
          </a:xfrm>
          <a:prstGeom prst="rect">
            <a:avLst/>
          </a:prstGeom>
          <a:noFill/>
        </p:spPr>
        <p:txBody>
          <a:bodyPr wrap="square" rtlCol="0">
            <a:spAutoFit/>
          </a:bodyPr>
          <a:lstStyle/>
          <a:p>
            <a:r>
              <a:rPr lang="de-DE" sz="1500" noProof="1">
                <a:latin typeface="Helvetica" pitchFamily="2" charset="0"/>
              </a:rPr>
              <a:t>Meade Cleti, &amp; Jano, P. (2024). </a:t>
            </a:r>
            <a:r>
              <a:rPr lang="de-DE" sz="1500" i="1" noProof="1">
                <a:latin typeface="Helvetica" pitchFamily="2" charset="0"/>
              </a:rPr>
              <a:t>Hallucinations in LLMs: Types, Causes, and Approaches for Enhanced Reliability</a:t>
            </a:r>
            <a:r>
              <a:rPr lang="de-DE" sz="1500" noProof="1">
                <a:latin typeface="Helvetica" pitchFamily="2" charset="0"/>
              </a:rPr>
              <a:t>. 	</a:t>
            </a:r>
            <a:r>
              <a:rPr lang="de-DE" sz="1500" dirty="0">
                <a:latin typeface="Helvetica" pitchFamily="2" charset="0"/>
                <a:hlinkClick r:id="rId3"/>
              </a:rPr>
              <a:t>https://doi.org/10.13140/RG.2.2.12184.61445</a:t>
            </a:r>
            <a:r>
              <a:rPr lang="de-CH" sz="1500" dirty="0">
                <a:latin typeface="Helvetica" pitchFamily="2" charset="0"/>
                <a:hlinkClick r:id="rId3"/>
              </a:rPr>
              <a:t> </a:t>
            </a:r>
            <a:r>
              <a:rPr lang="de-DE" sz="1500" noProof="1">
                <a:latin typeface="Helvetica" pitchFamily="2" charset="0"/>
                <a:hlinkClick r:id="rId3"/>
              </a:rPr>
              <a:t>  </a:t>
            </a:r>
            <a:endParaRPr lang="de-DE" sz="1500" noProof="1">
              <a:latin typeface="Helvetica" pitchFamily="2" charset="0"/>
            </a:endParaRPr>
          </a:p>
          <a:p>
            <a:endParaRPr lang="de-DE" sz="1500" noProof="1">
              <a:latin typeface="Helvetica" pitchFamily="2" charset="0"/>
            </a:endParaRPr>
          </a:p>
          <a:p>
            <a:r>
              <a:rPr lang="de-DE" sz="1500" noProof="1">
                <a:latin typeface="Helvetica" pitchFamily="2" charset="0"/>
              </a:rPr>
              <a:t>Python. (2025b, December 15). </a:t>
            </a:r>
            <a:r>
              <a:rPr lang="de-DE" sz="1500" i="1" noProof="1">
                <a:latin typeface="Helvetica" pitchFamily="2" charset="0"/>
              </a:rPr>
              <a:t>threading—Thread-based parallelism</a:t>
            </a:r>
            <a:r>
              <a:rPr lang="de-DE" sz="1500" noProof="1">
                <a:latin typeface="Helvetica" pitchFamily="2" charset="0"/>
              </a:rPr>
              <a:t>. Python Documentation. 	</a:t>
            </a:r>
            <a:r>
              <a:rPr lang="de-DE" sz="1500" noProof="1">
                <a:latin typeface="Helvetica" pitchFamily="2" charset="0"/>
                <a:hlinkClick r:id="rId4"/>
              </a:rPr>
              <a:t>https://docs.python.org/3/library/threading.html</a:t>
            </a:r>
            <a:endParaRPr lang="de-DE" sz="1500" noProof="1">
              <a:latin typeface="Helvetica" pitchFamily="2" charset="0"/>
            </a:endParaRPr>
          </a:p>
          <a:p>
            <a:endParaRPr lang="de-DE" sz="1500" noProof="1">
              <a:latin typeface="Helvetica" pitchFamily="2" charset="0"/>
            </a:endParaRPr>
          </a:p>
          <a:p>
            <a:r>
              <a:rPr lang="de-DE" sz="1500" noProof="1">
                <a:latin typeface="Helvetica" pitchFamily="2" charset="0"/>
              </a:rPr>
              <a:t>Rojo-Echeburúa, A. (2025, November 7). </a:t>
            </a:r>
            <a:r>
              <a:rPr lang="de-DE" sz="1500" i="1" noProof="1">
                <a:latin typeface="Helvetica" pitchFamily="2" charset="0"/>
              </a:rPr>
              <a:t>LLM Leaderboard: Which LLMs are Best for Which Tasks?</a:t>
            </a:r>
            <a:r>
              <a:rPr lang="de-DE" sz="1500" noProof="1">
                <a:latin typeface="Helvetica" pitchFamily="2" charset="0"/>
              </a:rPr>
              <a:t> 	</a:t>
            </a:r>
          </a:p>
          <a:p>
            <a:r>
              <a:rPr lang="de-DE" sz="1500" noProof="1">
                <a:latin typeface="Helvetica" pitchFamily="2" charset="0"/>
              </a:rPr>
              <a:t>	</a:t>
            </a:r>
            <a:r>
              <a:rPr lang="de-DE" sz="1500" noProof="1">
                <a:latin typeface="Helvetica" pitchFamily="2" charset="0"/>
                <a:hlinkClick r:id="rId5"/>
              </a:rPr>
              <a:t>https://www.stack-ai.com/blog/llm-leaderboard-which-llms-are-best-for-which-tasks</a:t>
            </a:r>
            <a:endParaRPr lang="de-DE" sz="1500" noProof="1">
              <a:latin typeface="Helvetica" pitchFamily="2" charset="0"/>
            </a:endParaRPr>
          </a:p>
          <a:p>
            <a:endParaRPr lang="de-DE" sz="1500" noProof="1">
              <a:latin typeface="Helvetica" pitchFamily="2" charset="0"/>
            </a:endParaRPr>
          </a:p>
          <a:p>
            <a:r>
              <a:rPr lang="de-DE" sz="1500" noProof="1">
                <a:latin typeface="Helvetica" pitchFamily="2" charset="0"/>
              </a:rPr>
              <a:t>Rosidi, N. (2023, September 6). </a:t>
            </a:r>
            <a:r>
              <a:rPr lang="de-DE" sz="1500" i="1" noProof="1">
                <a:latin typeface="Helvetica" pitchFamily="2" charset="0"/>
              </a:rPr>
              <a:t>Python Threading Like a Pro</a:t>
            </a:r>
            <a:r>
              <a:rPr lang="de-DE" sz="1500" noProof="1">
                <a:latin typeface="Helvetica" pitchFamily="2" charset="0"/>
              </a:rPr>
              <a:t>.</a:t>
            </a:r>
          </a:p>
          <a:p>
            <a:r>
              <a:rPr lang="de-DE" sz="1500" noProof="1">
                <a:latin typeface="Helvetica" pitchFamily="2" charset="0"/>
              </a:rPr>
              <a:t>	 </a:t>
            </a:r>
            <a:r>
              <a:rPr lang="de-DE" sz="1500" noProof="1">
                <a:latin typeface="Helvetica" pitchFamily="2" charset="0"/>
                <a:hlinkClick r:id="rId6"/>
              </a:rPr>
              <a:t>https://www.stratascratch.com/blog/python-threading-like-a-pro/</a:t>
            </a:r>
            <a:endParaRPr lang="de-DE" sz="1500" noProof="1">
              <a:latin typeface="Helvetica" pitchFamily="2" charset="0"/>
            </a:endParaRPr>
          </a:p>
          <a:p>
            <a:endParaRPr lang="de-DE" sz="1500" noProof="1">
              <a:latin typeface="Helvetica" pitchFamily="2" charset="0"/>
            </a:endParaRPr>
          </a:p>
          <a:p>
            <a:r>
              <a:rPr lang="de-DE" sz="1500" noProof="1">
                <a:latin typeface="Helvetica" pitchFamily="2" charset="0"/>
              </a:rPr>
              <a:t>Vellum. (2025, November 25). </a:t>
            </a:r>
            <a:r>
              <a:rPr lang="de-DE" sz="1500" i="1" noProof="1">
                <a:latin typeface="Helvetica" pitchFamily="2" charset="0"/>
              </a:rPr>
              <a:t>LLM Leaderboard 2025</a:t>
            </a:r>
            <a:r>
              <a:rPr lang="de-DE" sz="1500" noProof="1">
                <a:latin typeface="Helvetica" pitchFamily="2" charset="0"/>
              </a:rPr>
              <a:t>. Vellum. </a:t>
            </a:r>
            <a:r>
              <a:rPr lang="de-DE" sz="1500" noProof="1">
                <a:latin typeface="Helvetica" pitchFamily="2" charset="0"/>
                <a:hlinkClick r:id="rId7"/>
              </a:rPr>
              <a:t>https://www.vellum.ai/llm-leaderboard</a:t>
            </a:r>
            <a:endParaRPr lang="de-DE" sz="1500" noProof="1">
              <a:latin typeface="Helvetica" pitchFamily="2" charset="0"/>
            </a:endParaRPr>
          </a:p>
          <a:p>
            <a:endParaRPr lang="de-DE" sz="1500" noProof="1">
              <a:latin typeface="Helvetica" pitchFamily="2" charset="0"/>
            </a:endParaRPr>
          </a:p>
          <a:p>
            <a:r>
              <a:rPr lang="de-DE" sz="1500" noProof="1">
                <a:latin typeface="Helvetica" pitchFamily="2" charset="0"/>
              </a:rPr>
              <a:t>Waja, G., Shah, J., &amp; Nanavati, P. (2021). AGILE SOFTWARE DEVELOPMENT. </a:t>
            </a:r>
            <a:r>
              <a:rPr lang="de-DE" sz="1500" i="1" noProof="1">
                <a:latin typeface="Helvetica" pitchFamily="2" charset="0"/>
              </a:rPr>
              <a:t>International Journal of Engineering 	Applied Sciences and Technology</a:t>
            </a:r>
            <a:r>
              <a:rPr lang="de-DE" sz="1500" noProof="1">
                <a:latin typeface="Helvetica" pitchFamily="2" charset="0"/>
              </a:rPr>
              <a:t>, </a:t>
            </a:r>
            <a:r>
              <a:rPr lang="de-DE" sz="1500" i="1" noProof="1">
                <a:latin typeface="Helvetica" pitchFamily="2" charset="0"/>
              </a:rPr>
              <a:t>5</a:t>
            </a:r>
            <a:r>
              <a:rPr lang="de-DE" sz="1500" noProof="1">
                <a:latin typeface="Helvetica" pitchFamily="2" charset="0"/>
              </a:rPr>
              <a:t>(12). </a:t>
            </a:r>
            <a:r>
              <a:rPr lang="de-DE" sz="1500" noProof="1">
                <a:latin typeface="Helvetica" pitchFamily="2" charset="0"/>
                <a:hlinkClick r:id="rId8"/>
              </a:rPr>
              <a:t>https://doi.org/10.33564/IJEAST.2021.v05i12.011</a:t>
            </a:r>
            <a:endParaRPr lang="de-CH" sz="1500" noProof="1">
              <a:latin typeface="Helvetica" pitchFamily="2" charset="0"/>
            </a:endParaRPr>
          </a:p>
          <a:p>
            <a:endParaRPr lang="de-CH" dirty="0"/>
          </a:p>
        </p:txBody>
      </p:sp>
    </p:spTree>
    <p:extLst>
      <p:ext uri="{BB962C8B-B14F-4D97-AF65-F5344CB8AC3E}">
        <p14:creationId xmlns:p14="http://schemas.microsoft.com/office/powerpoint/2010/main" val="32697282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
        <p:cNvGrpSpPr/>
        <p:nvPr/>
      </p:nvGrpSpPr>
      <p:grpSpPr>
        <a:xfrm>
          <a:off x="0" y="0"/>
          <a:ext cx="0" cy="0"/>
          <a:chOff x="0" y="0"/>
          <a:chExt cx="0" cy="0"/>
        </a:xfrm>
      </p:grpSpPr>
      <p:pic>
        <p:nvPicPr>
          <p:cNvPr id="7" name="Grafik 6" descr="Ein Bild, das Screenshot, Text, Diagramm, Schrift enthält.&#10;&#10;Automatisch generierte Beschreibung">
            <a:extLst>
              <a:ext uri="{FF2B5EF4-FFF2-40B4-BE49-F238E27FC236}">
                <a16:creationId xmlns:a16="http://schemas.microsoft.com/office/drawing/2014/main" id="{DAD8D82D-E3A4-A74F-B630-812F8C8D5CB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814946" y="1387737"/>
            <a:ext cx="8054892" cy="5151175"/>
          </a:xfrm>
          <a:prstGeom prst="rect">
            <a:avLst/>
          </a:prstGeom>
        </p:spPr>
      </p:pic>
      <p:sp>
        <p:nvSpPr>
          <p:cNvPr id="8" name="Rechteck 7">
            <a:extLst>
              <a:ext uri="{FF2B5EF4-FFF2-40B4-BE49-F238E27FC236}">
                <a16:creationId xmlns:a16="http://schemas.microsoft.com/office/drawing/2014/main" id="{387B1A47-DA00-7C4E-887A-820C83DBD3C9}"/>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10" name="Titel 1">
            <a:extLst>
              <a:ext uri="{FF2B5EF4-FFF2-40B4-BE49-F238E27FC236}">
                <a16:creationId xmlns:a16="http://schemas.microsoft.com/office/drawing/2014/main" id="{6769FCBD-B620-B24D-B0A7-0FF2497D9F27}"/>
              </a:ext>
            </a:extLst>
          </p:cNvPr>
          <p:cNvSpPr txBox="1">
            <a:spLocks/>
          </p:cNvSpPr>
          <p:nvPr/>
        </p:nvSpPr>
        <p:spPr>
          <a:xfrm>
            <a:off x="574963" y="444610"/>
            <a:ext cx="10515600" cy="94312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400" dirty="0">
                <a:latin typeface="Helvetica" pitchFamily="2" charset="0"/>
              </a:rPr>
              <a:t>Knowledge Management System</a:t>
            </a:r>
            <a:br>
              <a:rPr lang="de-DE" sz="2400" dirty="0">
                <a:latin typeface="Helvetica" pitchFamily="2" charset="0"/>
              </a:rPr>
            </a:br>
            <a:r>
              <a:rPr lang="de-DE" sz="2200" dirty="0">
                <a:latin typeface="Helvetica Light" panose="020B0403020202020204" pitchFamily="34" charset="0"/>
              </a:rPr>
              <a:t>Grundprinzip</a:t>
            </a:r>
            <a:br>
              <a:rPr lang="de-DE" sz="2400" dirty="0">
                <a:latin typeface="Helvetica" pitchFamily="2" charset="0"/>
              </a:rPr>
            </a:br>
            <a:endParaRPr lang="de-DE" sz="2400" dirty="0">
              <a:latin typeface="Helvetica" pitchFamily="2" charset="0"/>
            </a:endParaRPr>
          </a:p>
        </p:txBody>
      </p:sp>
    </p:spTree>
    <p:extLst>
      <p:ext uri="{BB962C8B-B14F-4D97-AF65-F5344CB8AC3E}">
        <p14:creationId xmlns:p14="http://schemas.microsoft.com/office/powerpoint/2010/main" val="3275173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fik 11" descr="Ein Bild, das Text, Screenshot, Schrift, Diagramm enthält.&#10;&#10;Automatisch generierte Beschreibung">
            <a:extLst>
              <a:ext uri="{FF2B5EF4-FFF2-40B4-BE49-F238E27FC236}">
                <a16:creationId xmlns:a16="http://schemas.microsoft.com/office/drawing/2014/main" id="{9F44FFD8-EA35-3741-9C94-EF59EBEDC721}"/>
              </a:ext>
            </a:extLst>
          </p:cNvPr>
          <p:cNvPicPr/>
          <p:nvPr/>
        </p:nvPicPr>
        <p:blipFill rotWithShape="1">
          <a:blip r:embed="rId3" cstate="print">
            <a:extLst>
              <a:ext uri="{28A0092B-C50C-407E-A947-70E740481C1C}">
                <a14:useLocalDpi xmlns:a14="http://schemas.microsoft.com/office/drawing/2010/main" val="0"/>
              </a:ext>
            </a:extLst>
          </a:blip>
          <a:srcRect l="2164" t="2600" r="1797" b="2666"/>
          <a:stretch/>
        </p:blipFill>
        <p:spPr bwMode="auto">
          <a:xfrm>
            <a:off x="3048547" y="1596418"/>
            <a:ext cx="6485097" cy="4816972"/>
          </a:xfrm>
          <a:prstGeom prst="rect">
            <a:avLst/>
          </a:prstGeom>
          <a:ln>
            <a:noFill/>
          </a:ln>
          <a:extLst>
            <a:ext uri="{53640926-AAD7-44D8-BBD7-CCE9431645EC}">
              <a14:shadowObscured xmlns:a14="http://schemas.microsoft.com/office/drawing/2010/main"/>
            </a:ext>
          </a:extLst>
        </p:spPr>
      </p:pic>
      <p:sp>
        <p:nvSpPr>
          <p:cNvPr id="13" name="Rechteck 12">
            <a:extLst>
              <a:ext uri="{FF2B5EF4-FFF2-40B4-BE49-F238E27FC236}">
                <a16:creationId xmlns:a16="http://schemas.microsoft.com/office/drawing/2014/main" id="{D316A530-22D9-4A4B-AC01-F88F00113AB2}"/>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14" name="Titel 1">
            <a:extLst>
              <a:ext uri="{FF2B5EF4-FFF2-40B4-BE49-F238E27FC236}">
                <a16:creationId xmlns:a16="http://schemas.microsoft.com/office/drawing/2014/main" id="{CCE2A92E-0C1E-A54A-9CCB-3DBF08A8651C}"/>
              </a:ext>
            </a:extLst>
          </p:cNvPr>
          <p:cNvSpPr txBox="1">
            <a:spLocks/>
          </p:cNvSpPr>
          <p:nvPr/>
        </p:nvSpPr>
        <p:spPr>
          <a:xfrm>
            <a:off x="574963" y="444610"/>
            <a:ext cx="10515600" cy="94312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400" dirty="0">
                <a:latin typeface="Helvetica" pitchFamily="2" charset="0"/>
              </a:rPr>
              <a:t>Data GPTeal</a:t>
            </a:r>
            <a:br>
              <a:rPr lang="de-DE" sz="2400" dirty="0">
                <a:latin typeface="Helvetica" pitchFamily="2" charset="0"/>
              </a:rPr>
            </a:br>
            <a:r>
              <a:rPr lang="de-DE" sz="2200" dirty="0">
                <a:latin typeface="Helvetica Light" panose="020B0403020202020204" pitchFamily="34" charset="0"/>
              </a:rPr>
              <a:t>Grundprinzip</a:t>
            </a:r>
            <a:br>
              <a:rPr lang="de-DE" sz="2400" dirty="0">
                <a:latin typeface="Helvetica" pitchFamily="2" charset="0"/>
              </a:rPr>
            </a:br>
            <a:endParaRPr lang="de-DE" sz="2400" dirty="0">
              <a:latin typeface="Helvetica" pitchFamily="2" charset="0"/>
            </a:endParaRPr>
          </a:p>
        </p:txBody>
      </p:sp>
    </p:spTree>
    <p:extLst>
      <p:ext uri="{BB962C8B-B14F-4D97-AF65-F5344CB8AC3E}">
        <p14:creationId xmlns:p14="http://schemas.microsoft.com/office/powerpoint/2010/main" val="2138354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D316A530-22D9-4A4B-AC01-F88F00113AB2}"/>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14" name="Titel 1">
            <a:extLst>
              <a:ext uri="{FF2B5EF4-FFF2-40B4-BE49-F238E27FC236}">
                <a16:creationId xmlns:a16="http://schemas.microsoft.com/office/drawing/2014/main" id="{CCE2A92E-0C1E-A54A-9CCB-3DBF08A8651C}"/>
              </a:ext>
            </a:extLst>
          </p:cNvPr>
          <p:cNvSpPr txBox="1">
            <a:spLocks/>
          </p:cNvSpPr>
          <p:nvPr/>
        </p:nvSpPr>
        <p:spPr>
          <a:xfrm>
            <a:off x="574963" y="444610"/>
            <a:ext cx="10515600" cy="94312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400" dirty="0">
                <a:latin typeface="Helvetica" pitchFamily="2" charset="0"/>
              </a:rPr>
              <a:t>Methodik</a:t>
            </a:r>
            <a:br>
              <a:rPr lang="de-DE" sz="2400" dirty="0">
                <a:latin typeface="Helvetica" pitchFamily="2" charset="0"/>
              </a:rPr>
            </a:br>
            <a:r>
              <a:rPr lang="de-DE" sz="2200" dirty="0">
                <a:latin typeface="Helvetica Light" panose="020B0403020202020204" pitchFamily="34" charset="0"/>
              </a:rPr>
              <a:t>Iterative Modellentwicklung</a:t>
            </a:r>
            <a:br>
              <a:rPr lang="de-DE" sz="2400" dirty="0">
                <a:latin typeface="Helvetica" pitchFamily="2" charset="0"/>
              </a:rPr>
            </a:br>
            <a:endParaRPr lang="de-DE" sz="2400" dirty="0">
              <a:latin typeface="Helvetica" pitchFamily="2" charset="0"/>
            </a:endParaRPr>
          </a:p>
        </p:txBody>
      </p:sp>
      <p:pic>
        <p:nvPicPr>
          <p:cNvPr id="3" name="Grafik 2">
            <a:extLst>
              <a:ext uri="{FF2B5EF4-FFF2-40B4-BE49-F238E27FC236}">
                <a16:creationId xmlns:a16="http://schemas.microsoft.com/office/drawing/2014/main" id="{A665D1F1-7BA3-0D4D-8D4B-BBD942B49D54}"/>
              </a:ext>
            </a:extLst>
          </p:cNvPr>
          <p:cNvPicPr>
            <a:picLocks noChangeAspect="1"/>
          </p:cNvPicPr>
          <p:nvPr/>
        </p:nvPicPr>
        <p:blipFill>
          <a:blip r:embed="rId3"/>
          <a:stretch>
            <a:fillRect/>
          </a:stretch>
        </p:blipFill>
        <p:spPr>
          <a:xfrm>
            <a:off x="1101437" y="1325392"/>
            <a:ext cx="10181471" cy="5368825"/>
          </a:xfrm>
          <a:prstGeom prst="rect">
            <a:avLst/>
          </a:prstGeom>
        </p:spPr>
      </p:pic>
    </p:spTree>
    <p:extLst>
      <p:ext uri="{BB962C8B-B14F-4D97-AF65-F5344CB8AC3E}">
        <p14:creationId xmlns:p14="http://schemas.microsoft.com/office/powerpoint/2010/main" val="2508489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D316A530-22D9-4A4B-AC01-F88F00113AB2}"/>
              </a:ext>
            </a:extLst>
          </p:cNvPr>
          <p:cNvSpPr/>
          <p:nvPr/>
        </p:nvSpPr>
        <p:spPr>
          <a:xfrm>
            <a:off x="0" y="0"/>
            <a:ext cx="12192000" cy="1203766"/>
          </a:xfrm>
          <a:prstGeom prst="rect">
            <a:avLst/>
          </a:prstGeom>
          <a:solidFill>
            <a:srgbClr val="009997">
              <a:alpha val="40000"/>
            </a:srgb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GB" dirty="0">
              <a:latin typeface="Helvetica" pitchFamily="2" charset="0"/>
            </a:endParaRPr>
          </a:p>
        </p:txBody>
      </p:sp>
      <p:sp>
        <p:nvSpPr>
          <p:cNvPr id="14" name="Titel 1">
            <a:extLst>
              <a:ext uri="{FF2B5EF4-FFF2-40B4-BE49-F238E27FC236}">
                <a16:creationId xmlns:a16="http://schemas.microsoft.com/office/drawing/2014/main" id="{CCE2A92E-0C1E-A54A-9CCB-3DBF08A8651C}"/>
              </a:ext>
            </a:extLst>
          </p:cNvPr>
          <p:cNvSpPr txBox="1">
            <a:spLocks/>
          </p:cNvSpPr>
          <p:nvPr/>
        </p:nvSpPr>
        <p:spPr>
          <a:xfrm>
            <a:off x="574963" y="444610"/>
            <a:ext cx="10515600" cy="94312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2400" dirty="0">
                <a:latin typeface="Helvetica" pitchFamily="2" charset="0"/>
              </a:rPr>
              <a:t>Quantitative Metriken</a:t>
            </a:r>
            <a:br>
              <a:rPr lang="de-DE" sz="2400" dirty="0">
                <a:latin typeface="Helvetica" pitchFamily="2" charset="0"/>
              </a:rPr>
            </a:br>
            <a:r>
              <a:rPr lang="de-DE" sz="2200" dirty="0">
                <a:latin typeface="Helvetica Light" panose="020B0403020202020204" pitchFamily="34" charset="0"/>
              </a:rPr>
              <a:t>BLEU | ROUGE Scores</a:t>
            </a:r>
            <a:br>
              <a:rPr lang="de-DE" sz="2400" dirty="0">
                <a:latin typeface="Helvetica" pitchFamily="2" charset="0"/>
              </a:rPr>
            </a:br>
            <a:endParaRPr lang="de-DE" sz="2400" dirty="0">
              <a:latin typeface="Helvetica" pitchFamily="2" charset="0"/>
            </a:endParaRPr>
          </a:p>
        </p:txBody>
      </p:sp>
      <p:pic>
        <p:nvPicPr>
          <p:cNvPr id="4" name="Grafik 3">
            <a:extLst>
              <a:ext uri="{FF2B5EF4-FFF2-40B4-BE49-F238E27FC236}">
                <a16:creationId xmlns:a16="http://schemas.microsoft.com/office/drawing/2014/main" id="{8C3ED23B-873E-4E49-B37B-77A2059969C5}"/>
              </a:ext>
            </a:extLst>
          </p:cNvPr>
          <p:cNvPicPr>
            <a:picLocks noChangeAspect="1"/>
          </p:cNvPicPr>
          <p:nvPr/>
        </p:nvPicPr>
        <p:blipFill rotWithShape="1">
          <a:blip r:embed="rId3"/>
          <a:srcRect l="3289" r="3496"/>
          <a:stretch/>
        </p:blipFill>
        <p:spPr>
          <a:xfrm>
            <a:off x="574963" y="1547428"/>
            <a:ext cx="5100123" cy="1472238"/>
          </a:xfrm>
          <a:prstGeom prst="rect">
            <a:avLst/>
          </a:prstGeom>
        </p:spPr>
      </p:pic>
      <p:pic>
        <p:nvPicPr>
          <p:cNvPr id="6" name="Grafik 5">
            <a:extLst>
              <a:ext uri="{FF2B5EF4-FFF2-40B4-BE49-F238E27FC236}">
                <a16:creationId xmlns:a16="http://schemas.microsoft.com/office/drawing/2014/main" id="{AE40D569-CE65-4449-BD2C-5DCB485350F2}"/>
              </a:ext>
            </a:extLst>
          </p:cNvPr>
          <p:cNvPicPr>
            <a:picLocks noChangeAspect="1"/>
          </p:cNvPicPr>
          <p:nvPr/>
        </p:nvPicPr>
        <p:blipFill rotWithShape="1">
          <a:blip r:embed="rId4"/>
          <a:srcRect l="3046" r="3567"/>
          <a:stretch/>
        </p:blipFill>
        <p:spPr>
          <a:xfrm>
            <a:off x="574963" y="4039872"/>
            <a:ext cx="7800625" cy="1537551"/>
          </a:xfrm>
          <a:prstGeom prst="rect">
            <a:avLst/>
          </a:prstGeom>
        </p:spPr>
      </p:pic>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7DFFFCFE-B0F0-E447-91A8-B7CA0D897418}"/>
                  </a:ext>
                </a:extLst>
              </p:cNvPr>
              <p:cNvSpPr txBox="1"/>
              <p:nvPr/>
            </p:nvSpPr>
            <p:spPr>
              <a:xfrm>
                <a:off x="574963" y="2915005"/>
                <a:ext cx="8356601" cy="923330"/>
              </a:xfrm>
              <a:prstGeom prst="rect">
                <a:avLst/>
              </a:prstGeom>
              <a:noFill/>
            </p:spPr>
            <p:txBody>
              <a:bodyPr wrap="square" rtlCol="0">
                <a:spAutoFit/>
              </a:bodyPr>
              <a:lstStyle/>
              <a:p>
                <a:r>
                  <a:rPr lang="en-GB" b="1" dirty="0">
                    <a:latin typeface="Helvetica" pitchFamily="2" charset="0"/>
                  </a:rPr>
                  <a:t>BP</a:t>
                </a:r>
                <a:r>
                  <a:rPr lang="en-GB" dirty="0">
                    <a:latin typeface="Helvetica" pitchFamily="2" charset="0"/>
                  </a:rPr>
                  <a:t> = Brevity Output</a:t>
                </a:r>
              </a:p>
              <a:p>
                <a14:m>
                  <m:oMath xmlns:m="http://schemas.openxmlformats.org/officeDocument/2006/math">
                    <m:sSub>
                      <m:sSubPr>
                        <m:ctrlPr>
                          <a:rPr lang="de-CH" b="1" i="1">
                            <a:latin typeface="Cambria Math" panose="02040503050406030204" pitchFamily="18" charset="0"/>
                          </a:rPr>
                        </m:ctrlPr>
                      </m:sSubPr>
                      <m:e>
                        <m:r>
                          <a:rPr lang="en-US" b="1" i="0" smtClean="0">
                            <a:latin typeface="Cambria Math" panose="02040503050406030204" pitchFamily="18" charset="0"/>
                          </a:rPr>
                          <m:t>𝛚</m:t>
                        </m:r>
                      </m:e>
                      <m:sub>
                        <m:r>
                          <a:rPr lang="en-US" b="1" i="0" smtClean="0">
                            <a:latin typeface="Cambria Math" panose="02040503050406030204" pitchFamily="18" charset="0"/>
                          </a:rPr>
                          <m:t>𝐧</m:t>
                        </m:r>
                      </m:sub>
                    </m:sSub>
                  </m:oMath>
                </a14:m>
                <a:r>
                  <a:rPr lang="en-US" b="1" dirty="0">
                    <a:latin typeface="Helvetica" pitchFamily="2" charset="0"/>
                  </a:rPr>
                  <a:t> </a:t>
                </a:r>
                <a:r>
                  <a:rPr lang="en-US" dirty="0">
                    <a:latin typeface="Helvetica" pitchFamily="2" charset="0"/>
                  </a:rPr>
                  <a:t>= weights of the n-gramm precisions (usually evenly distributed)</a:t>
                </a:r>
                <a:endParaRPr lang="de-CH" dirty="0">
                  <a:latin typeface="Helvetica" pitchFamily="2" charset="0"/>
                </a:endParaRPr>
              </a:p>
              <a:p>
                <a14:m>
                  <m:oMath xmlns:m="http://schemas.openxmlformats.org/officeDocument/2006/math">
                    <m:sSub>
                      <m:sSubPr>
                        <m:ctrlPr>
                          <a:rPr lang="de-CH" b="1" i="1">
                            <a:latin typeface="Cambria Math" panose="02040503050406030204" pitchFamily="18" charset="0"/>
                          </a:rPr>
                        </m:ctrlPr>
                      </m:sSubPr>
                      <m:e>
                        <m:r>
                          <a:rPr lang="en-US" b="1" i="0" smtClean="0">
                            <a:latin typeface="Cambria Math" panose="02040503050406030204" pitchFamily="18" charset="0"/>
                          </a:rPr>
                          <m:t> </m:t>
                        </m:r>
                        <m:r>
                          <a:rPr lang="en-US" b="1" i="0" smtClean="0">
                            <a:latin typeface="Cambria Math" panose="02040503050406030204" pitchFamily="18" charset="0"/>
                          </a:rPr>
                          <m:t>𝐩</m:t>
                        </m:r>
                      </m:e>
                      <m:sub>
                        <m:r>
                          <a:rPr lang="en-US" b="1" i="0" smtClean="0">
                            <a:latin typeface="Cambria Math" panose="02040503050406030204" pitchFamily="18" charset="0"/>
                          </a:rPr>
                          <m:t>𝐧</m:t>
                        </m:r>
                      </m:sub>
                    </m:sSub>
                  </m:oMath>
                </a14:m>
                <a:r>
                  <a:rPr lang="en-US" dirty="0">
                    <a:latin typeface="Helvetica" pitchFamily="2" charset="0"/>
                  </a:rPr>
                  <a:t> = precision of the respective n-gram level</a:t>
                </a:r>
                <a:r>
                  <a:rPr lang="de-CH" dirty="0">
                    <a:effectLst/>
                    <a:latin typeface="Helvetica" pitchFamily="2" charset="0"/>
                  </a:rPr>
                  <a:t> </a:t>
                </a:r>
                <a:endParaRPr lang="en-GB" dirty="0">
                  <a:latin typeface="Helvetica" pitchFamily="2" charset="0"/>
                </a:endParaRPr>
              </a:p>
            </p:txBody>
          </p:sp>
        </mc:Choice>
        <mc:Fallback xmlns="">
          <p:sp>
            <p:nvSpPr>
              <p:cNvPr id="7" name="Textfeld 6">
                <a:extLst>
                  <a:ext uri="{FF2B5EF4-FFF2-40B4-BE49-F238E27FC236}">
                    <a16:creationId xmlns:a16="http://schemas.microsoft.com/office/drawing/2014/main" id="{7DFFFCFE-B0F0-E447-91A8-B7CA0D897418}"/>
                  </a:ext>
                </a:extLst>
              </p:cNvPr>
              <p:cNvSpPr txBox="1">
                <a:spLocks noRot="1" noChangeAspect="1" noMove="1" noResize="1" noEditPoints="1" noAdjustHandles="1" noChangeArrowheads="1" noChangeShapeType="1" noTextEdit="1"/>
              </p:cNvSpPr>
              <p:nvPr/>
            </p:nvSpPr>
            <p:spPr>
              <a:xfrm>
                <a:off x="574963" y="2915005"/>
                <a:ext cx="8356601" cy="923330"/>
              </a:xfrm>
              <a:prstGeom prst="rect">
                <a:avLst/>
              </a:prstGeom>
              <a:blipFill>
                <a:blip r:embed="rId5"/>
                <a:stretch>
                  <a:fillRect l="-455" t="-2740" b="-9589"/>
                </a:stretch>
              </a:blipFill>
            </p:spPr>
            <p:txBody>
              <a:bodyPr/>
              <a:lstStyle/>
              <a:p>
                <a:r>
                  <a:rPr lang="en-GB">
                    <a:noFill/>
                  </a:rPr>
                  <a:t> </a:t>
                </a:r>
              </a:p>
            </p:txBody>
          </p:sp>
        </mc:Fallback>
      </mc:AlternateContent>
      <p:sp>
        <p:nvSpPr>
          <p:cNvPr id="8" name="Rechteck 7">
            <a:extLst>
              <a:ext uri="{FF2B5EF4-FFF2-40B4-BE49-F238E27FC236}">
                <a16:creationId xmlns:a16="http://schemas.microsoft.com/office/drawing/2014/main" id="{A836DF5F-D7EA-6140-A49B-D51A26AD5B45}"/>
              </a:ext>
            </a:extLst>
          </p:cNvPr>
          <p:cNvSpPr/>
          <p:nvPr/>
        </p:nvSpPr>
        <p:spPr>
          <a:xfrm>
            <a:off x="574963" y="5778960"/>
            <a:ext cx="4846198" cy="369332"/>
          </a:xfrm>
          <a:prstGeom prst="rect">
            <a:avLst/>
          </a:prstGeom>
        </p:spPr>
        <p:txBody>
          <a:bodyPr wrap="none">
            <a:spAutoFit/>
          </a:bodyPr>
          <a:lstStyle/>
          <a:p>
            <a:r>
              <a:rPr lang="en-US" b="1" dirty="0">
                <a:latin typeface="Helvetica" pitchFamily="2" charset="0"/>
              </a:rPr>
              <a:t>n-gramm </a:t>
            </a:r>
            <a:r>
              <a:rPr lang="en-US" dirty="0">
                <a:latin typeface="Helvetica" pitchFamily="2" charset="0"/>
              </a:rPr>
              <a:t>= sequence of </a:t>
            </a:r>
            <a:r>
              <a:rPr lang="en-US" i="1" dirty="0">
                <a:latin typeface="Helvetica" pitchFamily="2" charset="0"/>
              </a:rPr>
              <a:t>n</a:t>
            </a:r>
            <a:r>
              <a:rPr lang="en-US" dirty="0">
                <a:latin typeface="Helvetica" pitchFamily="2" charset="0"/>
              </a:rPr>
              <a:t> consecutive words</a:t>
            </a:r>
            <a:endParaRPr lang="en-GB" dirty="0"/>
          </a:p>
        </p:txBody>
      </p:sp>
    </p:spTree>
    <p:extLst>
      <p:ext uri="{BB962C8B-B14F-4D97-AF65-F5344CB8AC3E}">
        <p14:creationId xmlns:p14="http://schemas.microsoft.com/office/powerpoint/2010/main" val="4102755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2877B"/>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6DCB1E-DAA1-9646-A44C-D42250D5EE09}"/>
              </a:ext>
            </a:extLst>
          </p:cNvPr>
          <p:cNvSpPr>
            <a:spLocks noGrp="1"/>
          </p:cNvSpPr>
          <p:nvPr>
            <p:ph type="title"/>
          </p:nvPr>
        </p:nvSpPr>
        <p:spPr>
          <a:xfrm>
            <a:off x="838200" y="2318249"/>
            <a:ext cx="10515600" cy="1325563"/>
          </a:xfrm>
        </p:spPr>
        <p:txBody>
          <a:bodyPr/>
          <a:lstStyle/>
          <a:p>
            <a:r>
              <a:rPr lang="en-GB" b="1" dirty="0">
                <a:solidFill>
                  <a:schemeClr val="bg1"/>
                </a:solidFill>
                <a:latin typeface="Helvetica" pitchFamily="2" charset="0"/>
              </a:rPr>
              <a:t>Live Demo </a:t>
            </a:r>
            <a:br>
              <a:rPr lang="en-GB" b="1" dirty="0">
                <a:solidFill>
                  <a:schemeClr val="bg1"/>
                </a:solidFill>
                <a:latin typeface="Helvetica" pitchFamily="2" charset="0"/>
              </a:rPr>
            </a:br>
            <a:r>
              <a:rPr lang="en-GB" b="1" dirty="0">
                <a:solidFill>
                  <a:schemeClr val="bg1"/>
                </a:solidFill>
                <a:latin typeface="Helvetica" pitchFamily="2" charset="0"/>
              </a:rPr>
              <a:t>Open Beta</a:t>
            </a:r>
          </a:p>
        </p:txBody>
      </p:sp>
      <p:pic>
        <p:nvPicPr>
          <p:cNvPr id="4" name="Grafik 3">
            <a:extLst>
              <a:ext uri="{FF2B5EF4-FFF2-40B4-BE49-F238E27FC236}">
                <a16:creationId xmlns:a16="http://schemas.microsoft.com/office/drawing/2014/main" id="{CFC31579-BBA7-5248-B57E-8FC2B4BCDE13}"/>
              </a:ext>
            </a:extLst>
          </p:cNvPr>
          <p:cNvPicPr>
            <a:picLocks noChangeAspect="1"/>
          </p:cNvPicPr>
          <p:nvPr/>
        </p:nvPicPr>
        <p:blipFill>
          <a:blip r:embed="rId2"/>
          <a:stretch>
            <a:fillRect/>
          </a:stretch>
        </p:blipFill>
        <p:spPr>
          <a:xfrm>
            <a:off x="8814829" y="578600"/>
            <a:ext cx="2425148" cy="943383"/>
          </a:xfrm>
          <a:prstGeom prst="rect">
            <a:avLst/>
          </a:prstGeom>
        </p:spPr>
      </p:pic>
      <p:sp>
        <p:nvSpPr>
          <p:cNvPr id="5" name="Foliennummernplatzhalter 4">
            <a:extLst>
              <a:ext uri="{FF2B5EF4-FFF2-40B4-BE49-F238E27FC236}">
                <a16:creationId xmlns:a16="http://schemas.microsoft.com/office/drawing/2014/main" id="{D6B5217B-F64D-1D4A-9DEA-25EA87FE036B}"/>
              </a:ext>
            </a:extLst>
          </p:cNvPr>
          <p:cNvSpPr>
            <a:spLocks noGrp="1"/>
          </p:cNvSpPr>
          <p:nvPr>
            <p:ph type="sldNum" sz="quarter" idx="12"/>
          </p:nvPr>
        </p:nvSpPr>
        <p:spPr/>
        <p:txBody>
          <a:bodyPr/>
          <a:lstStyle/>
          <a:p>
            <a:fld id="{5CC06646-EDF2-2341-B148-FF1B4C173C76}" type="slidenum">
              <a:rPr lang="en-GB" sz="1400" smtClean="0">
                <a:solidFill>
                  <a:schemeClr val="bg1"/>
                </a:solidFill>
                <a:latin typeface="Helvetica" pitchFamily="2" charset="0"/>
              </a:rPr>
              <a:t>28</a:t>
            </a:fld>
            <a:endParaRPr lang="en-GB" dirty="0">
              <a:solidFill>
                <a:schemeClr val="bg1"/>
              </a:solidFill>
              <a:latin typeface="Helvetica" pitchFamily="2" charset="0"/>
            </a:endParaRPr>
          </a:p>
        </p:txBody>
      </p:sp>
    </p:spTree>
    <p:extLst>
      <p:ext uri="{BB962C8B-B14F-4D97-AF65-F5344CB8AC3E}">
        <p14:creationId xmlns:p14="http://schemas.microsoft.com/office/powerpoint/2010/main" val="109483169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1847</Words>
  <Application>Microsoft Macintosh PowerPoint</Application>
  <PresentationFormat>Breitbild</PresentationFormat>
  <Paragraphs>506</Paragraphs>
  <Slides>28</Slides>
  <Notes>23</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28</vt:i4>
      </vt:variant>
    </vt:vector>
  </HeadingPairs>
  <TitlesOfParts>
    <vt:vector size="37" baseType="lpstr">
      <vt:lpstr>Arial</vt:lpstr>
      <vt:lpstr>Calibri</vt:lpstr>
      <vt:lpstr>Calibri Light</vt:lpstr>
      <vt:lpstr>Cambria Math</vt:lpstr>
      <vt:lpstr>Helvetica</vt:lpstr>
      <vt:lpstr>Helvetica Light</vt:lpstr>
      <vt:lpstr>Symbol</vt:lpstr>
      <vt:lpstr>Wingdings</vt:lpstr>
      <vt:lpstr>Office</vt:lpstr>
      <vt:lpstr>PowerPoint-Präsentation</vt:lpstr>
      <vt:lpstr>Ablauf </vt:lpstr>
      <vt:lpstr>     MSD AI Strategie</vt:lpstr>
      <vt:lpstr>Hintergrund und Motivation Modellversionen und Unterscheidungsmerkmale </vt:lpstr>
      <vt:lpstr>Methodik Iterative Modell Entwicklung | Qualitative Modell Evaluation </vt:lpstr>
      <vt:lpstr>Forschungsfrage 1</vt:lpstr>
      <vt:lpstr>PowerPoint-Präsentation</vt:lpstr>
      <vt:lpstr>Integration unstrukturierter Supply Chain Daten (1/3) Threading </vt:lpstr>
      <vt:lpstr>PowerPoint-Präsentation</vt:lpstr>
      <vt:lpstr>Einschränkungen bei der Interpretation grafischer Inhalte (2/3) Ergebnis: Einsatz alternativer LLMs </vt:lpstr>
      <vt:lpstr>Einschränkungen bei der Interpretation grafischer Inhalte (2/3) Ergebnisse: Vorverarbeitung grafischer Inhalte | Manuelle Daten Integration  </vt:lpstr>
      <vt:lpstr>Qualitative Evaluation (3) Ergebnisse: Open Beta Modell </vt:lpstr>
      <vt:lpstr>Qualitative Evaluation (3) Ergebnisse: Open Beta Modell </vt:lpstr>
      <vt:lpstr>Qualitative Evaluation (3) Konsolidierung Ergebnisse Open Beta Modell </vt:lpstr>
      <vt:lpstr>PowerPoint-Präsentation</vt:lpstr>
      <vt:lpstr>Forschungsfrage 2</vt:lpstr>
      <vt:lpstr>PowerPoint-Präsentation</vt:lpstr>
      <vt:lpstr>PowerPoint-Präsentation</vt:lpstr>
      <vt:lpstr>PowerPoint-Präsentation</vt:lpstr>
      <vt:lpstr>Ende Präsentation: Besten Dank für ihre Aufmerksamkeit !</vt:lpstr>
      <vt:lpstr>Back Up Slides</vt:lpstr>
      <vt:lpstr>PowerPoint-Präsentation</vt:lpstr>
      <vt:lpstr>PowerPoint-Präsentation</vt:lpstr>
      <vt:lpstr>PowerPoint-Präsentation</vt:lpstr>
      <vt:lpstr>PowerPoint-Präsentation</vt:lpstr>
      <vt:lpstr>PowerPoint-Präsentation</vt:lpstr>
      <vt:lpstr>PowerPoint-Präsentation</vt:lpstr>
      <vt:lpstr>Live Demo  Open Beta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Beat Kessler</dc:creator>
  <cp:lastModifiedBy>Beat Kessler</cp:lastModifiedBy>
  <cp:revision>1101</cp:revision>
  <cp:lastPrinted>2026-02-16T14:18:40Z</cp:lastPrinted>
  <dcterms:created xsi:type="dcterms:W3CDTF">2025-12-31T13:41:39Z</dcterms:created>
  <dcterms:modified xsi:type="dcterms:W3CDTF">2026-02-16T14:20:51Z</dcterms:modified>
</cp:coreProperties>
</file>